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f7937824-d642-3410-3a2d-c6821b3cdbb7}">
          <p14:sldIdLst>
            <p14:sldId id="256"/>
            <p14:sldId id="257"/>
            <p14:sldId id="258"/>
            <p14:sldId id="259"/>
          </p14:sldIdLst>
        </p14:section>
        <p14:section name="Data &amp; validasi" id="{c6be524e-f01e-03fc-4fcc-7da24c933ca3}">
          <p14:sldIdLst>
            <p14:sldId id="260"/>
            <p14:sldId id="261"/>
          </p14:sldIdLst>
        </p14:section>
        <p14:section name="Aspek ML II" id="{f27ca73d-f9a3-9f2d-1503-389acc0092cf}">
          <p14:sldIdLst>
            <p14:sldId id="262"/>
            <p14:sldId id="263"/>
            <p14:sldId id="264"/>
            <p14:sldId id="265"/>
          </p14:sldIdLst>
        </p14:section>
        <p14:section name="Reinforcement" id="{e9260c1f-308a-25c4-633f-b89886407d2e}">
          <p14:sldIdLst>
            <p14:sldId id="266"/>
            <p14:sldId id="267"/>
            <p14:sldId id="268"/>
          </p14:sldIdLst>
        </p14:section>
        <p14:section name="Diskusi" id="{11162d17-c717-aff9-ec0b-80f7d02085e7}">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Augmentasi (train only) · macro-F1 LOSO 4 kelas</a:t>
            </a:r>
          </a:p>
        </c:rich>
      </c:tx>
      <c:layout/>
      <c:overlay val="0"/>
    </c:title>
    <c:autoTitleDeleted val="0"/>
    <c:plotArea>
      <c:layout/>
      <c:barChart>
        <c:barDir val="col"/>
        <c:grouping val="clustered"/>
        <c:varyColors val="0"/>
        <c:ser>
          <c:idx val="0"/>
          <c:order val="0"/>
          <c:tx>
            <c:strRef>
              <c:f>Sheet1!$B$1</c:f>
              <c:strCache>
                <c:ptCount val="1"/>
                <c:pt idx="0">
                  <c:v>LogReg</c:v>
                </c:pt>
              </c:strCache>
            </c:strRef>
          </c:tx>
          <c:spPr>
            <a:solidFill>
              <a:srgbClr val="9AA5A6"/>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Sheet1!$A$2:$A$6</c:f>
              <c:multiLvlStrCache>
                <c:ptCount val="5"/>
                <c:lvl>
                  <c:pt idx="0">
                    <c:v>tanpa</c:v>
                  </c:pt>
                  <c:pt idx="1">
                    <c:v>jitter</c:v>
                  </c:pt>
                  <c:pt idx="2">
                    <c:v>scaling</c:v>
                  </c:pt>
                  <c:pt idx="3">
                    <c:v>jitter+scaling</c:v>
                  </c:pt>
                  <c:pt idx="4">
                    <c:v>×4</c:v>
                  </c:pt>
                </c:lvl>
              </c:multiLvlStrCache>
            </c:multiLvlStrRef>
          </c:cat>
          <c:val>
            <c:numRef>
              <c:f>Sheet1!$B$2:$B$6</c:f>
              <c:numCache>
                <c:formatCode>General</c:formatCode>
                <c:ptCount val="5"/>
                <c:pt idx="0">
                  <c:v>0.505</c:v>
                </c:pt>
                <c:pt idx="1">
                  <c:v>0.516</c:v>
                </c:pt>
                <c:pt idx="2">
                  <c:v>0.552</c:v>
                </c:pt>
                <c:pt idx="3">
                  <c:v>0.518</c:v>
                </c:pt>
                <c:pt idx="4">
                  <c:v>0.525</c:v>
                </c:pt>
              </c:numCache>
            </c:numRef>
          </c:val>
        </c:ser>
        <c:ser>
          <c:idx val="1"/>
          <c:order val="1"/>
          <c:tx>
            <c:strRef>
              <c:f>Sheet1!$C$1</c:f>
              <c:strCache>
                <c:ptCount val="1"/>
                <c:pt idx="0">
                  <c:v>LightGBM</c:v>
                </c:pt>
              </c:strCache>
            </c:strRef>
          </c:tx>
          <c:spPr>
            <a:solidFill>
              <a:srgbClr val="0F5257"/>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Sheet1!$A$2:$A$6</c:f>
              <c:multiLvlStrCache>
                <c:ptCount val="5"/>
                <c:lvl>
                  <c:pt idx="0">
                    <c:v>tanpa</c:v>
                  </c:pt>
                  <c:pt idx="1">
                    <c:v>jitter</c:v>
                  </c:pt>
                  <c:pt idx="2">
                    <c:v>scaling</c:v>
                  </c:pt>
                  <c:pt idx="3">
                    <c:v>jitter+scaling</c:v>
                  </c:pt>
                  <c:pt idx="4">
                    <c:v>×4</c:v>
                  </c:pt>
                </c:lvl>
              </c:multiLvlStrCache>
            </c:multiLvlStrRef>
          </c:cat>
          <c:val>
            <c:numRef>
              <c:f>Sheet1!$C$2:$C$6</c:f>
              <c:numCache>
                <c:formatCode>General</c:formatCode>
                <c:ptCount val="5"/>
                <c:pt idx="0">
                  <c:v>0.572</c:v>
                </c:pt>
                <c:pt idx="1">
                  <c:v>0.529</c:v>
                </c:pt>
                <c:pt idx="2">
                  <c:v>0.507</c:v>
                </c:pt>
                <c:pt idx="3">
                  <c:v>0.521</c:v>
                </c:pt>
                <c:pt idx="4">
                  <c:v>0.542</c:v>
                </c:pt>
              </c:numCache>
            </c:numRef>
          </c:val>
        </c:ser>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E1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Biner segar vs tidak segar · macro-F1 LOSO (5 seri)</a:t>
            </a:r>
          </a:p>
        </c:rich>
      </c:tx>
      <c:layout/>
      <c:overlay val="0"/>
    </c:title>
    <c:autoTitleDeleted val="0"/>
    <c:plotArea>
      <c:layout/>
      <c:barChart>
        <c:barDir val="col"/>
        <c:grouping val="stacked"/>
        <c:varyColors val="0"/>
        <c:ser>
          <c:idx val="0"/>
          <c:order val="0"/>
          <c:tx>
            <c:strRef>
              <c:f>Sheet1!$B$1</c:f>
              <c:strCache>
                <c:ptCount val="1"/>
                <c:pt idx="0">
                  <c:v>Model tunggal</c:v>
                </c:pt>
              </c:strCache>
            </c:strRef>
          </c:tx>
          <c:spPr>
            <a:solidFill>
              <a:srgbClr val="9AA5A6"/>
            </a:solidFill>
            <a:effectLst/>
          </c:spPr>
          <c:invertIfNegative val="0"/>
          <c:dLbls>
            <c:numFmt formatCode="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Logistic Reg.</c:v>
                  </c:pt>
                  <c:pt idx="1">
                    <c:v>SVM-RBF</c:v>
                  </c:pt>
                  <c:pt idx="2">
                    <c:v>KNN</c:v>
                  </c:pt>
                  <c:pt idx="3">
                    <c:v>Decision Tree</c:v>
                  </c:pt>
                  <c:pt idx="4">
                    <c:v>Random Forest</c:v>
                  </c:pt>
                  <c:pt idx="5">
                    <c:v>XGBoost</c:v>
                  </c:pt>
                  <c:pt idx="6">
                    <c:v>LightGBM</c:v>
                  </c:pt>
                  <c:pt idx="7">
                    <c:v>Stacking</c:v>
                  </c:pt>
                </c:lvl>
              </c:multiLvlStrCache>
            </c:multiLvlStrRef>
          </c:cat>
          <c:val>
            <c:numRef>
              <c:f>Sheet1!$B$2:$B$9</c:f>
              <c:numCache>
                <c:formatCode>General</c:formatCode>
                <c:ptCount val="8"/>
                <c:pt idx="0">
                  <c:v>0.728</c:v>
                </c:pt>
                <c:pt idx="1">
                  <c:v>0.688</c:v>
                </c:pt>
                <c:pt idx="2">
                  <c:v>0.74</c:v>
                </c:pt>
                <c:pt idx="3">
                  <c:v>0.774</c:v>
                </c:pt>
                <c:pt idx="4">
                  <c:v>0</c:v>
                </c:pt>
                <c:pt idx="5">
                  <c:v>0</c:v>
                </c:pt>
                <c:pt idx="6">
                  <c:v>0</c:v>
                </c:pt>
                <c:pt idx="7">
                  <c:v>0</c:v>
                </c:pt>
              </c:numCache>
            </c:numRef>
          </c:val>
        </c:ser>
        <c:ser>
          <c:idx val="1"/>
          <c:order val="1"/>
          <c:tx>
            <c:strRef>
              <c:f>Sheet1!$C$1</c:f>
              <c:strCache>
                <c:ptCount val="1"/>
                <c:pt idx="0">
                  <c:v>Ensemble</c:v>
                </c:pt>
              </c:strCache>
            </c:strRef>
          </c:tx>
          <c:spPr>
            <a:solidFill>
              <a:srgbClr val="0F5257"/>
            </a:solidFill>
            <a:effectLst/>
          </c:spPr>
          <c:invertIfNegative val="0"/>
          <c:dLbls>
            <c:numFmt formatCode="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Logistic Reg.</c:v>
                  </c:pt>
                  <c:pt idx="1">
                    <c:v>SVM-RBF</c:v>
                  </c:pt>
                  <c:pt idx="2">
                    <c:v>KNN</c:v>
                  </c:pt>
                  <c:pt idx="3">
                    <c:v>Decision Tree</c:v>
                  </c:pt>
                  <c:pt idx="4">
                    <c:v>Random Forest</c:v>
                  </c:pt>
                  <c:pt idx="5">
                    <c:v>XGBoost</c:v>
                  </c:pt>
                  <c:pt idx="6">
                    <c:v>LightGBM</c:v>
                  </c:pt>
                  <c:pt idx="7">
                    <c:v>Stacking</c:v>
                  </c:pt>
                </c:lvl>
              </c:multiLvlStrCache>
            </c:multiLvlStrRef>
          </c:cat>
          <c:val>
            <c:numRef>
              <c:f>Sheet1!$C$2:$C$9</c:f>
              <c:numCache>
                <c:formatCode>General</c:formatCode>
                <c:ptCount val="8"/>
                <c:pt idx="0">
                  <c:v>0</c:v>
                </c:pt>
                <c:pt idx="1">
                  <c:v>0</c:v>
                </c:pt>
                <c:pt idx="2">
                  <c:v>0</c:v>
                </c:pt>
                <c:pt idx="3">
                  <c:v>0</c:v>
                </c:pt>
                <c:pt idx="4">
                  <c:v>0.776</c:v>
                </c:pt>
                <c:pt idx="5">
                  <c:v>0.911</c:v>
                </c:pt>
                <c:pt idx="6">
                  <c:v>0.849</c:v>
                </c:pt>
                <c:pt idx="7">
                  <c:v>0.79</c:v>
                </c:pt>
              </c:numCache>
            </c:numRef>
          </c:val>
        </c:ser>
        <c:dLbls>
          <c:numFmt formatCode="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RMSE uji scaffold (lebih kecil lebih baik)</a:t>
            </a:r>
          </a:p>
        </c:rich>
      </c:tx>
      <c:layout/>
      <c:overlay val="0"/>
    </c:title>
    <c:autoTitleDeleted val="0"/>
    <c:plotArea>
      <c:layout/>
      <c:barChart>
        <c:barDir val="bar"/>
        <c:grouping val="stacked"/>
        <c:varyColors val="0"/>
        <c:ser>
          <c:idx val="0"/>
          <c:order val="0"/>
          <c:tx>
            <c:strRef>
              <c:f>Sheet1!$B$1</c:f>
              <c:strCache>
                <c:ptCount val="1"/>
                <c:pt idx="0">
                  <c:v>Model tunggal</c:v>
                </c:pt>
              </c:strCache>
            </c:strRef>
          </c:tx>
          <c:spPr>
            <a:solidFill>
              <a:srgbClr val="9AA5A6"/>
            </a:solidFill>
            <a:effectLst/>
          </c:spPr>
          <c:invertIfNegative val="0"/>
          <c:dLbls>
            <c:numFmt formatCode="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Sheet1!$A$2:$A$10</c:f>
              <c:multiLvlStrCache>
                <c:ptCount val="9"/>
                <c:lvl>
                  <c:pt idx="0">
                    <c:v>Ridge</c:v>
                  </c:pt>
                  <c:pt idx="1">
                    <c:v>KNN</c:v>
                  </c:pt>
                  <c:pt idx="2">
                    <c:v>SVR-RBF</c:v>
                  </c:pt>
                  <c:pt idx="3">
                    <c:v>Decision Tree</c:v>
                  </c:pt>
                  <c:pt idx="4">
                    <c:v>Random Forest</c:v>
                  </c:pt>
                  <c:pt idx="5">
                    <c:v>XGBoost</c:v>
                  </c:pt>
                  <c:pt idx="6">
                    <c:v>LightGBM</c:v>
                  </c:pt>
                  <c:pt idx="7">
                    <c:v>Stacking</c:v>
                  </c:pt>
                  <c:pt idx="8">
                    <c:v>LightGBM+Optuna</c:v>
                  </c:pt>
                </c:lvl>
              </c:multiLvlStrCache>
            </c:multiLvlStrRef>
          </c:cat>
          <c:val>
            <c:numRef>
              <c:f>Sheet1!$B$2:$B$10</c:f>
              <c:numCache>
                <c:formatCode>General</c:formatCode>
                <c:ptCount val="9"/>
                <c:pt idx="0">
                  <c:v>1.668</c:v>
                </c:pt>
                <c:pt idx="1">
                  <c:v>1.495</c:v>
                </c:pt>
                <c:pt idx="2">
                  <c:v>1.335</c:v>
                </c:pt>
                <c:pt idx="3">
                  <c:v>1.706</c:v>
                </c:pt>
                <c:pt idx="4">
                  <c:v>0</c:v>
                </c:pt>
                <c:pt idx="5">
                  <c:v>0</c:v>
                </c:pt>
                <c:pt idx="6">
                  <c:v>0</c:v>
                </c:pt>
                <c:pt idx="7">
                  <c:v>0</c:v>
                </c:pt>
                <c:pt idx="8">
                  <c:v>0</c:v>
                </c:pt>
              </c:numCache>
            </c:numRef>
          </c:val>
        </c:ser>
        <c:ser>
          <c:idx val="1"/>
          <c:order val="1"/>
          <c:tx>
            <c:strRef>
              <c:f>Sheet1!$C$1</c:f>
              <c:strCache>
                <c:ptCount val="1"/>
                <c:pt idx="0">
                  <c:v>Ensemble</c:v>
                </c:pt>
              </c:strCache>
            </c:strRef>
          </c:tx>
          <c:spPr>
            <a:solidFill>
              <a:srgbClr val="0F5257"/>
            </a:solidFill>
            <a:effectLst/>
          </c:spPr>
          <c:invertIfNegative val="0"/>
          <c:dLbls>
            <c:numFmt formatCode="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Sheet1!$A$2:$A$10</c:f>
              <c:multiLvlStrCache>
                <c:ptCount val="9"/>
                <c:lvl>
                  <c:pt idx="0">
                    <c:v>Ridge</c:v>
                  </c:pt>
                  <c:pt idx="1">
                    <c:v>KNN</c:v>
                  </c:pt>
                  <c:pt idx="2">
                    <c:v>SVR-RBF</c:v>
                  </c:pt>
                  <c:pt idx="3">
                    <c:v>Decision Tree</c:v>
                  </c:pt>
                  <c:pt idx="4">
                    <c:v>Random Forest</c:v>
                  </c:pt>
                  <c:pt idx="5">
                    <c:v>XGBoost</c:v>
                  </c:pt>
                  <c:pt idx="6">
                    <c:v>LightGBM</c:v>
                  </c:pt>
                  <c:pt idx="7">
                    <c:v>Stacking</c:v>
                  </c:pt>
                  <c:pt idx="8">
                    <c:v>LightGBM+Optuna</c:v>
                  </c:pt>
                </c:lvl>
              </c:multiLvlStrCache>
            </c:multiLvlStrRef>
          </c:cat>
          <c:val>
            <c:numRef>
              <c:f>Sheet1!$C$2:$C$10</c:f>
              <c:numCache>
                <c:formatCode>General</c:formatCode>
                <c:ptCount val="9"/>
                <c:pt idx="0">
                  <c:v>0</c:v>
                </c:pt>
                <c:pt idx="1">
                  <c:v>0</c:v>
                </c:pt>
                <c:pt idx="2">
                  <c:v>0</c:v>
                </c:pt>
                <c:pt idx="3">
                  <c:v>0</c:v>
                </c:pt>
                <c:pt idx="4">
                  <c:v>1.306</c:v>
                </c:pt>
                <c:pt idx="5">
                  <c:v>1.281</c:v>
                </c:pt>
                <c:pt idx="6">
                  <c:v>1.254</c:v>
                </c:pt>
                <c:pt idx="7">
                  <c:v>1.222</c:v>
                </c:pt>
                <c:pt idx="8">
                  <c:v>1.259</c:v>
                </c:pt>
              </c:numCache>
            </c:numRef>
          </c:val>
        </c:ser>
        <c:dLbls>
          <c:numFmt formatCode="0.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b"/>
        <c:majorGridlines>
          <c:spPr>
            <a:ln w="9525" cap="flat">
              <a:solidFill>
                <a:srgbClr val="E1E8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MAE per kategori LogS (data uji scaffold)</a:t>
            </a:r>
          </a:p>
        </c:rich>
      </c:tx>
      <c:layout/>
      <c:overlay val="0"/>
    </c:title>
    <c:autoTitleDeleted val="0"/>
    <c:plotArea>
      <c:layout/>
      <c:barChart>
        <c:barDir val="col"/>
        <c:grouping val="clustered"/>
        <c:varyColors val="0"/>
        <c:ser>
          <c:idx val="0"/>
          <c:order val="0"/>
          <c:tx>
            <c:strRef>
              <c:f>Sheet1!$B$1</c:f>
              <c:strCache>
                <c:ptCount val="1"/>
                <c:pt idx="0">
                  <c:v>tanpa bobot</c:v>
                </c:pt>
              </c:strCache>
            </c:strRef>
          </c:tx>
          <c:spPr>
            <a:solidFill>
              <a:srgbClr val="9AA5A6"/>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Sheet1!$A$2:$A$6</c:f>
              <c:multiLvlStrCache>
                <c:ptCount val="5"/>
                <c:lvl>
                  <c:pt idx="0">
                    <c:v>&lt; −6</c:v>
                  </c:pt>
                  <c:pt idx="1">
                    <c:v>−6..−4</c:v>
                  </c:pt>
                  <c:pt idx="2">
                    <c:v>−4..−2</c:v>
                  </c:pt>
                  <c:pt idx="3">
                    <c:v>−2..0</c:v>
                  </c:pt>
                  <c:pt idx="4">
                    <c:v>≥ 0</c:v>
                  </c:pt>
                </c:lvl>
              </c:multiLvlStrCache>
            </c:multiLvlStrRef>
          </c:cat>
          <c:val>
            <c:numRef>
              <c:f>Sheet1!$B$2:$B$6</c:f>
              <c:numCache>
                <c:formatCode>General</c:formatCode>
                <c:ptCount val="5"/>
                <c:pt idx="0">
                  <c:v>1.484</c:v>
                </c:pt>
                <c:pt idx="1">
                  <c:v>0.962</c:v>
                </c:pt>
                <c:pt idx="2">
                  <c:v>0.69</c:v>
                </c:pt>
                <c:pt idx="3">
                  <c:v>0.607</c:v>
                </c:pt>
                <c:pt idx="4">
                  <c:v>0.979</c:v>
                </c:pt>
              </c:numCache>
            </c:numRef>
          </c:val>
        </c:ser>
        <c:ser>
          <c:idx val="1"/>
          <c:order val="1"/>
          <c:tx>
            <c:strRef>
              <c:f>Sheet1!$C$1</c:f>
              <c:strCache>
                <c:ptCount val="1"/>
                <c:pt idx="0">
                  <c:v>bobot frekuensi-invers</c:v>
                </c:pt>
              </c:strCache>
            </c:strRef>
          </c:tx>
          <c:spPr>
            <a:solidFill>
              <a:srgbClr val="E3A33B"/>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Sheet1!$A$2:$A$6</c:f>
              <c:multiLvlStrCache>
                <c:ptCount val="5"/>
                <c:lvl>
                  <c:pt idx="0">
                    <c:v>&lt; −6</c:v>
                  </c:pt>
                  <c:pt idx="1">
                    <c:v>−6..−4</c:v>
                  </c:pt>
                  <c:pt idx="2">
                    <c:v>−4..−2</c:v>
                  </c:pt>
                  <c:pt idx="3">
                    <c:v>−2..0</c:v>
                  </c:pt>
                  <c:pt idx="4">
                    <c:v>≥ 0</c:v>
                  </c:pt>
                </c:lvl>
              </c:multiLvlStrCache>
            </c:multiLvlStrRef>
          </c:cat>
          <c:val>
            <c:numRef>
              <c:f>Sheet1!$C$2:$C$6</c:f>
              <c:numCache>
                <c:formatCode>General</c:formatCode>
                <c:ptCount val="5"/>
                <c:pt idx="0">
                  <c:v>1.386</c:v>
                </c:pt>
                <c:pt idx="1">
                  <c:v>0.992</c:v>
                </c:pt>
                <c:pt idx="2">
                  <c:v>0.766</c:v>
                </c:pt>
                <c:pt idx="3">
                  <c:v>0.657</c:v>
                </c:pt>
                <c:pt idx="4">
                  <c:v>0.858</c:v>
                </c:pt>
              </c:numCache>
            </c:numRef>
          </c:val>
        </c:ser>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1.7"/>
          <c:min val="0"/>
        </c:scaling>
        <c:delete val="0"/>
        <c:axPos val="l"/>
        <c:majorGridlines>
          <c:spPr>
            <a:ln w="9525" cap="flat">
              <a:solidFill>
                <a:srgbClr val="E1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RMSE uji scaffold vs jumlah label (rata-rata 5 seed)</a:t>
            </a:r>
          </a:p>
        </c:rich>
      </c:tx>
      <c:layout/>
      <c:overlay val="0"/>
    </c:title>
    <c:autoTitleDeleted val="0"/>
    <c:plotArea>
      <c:layout/>
      <c:lineChart>
        <c:varyColors val="0"/>
        <c:ser>
          <c:idx val="0"/>
          <c:order val="0"/>
          <c:tx>
            <c:strRef>
              <c:f>Sheet1!$B$1</c:f>
              <c:strCache>
                <c:ptCount val="1"/>
                <c:pt idx="0">
                  <c:v>random</c:v>
                </c:pt>
              </c:strCache>
            </c:strRef>
          </c:tx>
          <c:spPr>
            <a:solidFill>
              <a:srgbClr val="9AA5A6"/>
            </a:solidFill>
            <a:ln w="25400" cap="flat">
              <a:solidFill>
                <a:srgbClr val="9AA5A6"/>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9AA5A6"/>
              </a:solidFill>
              <a:ln w="9525" cap="flat">
                <a:solidFill>
                  <a:srgbClr val="9AA5A6"/>
                </a:solidFill>
                <a:prstDash val="solid"/>
                <a:round/>
              </a:ln>
              <a:effectLst/>
            </c:spPr>
          </c:marker>
          <c:cat>
            <c:multiLvlStrRef>
              <c:f>Sheet1!$A$2:$A$22</c:f>
              <c:multiLvlStrCache>
                <c:ptCount val="21"/>
                <c:lvl>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lvl>
              </c:multiLvlStrCache>
            </c:multiLvlStrRef>
          </c:cat>
          <c:val>
            <c:numRef>
              <c:f>Sheet1!$B$2:$B$22</c:f>
              <c:numCache>
                <c:formatCode>General</c:formatCode>
                <c:ptCount val="21"/>
                <c:pt idx="0">
                  <c:v>1.84</c:v>
                </c:pt>
                <c:pt idx="1">
                  <c:v>1.777</c:v>
                </c:pt>
                <c:pt idx="2">
                  <c:v>1.75</c:v>
                </c:pt>
                <c:pt idx="3">
                  <c:v>1.669</c:v>
                </c:pt>
                <c:pt idx="4">
                  <c:v>1.639</c:v>
                </c:pt>
                <c:pt idx="5">
                  <c:v>1.609</c:v>
                </c:pt>
                <c:pt idx="6">
                  <c:v>1.58</c:v>
                </c:pt>
                <c:pt idx="7">
                  <c:v>1.562</c:v>
                </c:pt>
                <c:pt idx="8">
                  <c:v>1.545</c:v>
                </c:pt>
                <c:pt idx="9">
                  <c:v>1.523</c:v>
                </c:pt>
                <c:pt idx="10">
                  <c:v>1.511</c:v>
                </c:pt>
                <c:pt idx="11">
                  <c:v>1.514</c:v>
                </c:pt>
                <c:pt idx="12">
                  <c:v>1.506</c:v>
                </c:pt>
                <c:pt idx="13">
                  <c:v>1.504</c:v>
                </c:pt>
                <c:pt idx="14">
                  <c:v>1.489</c:v>
                </c:pt>
                <c:pt idx="15">
                  <c:v>1.5</c:v>
                </c:pt>
                <c:pt idx="16">
                  <c:v>1.499</c:v>
                </c:pt>
                <c:pt idx="17">
                  <c:v>1.489</c:v>
                </c:pt>
                <c:pt idx="18">
                  <c:v>1.495</c:v>
                </c:pt>
                <c:pt idx="19">
                  <c:v>1.487</c:v>
                </c:pt>
                <c:pt idx="20">
                  <c:v>1.478</c:v>
                </c:pt>
              </c:numCache>
            </c:numRef>
          </c:val>
          <c:smooth val="0"/>
        </c:ser>
        <c:ser>
          <c:idx val="1"/>
          <c:order val="1"/>
          <c:tx>
            <c:strRef>
              <c:f>Sheet1!$C$1</c:f>
              <c:strCache>
                <c:ptCount val="1"/>
                <c:pt idx="0">
                  <c:v>uncertainty</c:v>
                </c:pt>
              </c:strCache>
            </c:strRef>
          </c:tx>
          <c:spPr>
            <a:solidFill>
              <a:srgbClr val="2E6F95"/>
            </a:solidFill>
            <a:ln w="25400" cap="flat">
              <a:solidFill>
                <a:srgbClr val="2E6F95"/>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2E6F95"/>
              </a:solidFill>
              <a:ln w="9525" cap="flat">
                <a:solidFill>
                  <a:srgbClr val="2E6F95"/>
                </a:solidFill>
                <a:prstDash val="solid"/>
                <a:round/>
              </a:ln>
              <a:effectLst/>
            </c:spPr>
          </c:marker>
          <c:cat>
            <c:multiLvlStrRef>
              <c:f>Sheet1!$A$2:$A$22</c:f>
              <c:multiLvlStrCache>
                <c:ptCount val="21"/>
                <c:lvl>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lvl>
              </c:multiLvlStrCache>
            </c:multiLvlStrRef>
          </c:cat>
          <c:val>
            <c:numRef>
              <c:f>Sheet1!$C$2:$C$22</c:f>
              <c:numCache>
                <c:formatCode>General</c:formatCode>
                <c:ptCount val="21"/>
                <c:pt idx="0">
                  <c:v>1.84</c:v>
                </c:pt>
                <c:pt idx="1">
                  <c:v>1.723</c:v>
                </c:pt>
                <c:pt idx="2">
                  <c:v>1.674</c:v>
                </c:pt>
                <c:pt idx="3">
                  <c:v>1.659</c:v>
                </c:pt>
                <c:pt idx="4">
                  <c:v>1.621</c:v>
                </c:pt>
                <c:pt idx="5">
                  <c:v>1.589</c:v>
                </c:pt>
                <c:pt idx="6">
                  <c:v>1.577</c:v>
                </c:pt>
                <c:pt idx="7">
                  <c:v>1.547</c:v>
                </c:pt>
                <c:pt idx="8">
                  <c:v>1.508</c:v>
                </c:pt>
                <c:pt idx="9">
                  <c:v>1.492</c:v>
                </c:pt>
                <c:pt idx="10">
                  <c:v>1.483</c:v>
                </c:pt>
                <c:pt idx="11">
                  <c:v>1.477</c:v>
                </c:pt>
                <c:pt idx="12">
                  <c:v>1.465</c:v>
                </c:pt>
                <c:pt idx="13">
                  <c:v>1.462</c:v>
                </c:pt>
                <c:pt idx="14">
                  <c:v>1.45</c:v>
                </c:pt>
                <c:pt idx="15">
                  <c:v>1.448</c:v>
                </c:pt>
                <c:pt idx="16">
                  <c:v>1.439</c:v>
                </c:pt>
                <c:pt idx="17">
                  <c:v>1.43</c:v>
                </c:pt>
                <c:pt idx="18">
                  <c:v>1.43</c:v>
                </c:pt>
                <c:pt idx="19">
                  <c:v>1.423</c:v>
                </c:pt>
                <c:pt idx="20">
                  <c:v>1.412</c:v>
                </c:pt>
              </c:numCache>
            </c:numRef>
          </c:val>
          <c:smooth val="0"/>
        </c:ser>
        <c:ser>
          <c:idx val="2"/>
          <c:order val="2"/>
          <c:tx>
            <c:strRef>
              <c:f>Sheet1!$D$1</c:f>
              <c:strCache>
                <c:ptCount val="1"/>
                <c:pt idx="0">
                  <c:v>diversity</c:v>
                </c:pt>
              </c:strCache>
            </c:strRef>
          </c:tx>
          <c:spPr>
            <a:solidFill>
              <a:srgbClr val="6C8F7D"/>
            </a:solidFill>
            <a:ln w="25400" cap="flat">
              <a:solidFill>
                <a:srgbClr val="6C8F7D"/>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6C8F7D"/>
              </a:solidFill>
              <a:ln w="9525" cap="flat">
                <a:solidFill>
                  <a:srgbClr val="6C8F7D"/>
                </a:solidFill>
                <a:prstDash val="solid"/>
                <a:round/>
              </a:ln>
              <a:effectLst/>
            </c:spPr>
          </c:marker>
          <c:cat>
            <c:multiLvlStrRef>
              <c:f>Sheet1!$A$2:$A$22</c:f>
              <c:multiLvlStrCache>
                <c:ptCount val="21"/>
                <c:lvl>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lvl>
              </c:multiLvlStrCache>
            </c:multiLvlStrRef>
          </c:cat>
          <c:val>
            <c:numRef>
              <c:f>Sheet1!$D$2:$D$22</c:f>
              <c:numCache>
                <c:formatCode>General</c:formatCode>
                <c:ptCount val="21"/>
                <c:pt idx="0">
                  <c:v>1.84</c:v>
                </c:pt>
                <c:pt idx="1">
                  <c:v>1.667</c:v>
                </c:pt>
                <c:pt idx="2">
                  <c:v>1.613</c:v>
                </c:pt>
                <c:pt idx="3">
                  <c:v>1.58</c:v>
                </c:pt>
                <c:pt idx="4">
                  <c:v>1.552</c:v>
                </c:pt>
                <c:pt idx="5">
                  <c:v>1.534</c:v>
                </c:pt>
                <c:pt idx="6">
                  <c:v>1.513</c:v>
                </c:pt>
                <c:pt idx="7">
                  <c:v>1.51</c:v>
                </c:pt>
                <c:pt idx="8">
                  <c:v>1.506</c:v>
                </c:pt>
                <c:pt idx="9">
                  <c:v>1.5</c:v>
                </c:pt>
                <c:pt idx="10">
                  <c:v>1.504</c:v>
                </c:pt>
                <c:pt idx="11">
                  <c:v>1.5</c:v>
                </c:pt>
                <c:pt idx="12">
                  <c:v>1.5</c:v>
                </c:pt>
                <c:pt idx="13">
                  <c:v>1.477</c:v>
                </c:pt>
                <c:pt idx="14">
                  <c:v>1.464</c:v>
                </c:pt>
                <c:pt idx="15">
                  <c:v>1.456</c:v>
                </c:pt>
                <c:pt idx="16">
                  <c:v>1.453</c:v>
                </c:pt>
                <c:pt idx="17">
                  <c:v>1.455</c:v>
                </c:pt>
                <c:pt idx="18">
                  <c:v>1.454</c:v>
                </c:pt>
                <c:pt idx="19">
                  <c:v>1.455</c:v>
                </c:pt>
                <c:pt idx="20">
                  <c:v>1.44</c:v>
                </c:pt>
              </c:numCache>
            </c:numRef>
          </c:val>
          <c:smooth val="0"/>
        </c:ser>
        <c:ser>
          <c:idx val="3"/>
          <c:order val="3"/>
          <c:tx>
            <c:strRef>
              <c:f>Sheet1!$E$1</c:f>
              <c:strCache>
                <c:ptCount val="1"/>
                <c:pt idx="0">
                  <c:v>bandit ε-greedy</c:v>
                </c:pt>
              </c:strCache>
            </c:strRef>
          </c:tx>
          <c:spPr>
            <a:solidFill>
              <a:srgbClr val="E3A33B"/>
            </a:solidFill>
            <a:ln w="25400" cap="flat">
              <a:solidFill>
                <a:srgbClr val="E3A33B"/>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E3A33B"/>
              </a:solidFill>
              <a:ln w="9525" cap="flat">
                <a:solidFill>
                  <a:srgbClr val="E3A33B"/>
                </a:solidFill>
                <a:prstDash val="solid"/>
                <a:round/>
              </a:ln>
              <a:effectLst/>
            </c:spPr>
          </c:marker>
          <c:cat>
            <c:multiLvlStrRef>
              <c:f>Sheet1!$A$2:$A$22</c:f>
              <c:multiLvlStrCache>
                <c:ptCount val="21"/>
                <c:lvl>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lvl>
              </c:multiLvlStrCache>
            </c:multiLvlStrRef>
          </c:cat>
          <c:val>
            <c:numRef>
              <c:f>Sheet1!$E$2:$E$22</c:f>
              <c:numCache>
                <c:formatCode>General</c:formatCode>
                <c:ptCount val="21"/>
                <c:pt idx="0">
                  <c:v>1.84</c:v>
                </c:pt>
                <c:pt idx="1">
                  <c:v>1.777</c:v>
                </c:pt>
                <c:pt idx="2">
                  <c:v>1.681</c:v>
                </c:pt>
                <c:pt idx="3">
                  <c:v>1.586</c:v>
                </c:pt>
                <c:pt idx="4">
                  <c:v>1.581</c:v>
                </c:pt>
                <c:pt idx="5">
                  <c:v>1.536</c:v>
                </c:pt>
                <c:pt idx="6">
                  <c:v>1.515</c:v>
                </c:pt>
                <c:pt idx="7">
                  <c:v>1.505</c:v>
                </c:pt>
                <c:pt idx="8">
                  <c:v>1.487</c:v>
                </c:pt>
                <c:pt idx="9">
                  <c:v>1.481</c:v>
                </c:pt>
                <c:pt idx="10">
                  <c:v>1.464</c:v>
                </c:pt>
                <c:pt idx="11">
                  <c:v>1.451</c:v>
                </c:pt>
                <c:pt idx="12">
                  <c:v>1.441</c:v>
                </c:pt>
                <c:pt idx="13">
                  <c:v>1.438</c:v>
                </c:pt>
                <c:pt idx="14">
                  <c:v>1.444</c:v>
                </c:pt>
                <c:pt idx="15">
                  <c:v>1.439</c:v>
                </c:pt>
                <c:pt idx="16">
                  <c:v>1.431</c:v>
                </c:pt>
                <c:pt idx="17">
                  <c:v>1.428</c:v>
                </c:pt>
                <c:pt idx="18">
                  <c:v>1.418</c:v>
                </c:pt>
                <c:pt idx="19">
                  <c:v>1.414</c:v>
                </c:pt>
                <c:pt idx="20">
                  <c:v>1.41</c:v>
                </c:pt>
              </c:numCache>
            </c:numRef>
          </c:val>
          <c:smooth val="0"/>
        </c:ser>
        <c:ser>
          <c:idx val="4"/>
          <c:order val="4"/>
          <c:tx>
            <c:strRef>
              <c:f>Sheet1!$F$1</c:f>
              <c:strCache>
                <c:ptCount val="1"/>
                <c:pt idx="0">
                  <c:v>bandit UCB1</c:v>
                </c:pt>
              </c:strCache>
            </c:strRef>
          </c:tx>
          <c:spPr>
            <a:solidFill>
              <a:srgbClr val="C4553B"/>
            </a:solidFill>
            <a:ln w="25400" cap="flat">
              <a:solidFill>
                <a:srgbClr val="C4553B"/>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C4553B"/>
              </a:solidFill>
              <a:ln w="9525" cap="flat">
                <a:solidFill>
                  <a:srgbClr val="C4553B"/>
                </a:solidFill>
                <a:prstDash val="solid"/>
                <a:round/>
              </a:ln>
              <a:effectLst/>
            </c:spPr>
          </c:marker>
          <c:cat>
            <c:multiLvlStrRef>
              <c:f>Sheet1!$A$2:$A$22</c:f>
              <c:multiLvlStrCache>
                <c:ptCount val="21"/>
                <c:lvl>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lvl>
              </c:multiLvlStrCache>
            </c:multiLvlStrRef>
          </c:cat>
          <c:val>
            <c:numRef>
              <c:f>Sheet1!$F$2:$F$22</c:f>
              <c:numCache>
                <c:formatCode>General</c:formatCode>
                <c:ptCount val="21"/>
                <c:pt idx="0">
                  <c:v>1.84</c:v>
                </c:pt>
                <c:pt idx="1">
                  <c:v>1.777</c:v>
                </c:pt>
                <c:pt idx="2">
                  <c:v>1.681</c:v>
                </c:pt>
                <c:pt idx="3">
                  <c:v>1.586</c:v>
                </c:pt>
                <c:pt idx="4">
                  <c:v>1.581</c:v>
                </c:pt>
                <c:pt idx="5">
                  <c:v>1.536</c:v>
                </c:pt>
                <c:pt idx="6">
                  <c:v>1.506</c:v>
                </c:pt>
                <c:pt idx="7">
                  <c:v>1.506</c:v>
                </c:pt>
                <c:pt idx="8">
                  <c:v>1.481</c:v>
                </c:pt>
                <c:pt idx="9">
                  <c:v>1.471</c:v>
                </c:pt>
                <c:pt idx="10">
                  <c:v>1.471</c:v>
                </c:pt>
                <c:pt idx="11">
                  <c:v>1.457</c:v>
                </c:pt>
                <c:pt idx="12">
                  <c:v>1.45</c:v>
                </c:pt>
                <c:pt idx="13">
                  <c:v>1.446</c:v>
                </c:pt>
                <c:pt idx="14">
                  <c:v>1.436</c:v>
                </c:pt>
                <c:pt idx="15">
                  <c:v>1.438</c:v>
                </c:pt>
                <c:pt idx="16">
                  <c:v>1.431</c:v>
                </c:pt>
                <c:pt idx="17">
                  <c:v>1.425</c:v>
                </c:pt>
                <c:pt idx="18">
                  <c:v>1.417</c:v>
                </c:pt>
                <c:pt idx="19">
                  <c:v>1.414</c:v>
                </c:pt>
                <c:pt idx="20">
                  <c:v>1.41</c:v>
                </c:pt>
              </c:numCache>
            </c:numRef>
          </c:val>
          <c:smooth val="0"/>
        </c:ser>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1.9"/>
          <c:min val="1.3"/>
        </c:scaling>
        <c:delete val="0"/>
        <c:axPos val="l"/>
        <c:majorGridlines>
          <c:spPr>
            <a:ln w="9525" cap="flat">
              <a:solidFill>
                <a:srgbClr val="E1E8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Active learning · macro-F1 seri uji vs jumlah label</a:t>
            </a:r>
          </a:p>
        </c:rich>
      </c:tx>
      <c:layout/>
      <c:overlay val="0"/>
    </c:title>
    <c:autoTitleDeleted val="0"/>
    <c:plotArea>
      <c:layout/>
      <c:lineChart>
        <c:varyColors val="0"/>
        <c:ser>
          <c:idx val="0"/>
          <c:order val="0"/>
          <c:tx>
            <c:strRef>
              <c:f>Sheet1!$B$1</c:f>
              <c:strCache>
                <c:ptCount val="1"/>
                <c:pt idx="0">
                  <c:v>random</c:v>
                </c:pt>
              </c:strCache>
            </c:strRef>
          </c:tx>
          <c:spPr>
            <a:solidFill>
              <a:srgbClr val="9AA5A6"/>
            </a:solidFill>
            <a:ln w="25400" cap="flat">
              <a:solidFill>
                <a:srgbClr val="9AA5A6"/>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9AA5A6"/>
              </a:solidFill>
              <a:ln w="9525" cap="flat">
                <a:solidFill>
                  <a:srgbClr val="9AA5A6"/>
                </a:solidFill>
                <a:prstDash val="solid"/>
                <a:round/>
              </a:ln>
              <a:effectLst/>
            </c:spPr>
          </c:marker>
          <c:cat>
            <c:multiLvlStrRef>
              <c:f>Sheet1!$A$2:$A$17</c:f>
              <c:multiLvlStrCache>
                <c:ptCount val="16"/>
                <c:lvl>
                  <c:pt idx="0">
                    <c:v>40</c:v>
                  </c:pt>
                  <c:pt idx="1">
                    <c:v>80</c:v>
                  </c:pt>
                  <c:pt idx="2">
                    <c:v>120</c:v>
                  </c:pt>
                  <c:pt idx="3">
                    <c:v>160</c:v>
                  </c:pt>
                  <c:pt idx="4">
                    <c:v>200</c:v>
                  </c:pt>
                  <c:pt idx="5">
                    <c:v>240</c:v>
                  </c:pt>
                  <c:pt idx="6">
                    <c:v>280</c:v>
                  </c:pt>
                  <c:pt idx="7">
                    <c:v>320</c:v>
                  </c:pt>
                  <c:pt idx="8">
                    <c:v>360</c:v>
                  </c:pt>
                  <c:pt idx="9">
                    <c:v>400</c:v>
                  </c:pt>
                  <c:pt idx="10">
                    <c:v>440</c:v>
                  </c:pt>
                  <c:pt idx="11">
                    <c:v>480</c:v>
                  </c:pt>
                  <c:pt idx="12">
                    <c:v>520</c:v>
                  </c:pt>
                  <c:pt idx="13">
                    <c:v>560</c:v>
                  </c:pt>
                  <c:pt idx="14">
                    <c:v>600</c:v>
                  </c:pt>
                  <c:pt idx="15">
                    <c:v>640</c:v>
                  </c:pt>
                </c:lvl>
              </c:multiLvlStrCache>
            </c:multiLvlStrRef>
          </c:cat>
          <c:val>
            <c:numRef>
              <c:f>Sheet1!$B$2:$B$17</c:f>
              <c:numCache>
                <c:formatCode>General</c:formatCode>
                <c:ptCount val="16"/>
                <c:pt idx="0">
                  <c:v>0.828</c:v>
                </c:pt>
                <c:pt idx="1">
                  <c:v>0.825</c:v>
                </c:pt>
                <c:pt idx="2">
                  <c:v>0.854</c:v>
                </c:pt>
                <c:pt idx="3">
                  <c:v>0.862</c:v>
                </c:pt>
                <c:pt idx="4">
                  <c:v>0.825</c:v>
                </c:pt>
                <c:pt idx="5">
                  <c:v>0.84</c:v>
                </c:pt>
                <c:pt idx="6">
                  <c:v>0.848</c:v>
                </c:pt>
                <c:pt idx="7">
                  <c:v>0.865</c:v>
                </c:pt>
                <c:pt idx="8">
                  <c:v>0.862</c:v>
                </c:pt>
                <c:pt idx="9">
                  <c:v>0.867</c:v>
                </c:pt>
                <c:pt idx="10">
                  <c:v>0.863</c:v>
                </c:pt>
                <c:pt idx="11">
                  <c:v>0.867</c:v>
                </c:pt>
                <c:pt idx="12">
                  <c:v>0.874</c:v>
                </c:pt>
                <c:pt idx="13">
                  <c:v>0.868</c:v>
                </c:pt>
                <c:pt idx="14">
                  <c:v>0.878</c:v>
                </c:pt>
                <c:pt idx="15">
                  <c:v>0.883</c:v>
                </c:pt>
              </c:numCache>
            </c:numRef>
          </c:val>
          <c:smooth val="0"/>
        </c:ser>
        <c:ser>
          <c:idx val="1"/>
          <c:order val="1"/>
          <c:tx>
            <c:strRef>
              <c:f>Sheet1!$C$1</c:f>
              <c:strCache>
                <c:ptCount val="1"/>
                <c:pt idx="0">
                  <c:v>uncertainty</c:v>
                </c:pt>
              </c:strCache>
            </c:strRef>
          </c:tx>
          <c:spPr>
            <a:solidFill>
              <a:srgbClr val="2E6F95"/>
            </a:solidFill>
            <a:ln w="25400" cap="flat">
              <a:solidFill>
                <a:srgbClr val="2E6F95"/>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2E6F95"/>
              </a:solidFill>
              <a:ln w="9525" cap="flat">
                <a:solidFill>
                  <a:srgbClr val="2E6F95"/>
                </a:solidFill>
                <a:prstDash val="solid"/>
                <a:round/>
              </a:ln>
              <a:effectLst/>
            </c:spPr>
          </c:marker>
          <c:cat>
            <c:multiLvlStrRef>
              <c:f>Sheet1!$A$2:$A$17</c:f>
              <c:multiLvlStrCache>
                <c:ptCount val="16"/>
                <c:lvl>
                  <c:pt idx="0">
                    <c:v>40</c:v>
                  </c:pt>
                  <c:pt idx="1">
                    <c:v>80</c:v>
                  </c:pt>
                  <c:pt idx="2">
                    <c:v>120</c:v>
                  </c:pt>
                  <c:pt idx="3">
                    <c:v>160</c:v>
                  </c:pt>
                  <c:pt idx="4">
                    <c:v>200</c:v>
                  </c:pt>
                  <c:pt idx="5">
                    <c:v>240</c:v>
                  </c:pt>
                  <c:pt idx="6">
                    <c:v>280</c:v>
                  </c:pt>
                  <c:pt idx="7">
                    <c:v>320</c:v>
                  </c:pt>
                  <c:pt idx="8">
                    <c:v>360</c:v>
                  </c:pt>
                  <c:pt idx="9">
                    <c:v>400</c:v>
                  </c:pt>
                  <c:pt idx="10">
                    <c:v>440</c:v>
                  </c:pt>
                  <c:pt idx="11">
                    <c:v>480</c:v>
                  </c:pt>
                  <c:pt idx="12">
                    <c:v>520</c:v>
                  </c:pt>
                  <c:pt idx="13">
                    <c:v>560</c:v>
                  </c:pt>
                  <c:pt idx="14">
                    <c:v>600</c:v>
                  </c:pt>
                  <c:pt idx="15">
                    <c:v>640</c:v>
                  </c:pt>
                </c:lvl>
              </c:multiLvlStrCache>
            </c:multiLvlStrRef>
          </c:cat>
          <c:val>
            <c:numRef>
              <c:f>Sheet1!$C$2:$C$17</c:f>
              <c:numCache>
                <c:formatCode>General</c:formatCode>
                <c:ptCount val="16"/>
                <c:pt idx="0">
                  <c:v>0.828</c:v>
                </c:pt>
                <c:pt idx="1">
                  <c:v>0.779</c:v>
                </c:pt>
                <c:pt idx="2">
                  <c:v>0.818</c:v>
                </c:pt>
                <c:pt idx="3">
                  <c:v>0.791</c:v>
                </c:pt>
                <c:pt idx="4">
                  <c:v>0.826</c:v>
                </c:pt>
                <c:pt idx="5">
                  <c:v>0.805</c:v>
                </c:pt>
                <c:pt idx="6">
                  <c:v>0.802</c:v>
                </c:pt>
                <c:pt idx="7">
                  <c:v>0.809</c:v>
                </c:pt>
                <c:pt idx="8">
                  <c:v>0.804</c:v>
                </c:pt>
                <c:pt idx="9">
                  <c:v>0.822</c:v>
                </c:pt>
                <c:pt idx="10">
                  <c:v>0.812</c:v>
                </c:pt>
                <c:pt idx="11">
                  <c:v>0.835</c:v>
                </c:pt>
                <c:pt idx="12">
                  <c:v>0.847</c:v>
                </c:pt>
                <c:pt idx="13">
                  <c:v>0.805</c:v>
                </c:pt>
                <c:pt idx="14">
                  <c:v>0.806</c:v>
                </c:pt>
                <c:pt idx="15">
                  <c:v>0.818</c:v>
                </c:pt>
              </c:numCache>
            </c:numRef>
          </c:val>
          <c:smooth val="0"/>
        </c:ser>
        <c:ser>
          <c:idx val="2"/>
          <c:order val="2"/>
          <c:tx>
            <c:strRef>
              <c:f>Sheet1!$D$1</c:f>
              <c:strCache>
                <c:ptCount val="1"/>
                <c:pt idx="0">
                  <c:v>diversity</c:v>
                </c:pt>
              </c:strCache>
            </c:strRef>
          </c:tx>
          <c:spPr>
            <a:solidFill>
              <a:srgbClr val="6C8F7D"/>
            </a:solidFill>
            <a:ln w="25400" cap="flat">
              <a:solidFill>
                <a:srgbClr val="6C8F7D"/>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6C8F7D"/>
              </a:solidFill>
              <a:ln w="9525" cap="flat">
                <a:solidFill>
                  <a:srgbClr val="6C8F7D"/>
                </a:solidFill>
                <a:prstDash val="solid"/>
                <a:round/>
              </a:ln>
              <a:effectLst/>
            </c:spPr>
          </c:marker>
          <c:cat>
            <c:multiLvlStrRef>
              <c:f>Sheet1!$A$2:$A$17</c:f>
              <c:multiLvlStrCache>
                <c:ptCount val="16"/>
                <c:lvl>
                  <c:pt idx="0">
                    <c:v>40</c:v>
                  </c:pt>
                  <c:pt idx="1">
                    <c:v>80</c:v>
                  </c:pt>
                  <c:pt idx="2">
                    <c:v>120</c:v>
                  </c:pt>
                  <c:pt idx="3">
                    <c:v>160</c:v>
                  </c:pt>
                  <c:pt idx="4">
                    <c:v>200</c:v>
                  </c:pt>
                  <c:pt idx="5">
                    <c:v>240</c:v>
                  </c:pt>
                  <c:pt idx="6">
                    <c:v>280</c:v>
                  </c:pt>
                  <c:pt idx="7">
                    <c:v>320</c:v>
                  </c:pt>
                  <c:pt idx="8">
                    <c:v>360</c:v>
                  </c:pt>
                  <c:pt idx="9">
                    <c:v>400</c:v>
                  </c:pt>
                  <c:pt idx="10">
                    <c:v>440</c:v>
                  </c:pt>
                  <c:pt idx="11">
                    <c:v>480</c:v>
                  </c:pt>
                  <c:pt idx="12">
                    <c:v>520</c:v>
                  </c:pt>
                  <c:pt idx="13">
                    <c:v>560</c:v>
                  </c:pt>
                  <c:pt idx="14">
                    <c:v>600</c:v>
                  </c:pt>
                  <c:pt idx="15">
                    <c:v>640</c:v>
                  </c:pt>
                </c:lvl>
              </c:multiLvlStrCache>
            </c:multiLvlStrRef>
          </c:cat>
          <c:val>
            <c:numRef>
              <c:f>Sheet1!$D$2:$D$17</c:f>
              <c:numCache>
                <c:formatCode>General</c:formatCode>
                <c:ptCount val="16"/>
                <c:pt idx="0">
                  <c:v>0.828</c:v>
                </c:pt>
                <c:pt idx="1">
                  <c:v>0.805</c:v>
                </c:pt>
                <c:pt idx="2">
                  <c:v>0.802</c:v>
                </c:pt>
                <c:pt idx="3">
                  <c:v>0.813</c:v>
                </c:pt>
                <c:pt idx="4">
                  <c:v>0.815</c:v>
                </c:pt>
                <c:pt idx="5">
                  <c:v>0.85</c:v>
                </c:pt>
                <c:pt idx="6">
                  <c:v>0.852</c:v>
                </c:pt>
                <c:pt idx="7">
                  <c:v>0.849</c:v>
                </c:pt>
                <c:pt idx="8">
                  <c:v>0.843</c:v>
                </c:pt>
                <c:pt idx="9">
                  <c:v>0.832</c:v>
                </c:pt>
                <c:pt idx="10">
                  <c:v>0.837</c:v>
                </c:pt>
                <c:pt idx="11">
                  <c:v>0.84</c:v>
                </c:pt>
                <c:pt idx="12">
                  <c:v>0.838</c:v>
                </c:pt>
                <c:pt idx="13">
                  <c:v>0.816</c:v>
                </c:pt>
                <c:pt idx="14">
                  <c:v>0.822</c:v>
                </c:pt>
                <c:pt idx="15">
                  <c:v>0.834</c:v>
                </c:pt>
              </c:numCache>
            </c:numRef>
          </c:val>
          <c:smooth val="0"/>
        </c:ser>
        <c:ser>
          <c:idx val="3"/>
          <c:order val="3"/>
          <c:tx>
            <c:strRef>
              <c:f>Sheet1!$E$1</c:f>
              <c:strCache>
                <c:ptCount val="1"/>
                <c:pt idx="0">
                  <c:v>bandit ε-greedy</c:v>
                </c:pt>
              </c:strCache>
            </c:strRef>
          </c:tx>
          <c:spPr>
            <a:solidFill>
              <a:srgbClr val="E3A33B"/>
            </a:solidFill>
            <a:ln w="25400" cap="flat">
              <a:solidFill>
                <a:srgbClr val="E3A33B"/>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E3A33B"/>
              </a:solidFill>
              <a:ln w="9525" cap="flat">
                <a:solidFill>
                  <a:srgbClr val="E3A33B"/>
                </a:solidFill>
                <a:prstDash val="solid"/>
                <a:round/>
              </a:ln>
              <a:effectLst/>
            </c:spPr>
          </c:marker>
          <c:cat>
            <c:multiLvlStrRef>
              <c:f>Sheet1!$A$2:$A$17</c:f>
              <c:multiLvlStrCache>
                <c:ptCount val="16"/>
                <c:lvl>
                  <c:pt idx="0">
                    <c:v>40</c:v>
                  </c:pt>
                  <c:pt idx="1">
                    <c:v>80</c:v>
                  </c:pt>
                  <c:pt idx="2">
                    <c:v>120</c:v>
                  </c:pt>
                  <c:pt idx="3">
                    <c:v>160</c:v>
                  </c:pt>
                  <c:pt idx="4">
                    <c:v>200</c:v>
                  </c:pt>
                  <c:pt idx="5">
                    <c:v>240</c:v>
                  </c:pt>
                  <c:pt idx="6">
                    <c:v>280</c:v>
                  </c:pt>
                  <c:pt idx="7">
                    <c:v>320</c:v>
                  </c:pt>
                  <c:pt idx="8">
                    <c:v>360</c:v>
                  </c:pt>
                  <c:pt idx="9">
                    <c:v>400</c:v>
                  </c:pt>
                  <c:pt idx="10">
                    <c:v>440</c:v>
                  </c:pt>
                  <c:pt idx="11">
                    <c:v>480</c:v>
                  </c:pt>
                  <c:pt idx="12">
                    <c:v>520</c:v>
                  </c:pt>
                  <c:pt idx="13">
                    <c:v>560</c:v>
                  </c:pt>
                  <c:pt idx="14">
                    <c:v>600</c:v>
                  </c:pt>
                  <c:pt idx="15">
                    <c:v>640</c:v>
                  </c:pt>
                </c:lvl>
              </c:multiLvlStrCache>
            </c:multiLvlStrRef>
          </c:cat>
          <c:val>
            <c:numRef>
              <c:f>Sheet1!$E$2:$E$17</c:f>
              <c:numCache>
                <c:formatCode>General</c:formatCode>
                <c:ptCount val="16"/>
                <c:pt idx="0">
                  <c:v>0.828</c:v>
                </c:pt>
                <c:pt idx="1">
                  <c:v>0.825</c:v>
                </c:pt>
                <c:pt idx="2">
                  <c:v>0.824</c:v>
                </c:pt>
                <c:pt idx="3">
                  <c:v>0.797</c:v>
                </c:pt>
                <c:pt idx="4">
                  <c:v>0.85</c:v>
                </c:pt>
                <c:pt idx="5">
                  <c:v>0.854</c:v>
                </c:pt>
                <c:pt idx="6">
                  <c:v>0.871</c:v>
                </c:pt>
                <c:pt idx="7">
                  <c:v>0.853</c:v>
                </c:pt>
                <c:pt idx="8">
                  <c:v>0.787</c:v>
                </c:pt>
                <c:pt idx="9">
                  <c:v>0.844</c:v>
                </c:pt>
                <c:pt idx="10">
                  <c:v>0.821</c:v>
                </c:pt>
                <c:pt idx="11">
                  <c:v>0.828</c:v>
                </c:pt>
                <c:pt idx="12">
                  <c:v>0.83</c:v>
                </c:pt>
                <c:pt idx="13">
                  <c:v>0.815</c:v>
                </c:pt>
                <c:pt idx="14">
                  <c:v>0.841</c:v>
                </c:pt>
                <c:pt idx="15">
                  <c:v>0.843</c:v>
                </c:pt>
              </c:numCache>
            </c:numRef>
          </c:val>
          <c:smooth val="0"/>
        </c:ser>
        <c:ser>
          <c:idx val="4"/>
          <c:order val="4"/>
          <c:tx>
            <c:strRef>
              <c:f>Sheet1!$F$1</c:f>
              <c:strCache>
                <c:ptCount val="1"/>
                <c:pt idx="0">
                  <c:v>bandit UCB1</c:v>
                </c:pt>
              </c:strCache>
            </c:strRef>
          </c:tx>
          <c:spPr>
            <a:solidFill>
              <a:srgbClr val="C4553B"/>
            </a:solidFill>
            <a:ln w="25400" cap="flat">
              <a:solidFill>
                <a:srgbClr val="C4553B"/>
              </a:solidFill>
              <a:prstDash val="solid"/>
              <a:round/>
            </a:ln>
            <a:effectLst/>
          </c:spPr>
          <c:invertIfNegative val="0"/>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c:symbol val="circle"/>
            <c:size val="4"/>
            <c:spPr>
              <a:solidFill>
                <a:srgbClr val="C4553B"/>
              </a:solidFill>
              <a:ln w="9525" cap="flat">
                <a:solidFill>
                  <a:srgbClr val="C4553B"/>
                </a:solidFill>
                <a:prstDash val="solid"/>
                <a:round/>
              </a:ln>
              <a:effectLst/>
            </c:spPr>
          </c:marker>
          <c:cat>
            <c:multiLvlStrRef>
              <c:f>Sheet1!$A$2:$A$17</c:f>
              <c:multiLvlStrCache>
                <c:ptCount val="16"/>
                <c:lvl>
                  <c:pt idx="0">
                    <c:v>40</c:v>
                  </c:pt>
                  <c:pt idx="1">
                    <c:v>80</c:v>
                  </c:pt>
                  <c:pt idx="2">
                    <c:v>120</c:v>
                  </c:pt>
                  <c:pt idx="3">
                    <c:v>160</c:v>
                  </c:pt>
                  <c:pt idx="4">
                    <c:v>200</c:v>
                  </c:pt>
                  <c:pt idx="5">
                    <c:v>240</c:v>
                  </c:pt>
                  <c:pt idx="6">
                    <c:v>280</c:v>
                  </c:pt>
                  <c:pt idx="7">
                    <c:v>320</c:v>
                  </c:pt>
                  <c:pt idx="8">
                    <c:v>360</c:v>
                  </c:pt>
                  <c:pt idx="9">
                    <c:v>400</c:v>
                  </c:pt>
                  <c:pt idx="10">
                    <c:v>440</c:v>
                  </c:pt>
                  <c:pt idx="11">
                    <c:v>480</c:v>
                  </c:pt>
                  <c:pt idx="12">
                    <c:v>520</c:v>
                  </c:pt>
                  <c:pt idx="13">
                    <c:v>560</c:v>
                  </c:pt>
                  <c:pt idx="14">
                    <c:v>600</c:v>
                  </c:pt>
                  <c:pt idx="15">
                    <c:v>640</c:v>
                  </c:pt>
                </c:lvl>
              </c:multiLvlStrCache>
            </c:multiLvlStrRef>
          </c:cat>
          <c:val>
            <c:numRef>
              <c:f>Sheet1!$F$2:$F$17</c:f>
              <c:numCache>
                <c:formatCode>General</c:formatCode>
                <c:ptCount val="16"/>
                <c:pt idx="0">
                  <c:v>0.828</c:v>
                </c:pt>
                <c:pt idx="1">
                  <c:v>0.825</c:v>
                </c:pt>
                <c:pt idx="2">
                  <c:v>0.824</c:v>
                </c:pt>
                <c:pt idx="3">
                  <c:v>0.797</c:v>
                </c:pt>
                <c:pt idx="4">
                  <c:v>0.849</c:v>
                </c:pt>
                <c:pt idx="5">
                  <c:v>0.833</c:v>
                </c:pt>
                <c:pt idx="6">
                  <c:v>0.77</c:v>
                </c:pt>
                <c:pt idx="7">
                  <c:v>0.764</c:v>
                </c:pt>
                <c:pt idx="8">
                  <c:v>0.766</c:v>
                </c:pt>
                <c:pt idx="9">
                  <c:v>0.829</c:v>
                </c:pt>
                <c:pt idx="10">
                  <c:v>0.835</c:v>
                </c:pt>
                <c:pt idx="11">
                  <c:v>0.836</c:v>
                </c:pt>
                <c:pt idx="12">
                  <c:v>0.784</c:v>
                </c:pt>
                <c:pt idx="13">
                  <c:v>0.803</c:v>
                </c:pt>
                <c:pt idx="14">
                  <c:v>0.795</c:v>
                </c:pt>
                <c:pt idx="15">
                  <c:v>0.804</c:v>
                </c:pt>
              </c:numCache>
            </c:numRef>
          </c:val>
          <c:smooth val="0"/>
        </c:ser>
        <c:dLbls>
          <c:numFmt formatCode="#,##0" sourceLinked="0"/>
          <c:txPr>
            <a:bodyPr/>
            <a:lstStyle/>
            <a:p>
              <a:pPr>
                <a:defRPr b="0" i="0" strike="noStrike" sz="1100" u="none">
                  <a:solidFill>
                    <a:srgbClr val="1626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0.95"/>
          <c:min val="0.7"/>
        </c:scaling>
        <c:delete val="0"/>
        <c:axPos val="l"/>
        <c:majorGridlines>
          <c:spPr>
            <a:ln w="9525" cap="flat">
              <a:solidFill>
                <a:srgbClr val="E1E8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Tambah batch vs tambah baris (XGBoost biner)</a:t>
            </a:r>
          </a:p>
        </c:rich>
      </c:tx>
      <c:layout/>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0F5257"/>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Sheet1!$A$2:$A$8</c:f>
              <c:multiLvlStrCache>
                <c:ptCount val="7"/>
                <c:lvl>
                  <c:pt idx="0">
                    <c:v>1 seri</c:v>
                  </c:pt>
                  <c:pt idx="1">
                    <c:v>2 seri</c:v>
                  </c:pt>
                  <c:pt idx="2">
                    <c:v>3 seri</c:v>
                  </c:pt>
                  <c:pt idx="3">
                    <c:v>4 seri</c:v>
                  </c:pt>
                  <c:pt idx="4">
                    <c:v>4 seri · 640 baris</c:v>
                  </c:pt>
                  <c:pt idx="5">
                    <c:v>4 seri · 160 baris</c:v>
                  </c:pt>
                  <c:pt idx="6">
                    <c:v>4 seri · 40 baris</c:v>
                  </c:pt>
                </c:lvl>
              </c:multiLvlStrCache>
            </c:multiLvlStrRef>
          </c:cat>
          <c:val>
            <c:numRef>
              <c:f>Sheet1!$B$2:$B$8</c:f>
              <c:numCache>
                <c:formatCode>General</c:formatCode>
                <c:ptCount val="7"/>
                <c:pt idx="0">
                  <c:v>0.717</c:v>
                </c:pt>
                <c:pt idx="1">
                  <c:v>0.746</c:v>
                </c:pt>
                <c:pt idx="2">
                  <c:v>0.833</c:v>
                </c:pt>
                <c:pt idx="3">
                  <c:v>0.911</c:v>
                </c:pt>
                <c:pt idx="4">
                  <c:v>0.874</c:v>
                </c:pt>
                <c:pt idx="5">
                  <c:v>0.872</c:v>
                </c:pt>
                <c:pt idx="6">
                  <c:v>0.825</c:v>
                </c:pt>
              </c:numCache>
            </c:numRef>
          </c:val>
        </c:ser>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1E8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Kelarutan · LightGBM+Optuna</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0F5257"/>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Sheet1!$A$2:$A$9</c:f>
              <c:multiLvlStrCache>
                <c:ptCount val="8"/>
                <c:lvl>
                  <c:pt idx="0">
                    <c:v>MolLogP</c:v>
                  </c:pt>
                  <c:pt idx="1">
                    <c:v>MolMR</c:v>
                  </c:pt>
                  <c:pt idx="2">
                    <c:v>PEOE_VSA6</c:v>
                  </c:pt>
                  <c:pt idx="3">
                    <c:v>LabuteASA</c:v>
                  </c:pt>
                  <c:pt idx="4">
                    <c:v>SlogP_VSA2</c:v>
                  </c:pt>
                  <c:pt idx="5">
                    <c:v>MinPartialCharge</c:v>
                  </c:pt>
                  <c:pt idx="6">
                    <c:v>HeavyAtomMolWt</c:v>
                  </c:pt>
                  <c:pt idx="7">
                    <c:v>VSA_EState9</c:v>
                  </c:pt>
                </c:lvl>
              </c:multiLvlStrCache>
            </c:multiLvlStrRef>
          </c:cat>
          <c:val>
            <c:numRef>
              <c:f>Sheet1!$B$2:$B$9</c:f>
              <c:numCache>
                <c:formatCode>General</c:formatCode>
                <c:ptCount val="8"/>
                <c:pt idx="0">
                  <c:v>0.577</c:v>
                </c:pt>
                <c:pt idx="1">
                  <c:v>0.32</c:v>
                </c:pt>
                <c:pt idx="2">
                  <c:v>0.216</c:v>
                </c:pt>
                <c:pt idx="3">
                  <c:v>0.137</c:v>
                </c:pt>
                <c:pt idx="4">
                  <c:v>0.129</c:v>
                </c:pt>
                <c:pt idx="5">
                  <c:v>0.102</c:v>
                </c:pt>
                <c:pt idx="6">
                  <c:v>0.101</c:v>
                </c:pt>
                <c:pt idx="7">
                  <c:v>0.089</c:v>
                </c:pt>
              </c:numCache>
            </c:numRef>
          </c:val>
        </c:ser>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b"/>
        <c:majorGridlines>
          <c:spPr>
            <a:ln w="9525" cap="flat">
              <a:solidFill>
                <a:srgbClr val="E1E8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D3E"/>
                </a:solidFill>
                <a:latin typeface="+mn-lt"/>
              </a:defRPr>
            </a:pPr>
            <a:r>
              <a:rPr sz="1300" b="0" i="0" u="none" strike="noStrike">
                <a:solidFill>
                  <a:srgbClr val="0F3D3E"/>
                </a:solidFill>
                <a:latin typeface="+mn-lt"/>
              </a:rPr>
              <a:t>E-nose biner · XGBoost, dijelaskan pada seri uji</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E3A33B"/>
            </a:solidFill>
            <a:effectLst/>
          </c:spPr>
          <c:invertIfNegative val="0"/>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cat>
            <c:multiLvlStrRef>
              <c:f>Sheet1!$A$2:$A$11</c:f>
              <c:multiLvlStrCache>
                <c:ptCount val="10"/>
                <c:lvl>
                  <c:pt idx="0">
                    <c:v>MQ4</c:v>
                  </c:pt>
                  <c:pt idx="1">
                    <c:v>MQ8</c:v>
                  </c:pt>
                  <c:pt idx="2">
                    <c:v>MQ3</c:v>
                  </c:pt>
                  <c:pt idx="3">
                    <c:v>MQ9</c:v>
                  </c:pt>
                  <c:pt idx="4">
                    <c:v>MQ136</c:v>
                  </c:pt>
                  <c:pt idx="5">
                    <c:v>MQ2</c:v>
                  </c:pt>
                  <c:pt idx="6">
                    <c:v>MQ5</c:v>
                  </c:pt>
                  <c:pt idx="7">
                    <c:v>MQ135</c:v>
                  </c:pt>
                  <c:pt idx="8">
                    <c:v>MQ6</c:v>
                  </c:pt>
                  <c:pt idx="9">
                    <c:v>Humidity</c:v>
                  </c:pt>
                </c:lvl>
              </c:multiLvlStrCache>
            </c:multiLvlStrRef>
          </c:cat>
          <c:val>
            <c:numRef>
              <c:f>Sheet1!$B$2:$B$11</c:f>
              <c:numCache>
                <c:formatCode>General</c:formatCode>
                <c:ptCount val="10"/>
                <c:pt idx="0">
                  <c:v>4.22</c:v>
                </c:pt>
                <c:pt idx="1">
                  <c:v>3.238</c:v>
                </c:pt>
                <c:pt idx="2">
                  <c:v>1.426</c:v>
                </c:pt>
                <c:pt idx="3">
                  <c:v>0.862</c:v>
                </c:pt>
                <c:pt idx="4">
                  <c:v>0.574</c:v>
                </c:pt>
                <c:pt idx="5">
                  <c:v>0.511</c:v>
                </c:pt>
                <c:pt idx="6">
                  <c:v>0.308</c:v>
                </c:pt>
                <c:pt idx="7">
                  <c:v>0.255</c:v>
                </c:pt>
                <c:pt idx="8">
                  <c:v>0.242</c:v>
                </c:pt>
                <c:pt idx="9">
                  <c:v>0.119</c:v>
                </c:pt>
              </c:numCache>
            </c:numRef>
          </c:val>
        </c:ser>
        <c:dLbls>
          <c:numFmt formatCode="0.00" sourceLinked="0"/>
          <c:txPr>
            <a:bodyPr/>
            <a:lstStyle/>
            <a:p>
              <a:pPr>
                <a:defRPr b="0" i="0" strike="noStrike" sz="1100" u="none">
                  <a:solidFill>
                    <a:srgbClr val="16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76A"/>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1E8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7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Kami bertiga membawa tiga topik skripsi yang berbeda: kesegaran makanan, kelarutan obat, dan mutu kuning telur puyuh. Proyek ini mencari irisan ketiganya: data yang labelnya mahal.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topik punya pola yang sama. Labelnya mahal: penilai sensori dan waktu tunggu, uji laboratorium, atau telur yang harus dipecah. Model intinya sama-sama berbasis boosting, dan validasinya mudah bocor. Pertanyaan proyek kami: bagaimana mendapatkan model yang jujur dan bagus dengan label sesedikit mungkin?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mengerjakan empat aspek, jadi sesuai ketentuan nilai minimum kelompok menjadi 75. Deep learning EfficientNet-B0 di track telur juga terhitung sebagai aspek ensemble menurut ketentuan dosen, tetapi track itu masih menunggu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berjalan dari akuisisi sampai loop bandit. Satu aturan dipegang di semua tahap: apa pun yang belajar dari data hanya boleh melihat data latih atau validasi. Semua kode ada di repo GitHub dalam bentuk empat notebook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skripsi Erlangga baru pilot satu batch, dan citra telur Rijal belum diambil. Karena itu kami memakai dataset publik yang strukturnya sama dan menyebutnya terus terang sebagai proksi. AqSolDB adalah data skripsi Michael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dan data yang sama memberi macro-F1 0,998 dengan split acak, tetapi hanya 0,572 saat diuji pada potongan daging yang belum pernah dilihat. Pada AqSolDB, RMSE naik dari 1,013 ke 1,254. Penyebabnya kebocoran: menit yang bertetangga dan molekul satu scaffold terlalu mirip. Kami tidak menuduh paper mana pun; kami hanya menunjukkan angka 99% bisa didapat dari split 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dibuat pada sinyal mentah data latih: jitter mensimulasikan derau sensor, gain scaling mensimulasikan perbedaan sensitivitas antar unit sensor. Data uji tetap asli. Model linear terbantu, LightGBM justru turun. Penanganan imbalance memberi perubahan kecil yang masih di dalam simpangan baku, jadi kami tidak mengklaim ada teknik yang lebih unggul secara bermakna.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tugas biner, label yang sama dengan skripsi Erlangga, XGBoost unggul jelas dan simpangan bakunya paling kecil, artinya performanya stabil di kelima potongan daging. Meta-learner stacking juga dilatih dengan LOSO di dalam fold latih supaya tidak bocor. Pada 4 kelas kami sampaikan terus terang bahwa ensemble tidak unggul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Stacking memberi RMSE terendah 1,222, sesuai teori bahwa stacking menggabungkan model heterogen yang galatnya berbeda. Optuna menurunkan RMSE validasi silang menjadi 1,063, tetapi di data uji hasilnya 1,259, setara LightGBM default. Fold CV masih berisi scaffold yang umum, sedangkan data uji berisi scaffold langka.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regresi, imbalance berarti nilai ekstrem jarang muncul. Kami memberi bobot sampel sebanding kebalikan frekuensi kategori kelarutannya. Galat di kedua ekstrem turun, galat di tengah naik, dan RMSE total sedikit naik. Ini trade-off yang harus dipilih sesuai tujuan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ronde agen memilih satu strategi kueri: acak, paling tidak yakin, atau paling beragam. Oracle memberi label, model dilatih ulang, dan reward adalah perbaikan skor validasi. Agen memperbarui estimasi nilai tiap arm dengan rata-rata Monte Carlo seperti di materi kuliah, lalu memilih dengan epsilon-greedy atau UCB1. Ini multi-armed bandit, bukan deep RL, dan kami menyebutnya demikian.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100 label, tiap ronde menambah 100, selama 20 ronde dengan 5 seed. Bandit UCB1 sudah menyamai kualitas akhir sampling acak pada 1000 label, sehingga hemat sekitar 52% label. Dengan sepertiga pool, RMSE-nya hanya terpaut sedikit dari model yang memakai seluruh pool. Nilai jual bandit: tidak perlu menebak strategi terbaik di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e-nose, active learning tidak menang: 40 label sudah memberi F1 sekitar 0,83 dan kurvanya hampir datar. Grafik kanan menjelaskan sebabnya. Menambah seri menaikkan F1 tajam, sedangkan menambah baris dari seri yang sama hampir tidak berpengaruh. Untuk skripsi Erlangga, ini argumen empiris bahwa 16 batch lebih penting daripada banyak bacaan per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pada model kelarutan menempatkan MolLogP di urutan pertama, sesuai kimia. Pada e-nose, sensor metana MQ4 dan hidrogen MQ8 paling menentukan, sedangkan MQ135 kecil. Karena domainnya daging sapi mentah, ini kami ajukan sebagai hipotesis: apakah satu sensor MQ-135 cukup untuk makanan matang?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utama: jumlah seri kecil dan track A adalah proksi. Trade-off muncul di augmentasi, bobot imbalance, stacking, dan bandit. Sumber galat terbesar adalah pergeseran domain. Pengembangan paling penting adalah menjalankan pipeline ini pada data 16 batch Erlangga dan data citra Rijal, serta active learning di tingkat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pesan penutup. Validasi menentukan. Boosting adalah baseline yang kuat. Bandit menghemat label ketika masalahnya memang kekurangan label. Ketika masalahnya pergeseran domain, yang dibutuhkan adalah batch baru. Terima kasih, kami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7A8A8C"/>
                </a:solidFill>
              </a:rPr>
              <a:t>ETS Machine Learning II · Belajar dengan Label Mahal</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822960"/>
            <a:ext cx="640080" cy="640080"/>
          </a:xfrm>
          <a:prstGeom prst="ellipse">
            <a:avLst/>
          </a:prstGeom>
          <a:solidFill>
            <a:schemeClr val="accent2"/>
          </a:solidFill>
          <a:ln w="12700">
            <a:solidFill>
              <a:schemeClr val="accent2"/>
            </a:solidFill>
            <a:prstDash val="solid"/>
          </a:ln>
        </p:spPr>
      </p:sp>
      <p:sp>
        <p:nvSpPr>
          <p:cNvPr id="3" name="Text 1"/>
          <p:cNvSpPr txBox="1"/>
          <p:nvPr/>
        </p:nvSpPr>
        <p:spPr>
          <a:xfrm>
            <a:off x="548640" y="822960"/>
            <a:ext cx="640080" cy="640080"/>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4" name="Text 2"/>
          <p:cNvSpPr txBox="1"/>
          <p:nvPr/>
        </p:nvSpPr>
        <p:spPr>
          <a:xfrm>
            <a:off x="548640" y="1737360"/>
            <a:ext cx="10515600" cy="118872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Belajar dengan Label Mahal</a:t>
            </a:r>
            <a:endParaRPr lang="en-US" sz="5400" dirty="0"/>
          </a:p>
        </p:txBody>
      </p:sp>
      <p:sp>
        <p:nvSpPr>
          <p:cNvPr id="5" name="Text 3"/>
          <p:cNvSpPr txBox="1"/>
          <p:nvPr/>
        </p:nvSpPr>
        <p:spPr>
          <a:xfrm>
            <a:off x="548640" y="2971800"/>
            <a:ext cx="9601200" cy="914400"/>
          </a:xfrm>
          <a:prstGeom prst="rect">
            <a:avLst/>
          </a:prstGeom>
          <a:noFill/>
          <a:ln/>
        </p:spPr>
        <p:txBody>
          <a:bodyPr wrap="square" lIns="0" tIns="0" rIns="0" bIns="0" rtlCol="0" anchor="ctr"/>
          <a:lstStyle/>
          <a:p>
            <a:pPr indent="0" marL="0">
              <a:buNone/>
            </a:pPr>
            <a:r>
              <a:rPr lang="en-US" sz="2000" dirty="0">
                <a:solidFill>
                  <a:srgbClr val="CADBD7"/>
                </a:solidFill>
              </a:rPr>
              <a:t>Pipeline ensemble dan active learning berbasis multi-armed bandit untuk penilaian mutu pangan dan senyawa obat</a:t>
            </a:r>
            <a:endParaRPr lang="en-US" sz="2000" dirty="0"/>
          </a:p>
        </p:txBody>
      </p:sp>
      <p:sp>
        <p:nvSpPr>
          <p:cNvPr id="6" name="Text 4"/>
          <p:cNvSpPr txBox="1"/>
          <p:nvPr/>
        </p:nvSpPr>
        <p:spPr>
          <a:xfrm>
            <a:off x="548640" y="4343400"/>
            <a:ext cx="7315200" cy="109728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Muhammad Erlangga Kurniawan · 23083010045</a:t>
            </a:r>
            <a:endParaRPr lang="en-US" sz="1500" dirty="0"/>
          </a:p>
          <a:p>
            <a:pPr indent="0" marL="0">
              <a:spcAft>
                <a:spcPts val="400"/>
              </a:spcAft>
              <a:buNone/>
            </a:pPr>
            <a:r>
              <a:rPr lang="en-US" sz="1500" dirty="0">
                <a:solidFill>
                  <a:schemeClr val="bg1"/>
                </a:solidFill>
              </a:rPr>
              <a:t>Michael Valencio Erasmo Bagas Ganendra · 23083010042</a:t>
            </a:r>
            <a:endParaRPr lang="en-US" sz="1500" dirty="0"/>
          </a:p>
          <a:p>
            <a:pPr indent="0" marL="0">
              <a:spcAft>
                <a:spcPts val="400"/>
              </a:spcAft>
              <a:buNone/>
            </a:pPr>
            <a:r>
              <a:rPr lang="en-US" sz="1500" dirty="0">
                <a:solidFill>
                  <a:schemeClr val="bg1"/>
                </a:solidFill>
              </a:rPr>
              <a:t>Rijal Apuila Khufi · 23083010033</a:t>
            </a:r>
            <a:endParaRPr lang="en-US" sz="1500" dirty="0"/>
          </a:p>
        </p:txBody>
      </p:sp>
      <p:sp>
        <p:nvSpPr>
          <p:cNvPr id="7" name="Text 5"/>
          <p:cNvSpPr txBox="1"/>
          <p:nvPr/>
        </p:nvSpPr>
        <p:spPr>
          <a:xfrm>
            <a:off x="548640" y="5989320"/>
            <a:ext cx="10058400" cy="365760"/>
          </a:xfrm>
          <a:prstGeom prst="rect">
            <a:avLst/>
          </a:prstGeom>
          <a:noFill/>
          <a:ln/>
        </p:spPr>
        <p:txBody>
          <a:bodyPr wrap="square" lIns="0" tIns="0" rIns="0" bIns="0" rtlCol="0" anchor="ctr"/>
          <a:lstStyle/>
          <a:p>
            <a:pPr indent="0" marL="0">
              <a:buNone/>
            </a:pPr>
            <a:r>
              <a:rPr lang="en-US" sz="1200" dirty="0">
                <a:solidFill>
                  <a:srgbClr val="9FB8B3"/>
                </a:solidFill>
              </a:rPr>
              <a:t>Tugas ETS Machine Learning II · Program Studi Sains Data · UPN "Veteran" Jawa Timur · Oktober 2026</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Tiga skripsi, satu masalah yang sama</a:t>
            </a:r>
            <a:endParaRPr lang="en-US" sz="3200" dirty="0"/>
          </a:p>
        </p:txBody>
      </p:sp>
      <p:sp>
        <p:nvSpPr>
          <p:cNvPr id="3" name="Shape 1"/>
          <p:cNvSpPr/>
          <p:nvPr/>
        </p:nvSpPr>
        <p:spPr>
          <a:xfrm>
            <a:off x="548640" y="1325880"/>
            <a:ext cx="3520440" cy="365760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82296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ERLANGGA</a:t>
            </a:r>
            <a:endParaRPr lang="en-US" sz="1200" dirty="0"/>
          </a:p>
        </p:txBody>
      </p:sp>
      <p:sp>
        <p:nvSpPr>
          <p:cNvPr id="5" name="Text 3"/>
          <p:cNvSpPr txBox="1"/>
          <p:nvPr/>
        </p:nvSpPr>
        <p:spPr>
          <a:xfrm>
            <a:off x="822960" y="1874520"/>
            <a:ext cx="2971800" cy="457200"/>
          </a:xfrm>
          <a:prstGeom prst="rect">
            <a:avLst/>
          </a:prstGeom>
          <a:noFill/>
          <a:ln/>
        </p:spPr>
        <p:txBody>
          <a:bodyPr wrap="square" lIns="0" tIns="0" rIns="0" bIns="0" rtlCol="0" anchor="ctr"/>
          <a:lstStyle/>
          <a:p>
            <a:pPr indent="0" marL="0">
              <a:buNone/>
            </a:pPr>
            <a:r>
              <a:rPr lang="en-US" sz="2100" b="1" dirty="0">
                <a:solidFill>
                  <a:schemeClr val="tx2"/>
                </a:solidFill>
                <a:latin typeface="Cambria" pitchFamily="34" charset="0"/>
                <a:ea typeface="Cambria" pitchFamily="34" charset="-122"/>
                <a:cs typeface="Cambria" pitchFamily="34" charset="-120"/>
              </a:rPr>
              <a:t>Kesegaran makanan</a:t>
            </a:r>
            <a:endParaRPr lang="en-US" sz="2100" dirty="0"/>
          </a:p>
        </p:txBody>
      </p:sp>
      <p:sp>
        <p:nvSpPr>
          <p:cNvPr id="6" name="Text 4"/>
          <p:cNvSpPr txBox="1"/>
          <p:nvPr/>
        </p:nvSpPr>
        <p:spPr>
          <a:xfrm>
            <a:off x="822960" y="2514600"/>
            <a:ext cx="2971800" cy="228600"/>
          </a:xfrm>
          <a:prstGeom prst="rect">
            <a:avLst/>
          </a:prstGeom>
          <a:noFill/>
          <a:ln/>
        </p:spPr>
        <p:txBody>
          <a:bodyPr wrap="square" lIns="0" tIns="0" rIns="0" bIns="0" rtlCol="0" anchor="ctr"/>
          <a:lstStyle/>
          <a:p>
            <a:pPr indent="0" marL="0">
              <a:buNone/>
            </a:pPr>
            <a:r>
              <a:rPr lang="en-US" sz="1100" dirty="0">
                <a:solidFill>
                  <a:srgbClr val="56676A"/>
                </a:solidFill>
              </a:rPr>
              <a:t>Input</a:t>
            </a:r>
            <a:endParaRPr lang="en-US" sz="1100" dirty="0"/>
          </a:p>
        </p:txBody>
      </p:sp>
      <p:sp>
        <p:nvSpPr>
          <p:cNvPr id="7" name="Text 5"/>
          <p:cNvSpPr txBox="1"/>
          <p:nvPr/>
        </p:nvSpPr>
        <p:spPr>
          <a:xfrm>
            <a:off x="822960" y="2743200"/>
            <a:ext cx="2971800" cy="502920"/>
          </a:xfrm>
          <a:prstGeom prst="rect">
            <a:avLst/>
          </a:prstGeom>
          <a:noFill/>
          <a:ln/>
        </p:spPr>
        <p:txBody>
          <a:bodyPr wrap="square" lIns="0" tIns="0" rIns="0" bIns="0" rtlCol="0" anchor="ctr"/>
          <a:lstStyle/>
          <a:p>
            <a:pPr indent="0" marL="0">
              <a:buNone/>
            </a:pPr>
            <a:r>
              <a:rPr lang="en-US" sz="1400" dirty="0">
                <a:solidFill>
                  <a:schemeClr val="tx1"/>
                </a:solidFill>
              </a:rPr>
              <a:t>MQ-135, pH, DHT22 pada Raspberry Pi</a:t>
            </a:r>
            <a:endParaRPr lang="en-US" sz="1400" dirty="0"/>
          </a:p>
        </p:txBody>
      </p:sp>
      <p:sp>
        <p:nvSpPr>
          <p:cNvPr id="8" name="Text 6"/>
          <p:cNvSpPr txBox="1"/>
          <p:nvPr/>
        </p:nvSpPr>
        <p:spPr>
          <a:xfrm>
            <a:off x="822960" y="3291840"/>
            <a:ext cx="2971800" cy="228600"/>
          </a:xfrm>
          <a:prstGeom prst="rect">
            <a:avLst/>
          </a:prstGeom>
          <a:noFill/>
          <a:ln/>
        </p:spPr>
        <p:txBody>
          <a:bodyPr wrap="square" lIns="0" tIns="0" rIns="0" bIns="0" rtlCol="0" anchor="ctr"/>
          <a:lstStyle/>
          <a:p>
            <a:pPr indent="0" marL="0">
              <a:buNone/>
            </a:pPr>
            <a:r>
              <a:rPr lang="en-US" sz="1100" dirty="0">
                <a:solidFill>
                  <a:srgbClr val="56676A"/>
                </a:solidFill>
              </a:rPr>
              <a:t>Label</a:t>
            </a:r>
            <a:endParaRPr lang="en-US" sz="1100" dirty="0"/>
          </a:p>
        </p:txBody>
      </p:sp>
      <p:sp>
        <p:nvSpPr>
          <p:cNvPr id="9" name="Text 7"/>
          <p:cNvSpPr txBox="1"/>
          <p:nvPr/>
        </p:nvSpPr>
        <p:spPr>
          <a:xfrm>
            <a:off x="822960" y="3520440"/>
            <a:ext cx="2971800" cy="502920"/>
          </a:xfrm>
          <a:prstGeom prst="rect">
            <a:avLst/>
          </a:prstGeom>
          <a:noFill/>
          <a:ln/>
        </p:spPr>
        <p:txBody>
          <a:bodyPr wrap="square" lIns="0" tIns="0" rIns="0" bIns="0" rtlCol="0" anchor="ctr"/>
          <a:lstStyle/>
          <a:p>
            <a:pPr indent="0" marL="0">
              <a:buNone/>
            </a:pPr>
            <a:r>
              <a:rPr lang="en-US" sz="1400" b="1" dirty="0">
                <a:solidFill>
                  <a:schemeClr val="accent4"/>
                </a:solidFill>
              </a:rPr>
              <a:t>Panel sensori 3 penilai, pengamatan sampai 48 jam</a:t>
            </a:r>
            <a:endParaRPr lang="en-US" sz="1400" dirty="0"/>
          </a:p>
        </p:txBody>
      </p:sp>
      <p:sp>
        <p:nvSpPr>
          <p:cNvPr id="10" name="Text 8"/>
          <p:cNvSpPr txBox="1"/>
          <p:nvPr/>
        </p:nvSpPr>
        <p:spPr>
          <a:xfrm>
            <a:off x="822960" y="4069080"/>
            <a:ext cx="2971800" cy="228600"/>
          </a:xfrm>
          <a:prstGeom prst="rect">
            <a:avLst/>
          </a:prstGeom>
          <a:noFill/>
          <a:ln/>
        </p:spPr>
        <p:txBody>
          <a:bodyPr wrap="square" lIns="0" tIns="0" rIns="0" bIns="0" rtlCol="0" anchor="ctr"/>
          <a:lstStyle/>
          <a:p>
            <a:pPr indent="0" marL="0">
              <a:buNone/>
            </a:pPr>
            <a:r>
              <a:rPr lang="en-US" sz="1100" dirty="0">
                <a:solidFill>
                  <a:srgbClr val="56676A"/>
                </a:solidFill>
              </a:rPr>
              <a:t>Model inti</a:t>
            </a:r>
            <a:endParaRPr lang="en-US" sz="1100" dirty="0"/>
          </a:p>
        </p:txBody>
      </p:sp>
      <p:sp>
        <p:nvSpPr>
          <p:cNvPr id="11" name="Text 9"/>
          <p:cNvSpPr txBox="1"/>
          <p:nvPr/>
        </p:nvSpPr>
        <p:spPr>
          <a:xfrm>
            <a:off x="822960" y="4297680"/>
            <a:ext cx="2971800" cy="502920"/>
          </a:xfrm>
          <a:prstGeom prst="rect">
            <a:avLst/>
          </a:prstGeom>
          <a:noFill/>
          <a:ln/>
        </p:spPr>
        <p:txBody>
          <a:bodyPr wrap="square" lIns="0" tIns="0" rIns="0" bIns="0" rtlCol="0" anchor="ctr"/>
          <a:lstStyle/>
          <a:p>
            <a:pPr indent="0" marL="0">
              <a:buNone/>
            </a:pPr>
            <a:r>
              <a:rPr lang="en-US" sz="1400" dirty="0">
                <a:solidFill>
                  <a:schemeClr val="tx1"/>
                </a:solidFill>
              </a:rPr>
              <a:t>LR · RF · SVM · XGBoost</a:t>
            </a:r>
            <a:endParaRPr lang="en-US" sz="1400" dirty="0"/>
          </a:p>
        </p:txBody>
      </p:sp>
      <p:sp>
        <p:nvSpPr>
          <p:cNvPr id="12" name="Shape 10"/>
          <p:cNvSpPr/>
          <p:nvPr/>
        </p:nvSpPr>
        <p:spPr>
          <a:xfrm>
            <a:off x="4343400" y="1325880"/>
            <a:ext cx="3520440" cy="3657600"/>
          </a:xfrm>
          <a:prstGeom prst="roundRect">
            <a:avLst>
              <a:gd name="adj" fmla="val 3117"/>
            </a:avLst>
          </a:prstGeom>
          <a:solidFill>
            <a:schemeClr val="bg2"/>
          </a:solidFill>
          <a:ln w="12700">
            <a:solidFill>
              <a:schemeClr val="bg2"/>
            </a:solidFill>
            <a:prstDash val="solid"/>
          </a:ln>
        </p:spPr>
      </p:sp>
      <p:sp>
        <p:nvSpPr>
          <p:cNvPr id="13" name="Text 11"/>
          <p:cNvSpPr txBox="1"/>
          <p:nvPr/>
        </p:nvSpPr>
        <p:spPr>
          <a:xfrm>
            <a:off x="461772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MICHAEL</a:t>
            </a:r>
            <a:endParaRPr lang="en-US" sz="1200" dirty="0"/>
          </a:p>
        </p:txBody>
      </p:sp>
      <p:sp>
        <p:nvSpPr>
          <p:cNvPr id="14" name="Text 12"/>
          <p:cNvSpPr txBox="1"/>
          <p:nvPr/>
        </p:nvSpPr>
        <p:spPr>
          <a:xfrm>
            <a:off x="4617720" y="1874520"/>
            <a:ext cx="2971800" cy="457200"/>
          </a:xfrm>
          <a:prstGeom prst="rect">
            <a:avLst/>
          </a:prstGeom>
          <a:noFill/>
          <a:ln/>
        </p:spPr>
        <p:txBody>
          <a:bodyPr wrap="square" lIns="0" tIns="0" rIns="0" bIns="0" rtlCol="0" anchor="ctr"/>
          <a:lstStyle/>
          <a:p>
            <a:pPr indent="0" marL="0">
              <a:buNone/>
            </a:pPr>
            <a:r>
              <a:rPr lang="en-US" sz="2100" b="1" dirty="0">
                <a:solidFill>
                  <a:schemeClr val="tx2"/>
                </a:solidFill>
                <a:latin typeface="Cambria" pitchFamily="34" charset="0"/>
                <a:ea typeface="Cambria" pitchFamily="34" charset="-122"/>
                <a:cs typeface="Cambria" pitchFamily="34" charset="-120"/>
              </a:rPr>
              <a:t>Kelarutan air obat</a:t>
            </a:r>
            <a:endParaRPr lang="en-US" sz="2100" dirty="0"/>
          </a:p>
        </p:txBody>
      </p:sp>
      <p:sp>
        <p:nvSpPr>
          <p:cNvPr id="15" name="Text 13"/>
          <p:cNvSpPr txBox="1"/>
          <p:nvPr/>
        </p:nvSpPr>
        <p:spPr>
          <a:xfrm>
            <a:off x="4617720" y="2514600"/>
            <a:ext cx="2971800" cy="228600"/>
          </a:xfrm>
          <a:prstGeom prst="rect">
            <a:avLst/>
          </a:prstGeom>
          <a:noFill/>
          <a:ln/>
        </p:spPr>
        <p:txBody>
          <a:bodyPr wrap="square" lIns="0" tIns="0" rIns="0" bIns="0" rtlCol="0" anchor="ctr"/>
          <a:lstStyle/>
          <a:p>
            <a:pPr indent="0" marL="0">
              <a:buNone/>
            </a:pPr>
            <a:r>
              <a:rPr lang="en-US" sz="1100" dirty="0">
                <a:solidFill>
                  <a:srgbClr val="56676A"/>
                </a:solidFill>
              </a:rPr>
              <a:t>Input</a:t>
            </a:r>
            <a:endParaRPr lang="en-US" sz="1100" dirty="0"/>
          </a:p>
        </p:txBody>
      </p:sp>
      <p:sp>
        <p:nvSpPr>
          <p:cNvPr id="16" name="Text 14"/>
          <p:cNvSpPr txBox="1"/>
          <p:nvPr/>
        </p:nvSpPr>
        <p:spPr>
          <a:xfrm>
            <a:off x="4617720" y="2743200"/>
            <a:ext cx="2971800" cy="502920"/>
          </a:xfrm>
          <a:prstGeom prst="rect">
            <a:avLst/>
          </a:prstGeom>
          <a:noFill/>
          <a:ln/>
        </p:spPr>
        <p:txBody>
          <a:bodyPr wrap="square" lIns="0" tIns="0" rIns="0" bIns="0" rtlCol="0" anchor="ctr"/>
          <a:lstStyle/>
          <a:p>
            <a:pPr indent="0" marL="0">
              <a:buNone/>
            </a:pPr>
            <a:r>
              <a:rPr lang="en-US" sz="1400" dirty="0">
                <a:solidFill>
                  <a:schemeClr val="tx1"/>
                </a:solidFill>
              </a:rPr>
              <a:t>Deskriptor molekul 2D dari SMILES</a:t>
            </a:r>
            <a:endParaRPr lang="en-US" sz="1400" dirty="0"/>
          </a:p>
        </p:txBody>
      </p:sp>
      <p:sp>
        <p:nvSpPr>
          <p:cNvPr id="17" name="Text 15"/>
          <p:cNvSpPr txBox="1"/>
          <p:nvPr/>
        </p:nvSpPr>
        <p:spPr>
          <a:xfrm>
            <a:off x="4617720" y="3291840"/>
            <a:ext cx="2971800" cy="228600"/>
          </a:xfrm>
          <a:prstGeom prst="rect">
            <a:avLst/>
          </a:prstGeom>
          <a:noFill/>
          <a:ln/>
        </p:spPr>
        <p:txBody>
          <a:bodyPr wrap="square" lIns="0" tIns="0" rIns="0" bIns="0" rtlCol="0" anchor="ctr"/>
          <a:lstStyle/>
          <a:p>
            <a:pPr indent="0" marL="0">
              <a:buNone/>
            </a:pPr>
            <a:r>
              <a:rPr lang="en-US" sz="1100" dirty="0">
                <a:solidFill>
                  <a:srgbClr val="56676A"/>
                </a:solidFill>
              </a:rPr>
              <a:t>Label</a:t>
            </a:r>
            <a:endParaRPr lang="en-US" sz="1100" dirty="0"/>
          </a:p>
        </p:txBody>
      </p:sp>
      <p:sp>
        <p:nvSpPr>
          <p:cNvPr id="18" name="Text 16"/>
          <p:cNvSpPr txBox="1"/>
          <p:nvPr/>
        </p:nvSpPr>
        <p:spPr>
          <a:xfrm>
            <a:off x="4617720" y="3520440"/>
            <a:ext cx="2971800" cy="502920"/>
          </a:xfrm>
          <a:prstGeom prst="rect">
            <a:avLst/>
          </a:prstGeom>
          <a:noFill/>
          <a:ln/>
        </p:spPr>
        <p:txBody>
          <a:bodyPr wrap="square" lIns="0" tIns="0" rIns="0" bIns="0" rtlCol="0" anchor="ctr"/>
          <a:lstStyle/>
          <a:p>
            <a:pPr indent="0" marL="0">
              <a:buNone/>
            </a:pPr>
            <a:r>
              <a:rPr lang="en-US" sz="1400" b="1" dirty="0">
                <a:solidFill>
                  <a:schemeClr val="accent4"/>
                </a:solidFill>
              </a:rPr>
              <a:t>Pengukuran laboratorium (LogS)</a:t>
            </a:r>
            <a:endParaRPr lang="en-US" sz="1400" dirty="0"/>
          </a:p>
        </p:txBody>
      </p:sp>
      <p:sp>
        <p:nvSpPr>
          <p:cNvPr id="19" name="Text 17"/>
          <p:cNvSpPr txBox="1"/>
          <p:nvPr/>
        </p:nvSpPr>
        <p:spPr>
          <a:xfrm>
            <a:off x="4617720" y="4069080"/>
            <a:ext cx="2971800" cy="228600"/>
          </a:xfrm>
          <a:prstGeom prst="rect">
            <a:avLst/>
          </a:prstGeom>
          <a:noFill/>
          <a:ln/>
        </p:spPr>
        <p:txBody>
          <a:bodyPr wrap="square" lIns="0" tIns="0" rIns="0" bIns="0" rtlCol="0" anchor="ctr"/>
          <a:lstStyle/>
          <a:p>
            <a:pPr indent="0" marL="0">
              <a:buNone/>
            </a:pPr>
            <a:r>
              <a:rPr lang="en-US" sz="1100" dirty="0">
                <a:solidFill>
                  <a:srgbClr val="56676A"/>
                </a:solidFill>
              </a:rPr>
              <a:t>Model inti</a:t>
            </a:r>
            <a:endParaRPr lang="en-US" sz="1100" dirty="0"/>
          </a:p>
        </p:txBody>
      </p:sp>
      <p:sp>
        <p:nvSpPr>
          <p:cNvPr id="20" name="Text 18"/>
          <p:cNvSpPr txBox="1"/>
          <p:nvPr/>
        </p:nvSpPr>
        <p:spPr>
          <a:xfrm>
            <a:off x="4617720" y="4297680"/>
            <a:ext cx="2971800" cy="502920"/>
          </a:xfrm>
          <a:prstGeom prst="rect">
            <a:avLst/>
          </a:prstGeom>
          <a:noFill/>
          <a:ln/>
        </p:spPr>
        <p:txBody>
          <a:bodyPr wrap="square" lIns="0" tIns="0" rIns="0" bIns="0" rtlCol="0" anchor="ctr"/>
          <a:lstStyle/>
          <a:p>
            <a:pPr indent="0" marL="0">
              <a:buNone/>
            </a:pPr>
            <a:r>
              <a:rPr lang="en-US" sz="1400" dirty="0">
                <a:solidFill>
                  <a:schemeClr val="tx1"/>
                </a:solidFill>
              </a:rPr>
              <a:t>Gradient boosting + Optuna + SHAP</a:t>
            </a:r>
            <a:endParaRPr lang="en-US" sz="1400" dirty="0"/>
          </a:p>
        </p:txBody>
      </p:sp>
      <p:sp>
        <p:nvSpPr>
          <p:cNvPr id="21" name="Shape 19"/>
          <p:cNvSpPr/>
          <p:nvPr/>
        </p:nvSpPr>
        <p:spPr>
          <a:xfrm>
            <a:off x="8138160" y="1325880"/>
            <a:ext cx="3520440" cy="3657600"/>
          </a:xfrm>
          <a:prstGeom prst="roundRect">
            <a:avLst>
              <a:gd name="adj" fmla="val 3117"/>
            </a:avLst>
          </a:prstGeom>
          <a:solidFill>
            <a:schemeClr val="bg2"/>
          </a:solidFill>
          <a:ln w="12700">
            <a:solidFill>
              <a:schemeClr val="bg2"/>
            </a:solidFill>
            <a:prstDash val="solid"/>
          </a:ln>
        </p:spPr>
      </p:sp>
      <p:sp>
        <p:nvSpPr>
          <p:cNvPr id="22" name="Text 20"/>
          <p:cNvSpPr txBox="1"/>
          <p:nvPr/>
        </p:nvSpPr>
        <p:spPr>
          <a:xfrm>
            <a:off x="841248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RIJAL</a:t>
            </a:r>
            <a:endParaRPr lang="en-US" sz="1200" dirty="0"/>
          </a:p>
        </p:txBody>
      </p:sp>
      <p:sp>
        <p:nvSpPr>
          <p:cNvPr id="23" name="Text 21"/>
          <p:cNvSpPr txBox="1"/>
          <p:nvPr/>
        </p:nvSpPr>
        <p:spPr>
          <a:xfrm>
            <a:off x="8412480" y="1874520"/>
            <a:ext cx="2971800" cy="457200"/>
          </a:xfrm>
          <a:prstGeom prst="rect">
            <a:avLst/>
          </a:prstGeom>
          <a:noFill/>
          <a:ln/>
        </p:spPr>
        <p:txBody>
          <a:bodyPr wrap="square" lIns="0" tIns="0" rIns="0" bIns="0" rtlCol="0" anchor="ctr"/>
          <a:lstStyle/>
          <a:p>
            <a:pPr indent="0" marL="0">
              <a:buNone/>
            </a:pPr>
            <a:r>
              <a:rPr lang="en-US" sz="2100" b="1" dirty="0">
                <a:solidFill>
                  <a:schemeClr val="tx2"/>
                </a:solidFill>
                <a:latin typeface="Cambria" pitchFamily="34" charset="0"/>
                <a:ea typeface="Cambria" pitchFamily="34" charset="-122"/>
                <a:cs typeface="Cambria" pitchFamily="34" charset="-120"/>
              </a:rPr>
              <a:t>Mutu kuning telur puyuh</a:t>
            </a:r>
            <a:endParaRPr lang="en-US" sz="2100" dirty="0"/>
          </a:p>
        </p:txBody>
      </p:sp>
      <p:sp>
        <p:nvSpPr>
          <p:cNvPr id="24" name="Text 22"/>
          <p:cNvSpPr txBox="1"/>
          <p:nvPr/>
        </p:nvSpPr>
        <p:spPr>
          <a:xfrm>
            <a:off x="8412480" y="2514600"/>
            <a:ext cx="2971800" cy="228600"/>
          </a:xfrm>
          <a:prstGeom prst="rect">
            <a:avLst/>
          </a:prstGeom>
          <a:noFill/>
          <a:ln/>
        </p:spPr>
        <p:txBody>
          <a:bodyPr wrap="square" lIns="0" tIns="0" rIns="0" bIns="0" rtlCol="0" anchor="ctr"/>
          <a:lstStyle/>
          <a:p>
            <a:pPr indent="0" marL="0">
              <a:buNone/>
            </a:pPr>
            <a:r>
              <a:rPr lang="en-US" sz="1100" dirty="0">
                <a:solidFill>
                  <a:srgbClr val="56676A"/>
                </a:solidFill>
              </a:rPr>
              <a:t>Input</a:t>
            </a:r>
            <a:endParaRPr lang="en-US" sz="1100" dirty="0"/>
          </a:p>
        </p:txBody>
      </p:sp>
      <p:sp>
        <p:nvSpPr>
          <p:cNvPr id="25" name="Text 23"/>
          <p:cNvSpPr txBox="1"/>
          <p:nvPr/>
        </p:nvSpPr>
        <p:spPr>
          <a:xfrm>
            <a:off x="8412480" y="2743200"/>
            <a:ext cx="2971800" cy="502920"/>
          </a:xfrm>
          <a:prstGeom prst="rect">
            <a:avLst/>
          </a:prstGeom>
          <a:noFill/>
          <a:ln/>
        </p:spPr>
        <p:txBody>
          <a:bodyPr wrap="square" lIns="0" tIns="0" rIns="0" bIns="0" rtlCol="0" anchor="ctr"/>
          <a:lstStyle/>
          <a:p>
            <a:pPr indent="0" marL="0">
              <a:buNone/>
            </a:pPr>
            <a:r>
              <a:rPr lang="en-US" sz="1400" dirty="0">
                <a:solidFill>
                  <a:schemeClr val="tx1"/>
                </a:solidFill>
              </a:rPr>
              <a:t>Citra RGB kuning telur</a:t>
            </a:r>
            <a:endParaRPr lang="en-US" sz="1400" dirty="0"/>
          </a:p>
        </p:txBody>
      </p:sp>
      <p:sp>
        <p:nvSpPr>
          <p:cNvPr id="26" name="Text 24"/>
          <p:cNvSpPr txBox="1"/>
          <p:nvPr/>
        </p:nvSpPr>
        <p:spPr>
          <a:xfrm>
            <a:off x="8412480" y="3291840"/>
            <a:ext cx="2971800" cy="228600"/>
          </a:xfrm>
          <a:prstGeom prst="rect">
            <a:avLst/>
          </a:prstGeom>
          <a:noFill/>
          <a:ln/>
        </p:spPr>
        <p:txBody>
          <a:bodyPr wrap="square" lIns="0" tIns="0" rIns="0" bIns="0" rtlCol="0" anchor="ctr"/>
          <a:lstStyle/>
          <a:p>
            <a:pPr indent="0" marL="0">
              <a:buNone/>
            </a:pPr>
            <a:r>
              <a:rPr lang="en-US" sz="1100" dirty="0">
                <a:solidFill>
                  <a:srgbClr val="56676A"/>
                </a:solidFill>
              </a:rPr>
              <a:t>Label</a:t>
            </a:r>
            <a:endParaRPr lang="en-US" sz="1100" dirty="0"/>
          </a:p>
        </p:txBody>
      </p:sp>
      <p:sp>
        <p:nvSpPr>
          <p:cNvPr id="27" name="Text 25"/>
          <p:cNvSpPr txBox="1"/>
          <p:nvPr/>
        </p:nvSpPr>
        <p:spPr>
          <a:xfrm>
            <a:off x="8412480" y="3520440"/>
            <a:ext cx="2971800" cy="502920"/>
          </a:xfrm>
          <a:prstGeom prst="rect">
            <a:avLst/>
          </a:prstGeom>
          <a:noFill/>
          <a:ln/>
        </p:spPr>
        <p:txBody>
          <a:bodyPr wrap="square" lIns="0" tIns="0" rIns="0" bIns="0" rtlCol="0" anchor="ctr"/>
          <a:lstStyle/>
          <a:p>
            <a:pPr indent="0" marL="0">
              <a:buNone/>
            </a:pPr>
            <a:r>
              <a:rPr lang="en-US" sz="1400" b="1" dirty="0">
                <a:solidFill>
                  <a:schemeClr val="accent4"/>
                </a:solidFill>
              </a:rPr>
              <a:t>Yolk Index: telur harus dipecah (destruktif)</a:t>
            </a:r>
            <a:endParaRPr lang="en-US" sz="1400" dirty="0"/>
          </a:p>
        </p:txBody>
      </p:sp>
      <p:sp>
        <p:nvSpPr>
          <p:cNvPr id="28" name="Text 26"/>
          <p:cNvSpPr txBox="1"/>
          <p:nvPr/>
        </p:nvSpPr>
        <p:spPr>
          <a:xfrm>
            <a:off x="8412480" y="4069080"/>
            <a:ext cx="2971800" cy="228600"/>
          </a:xfrm>
          <a:prstGeom prst="rect">
            <a:avLst/>
          </a:prstGeom>
          <a:noFill/>
          <a:ln/>
        </p:spPr>
        <p:txBody>
          <a:bodyPr wrap="square" lIns="0" tIns="0" rIns="0" bIns="0" rtlCol="0" anchor="ctr"/>
          <a:lstStyle/>
          <a:p>
            <a:pPr indent="0" marL="0">
              <a:buNone/>
            </a:pPr>
            <a:r>
              <a:rPr lang="en-US" sz="1100" dirty="0">
                <a:solidFill>
                  <a:srgbClr val="56676A"/>
                </a:solidFill>
              </a:rPr>
              <a:t>Model inti</a:t>
            </a:r>
            <a:endParaRPr lang="en-US" sz="1100" dirty="0"/>
          </a:p>
        </p:txBody>
      </p:sp>
      <p:sp>
        <p:nvSpPr>
          <p:cNvPr id="29" name="Text 27"/>
          <p:cNvSpPr txBox="1"/>
          <p:nvPr/>
        </p:nvSpPr>
        <p:spPr>
          <a:xfrm>
            <a:off x="8412480" y="4297680"/>
            <a:ext cx="2971800" cy="502920"/>
          </a:xfrm>
          <a:prstGeom prst="rect">
            <a:avLst/>
          </a:prstGeom>
          <a:noFill/>
          <a:ln/>
        </p:spPr>
        <p:txBody>
          <a:bodyPr wrap="square" lIns="0" tIns="0" rIns="0" bIns="0" rtlCol="0" anchor="ctr"/>
          <a:lstStyle/>
          <a:p>
            <a:pPr indent="0" marL="0">
              <a:buNone/>
            </a:pPr>
            <a:r>
              <a:rPr lang="en-US" sz="1400" dirty="0">
                <a:solidFill>
                  <a:schemeClr val="tx1"/>
                </a:solidFill>
              </a:rPr>
              <a:t>EfficientNet-B0 + XGBoost + BO</a:t>
            </a:r>
            <a:endParaRPr lang="en-US" sz="1400" dirty="0"/>
          </a:p>
        </p:txBody>
      </p:sp>
      <p:sp>
        <p:nvSpPr>
          <p:cNvPr id="30" name="Shape 28"/>
          <p:cNvSpPr/>
          <p:nvPr/>
        </p:nvSpPr>
        <p:spPr>
          <a:xfrm>
            <a:off x="548640" y="5212080"/>
            <a:ext cx="11094415" cy="868680"/>
          </a:xfrm>
          <a:prstGeom prst="roundRect">
            <a:avLst>
              <a:gd name="adj" fmla="val 12632"/>
            </a:avLst>
          </a:prstGeom>
          <a:solidFill>
            <a:schemeClr val="tx2"/>
          </a:solidFill>
          <a:ln w="12700">
            <a:solidFill>
              <a:schemeClr val="tx2"/>
            </a:solidFill>
            <a:prstDash val="solid"/>
          </a:ln>
        </p:spPr>
      </p:sp>
      <p:sp>
        <p:nvSpPr>
          <p:cNvPr id="31" name="Text 29"/>
          <p:cNvSpPr txBox="1"/>
          <p:nvPr/>
        </p:nvSpPr>
        <p:spPr>
          <a:xfrm>
            <a:off x="868680" y="5212080"/>
            <a:ext cx="10454335" cy="868680"/>
          </a:xfrm>
          <a:prstGeom prst="rect">
            <a:avLst/>
          </a:prstGeom>
          <a:noFill/>
          <a:ln/>
        </p:spPr>
        <p:txBody>
          <a:bodyPr wrap="square" lIns="0" tIns="0" rIns="0" bIns="0" rtlCol="0" anchor="ctr"/>
          <a:lstStyle/>
          <a:p>
            <a:pPr indent="0" marL="0">
              <a:buNone/>
            </a:pPr>
            <a:r>
              <a:rPr lang="en-US" sz="1600" b="1" dirty="0">
                <a:solidFill>
                  <a:schemeClr val="accent2"/>
                </a:solidFill>
              </a:rPr>
              <a:t>Irisan:  </a:t>
            </a:r>
            <a:pPr indent="0" marL="0">
              <a:buNone/>
            </a:pPr>
            <a:r>
              <a:rPr lang="en-US" sz="1600" dirty="0">
                <a:solidFill>
                  <a:schemeClr val="bg1"/>
                </a:solidFill>
              </a:rPr>
              <a:t>label mahal  ·  model inti berbasis boosting  ·  validasi rawan kebocoran (data berulang per batch, molekul mirip per scaffold)</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Empat pertanyaan, empat aspek ML II</a:t>
            </a:r>
            <a:endParaRPr lang="en-US" sz="3200" dirty="0"/>
          </a:p>
        </p:txBody>
      </p:sp>
      <p:sp>
        <p:nvSpPr>
          <p:cNvPr id="3" name="Shape 1"/>
          <p:cNvSpPr/>
          <p:nvPr/>
        </p:nvSpPr>
        <p:spPr>
          <a:xfrm>
            <a:off x="548640" y="14630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34440" y="1371600"/>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Wrangling &amp; augmentasi</a:t>
            </a:r>
            <a:endParaRPr lang="en-US" sz="1800" dirty="0"/>
          </a:p>
        </p:txBody>
      </p:sp>
      <p:sp>
        <p:nvSpPr>
          <p:cNvPr id="6" name="Text 4"/>
          <p:cNvSpPr txBox="1"/>
          <p:nvPr/>
        </p:nvSpPr>
        <p:spPr>
          <a:xfrm>
            <a:off x="4434840" y="1371600"/>
            <a:ext cx="4206240" cy="640080"/>
          </a:xfrm>
          <a:prstGeom prst="rect">
            <a:avLst/>
          </a:prstGeom>
          <a:noFill/>
          <a:ln/>
        </p:spPr>
        <p:txBody>
          <a:bodyPr wrap="square" lIns="0" tIns="0" rIns="0" bIns="0" rtlCol="0" anchor="ctr"/>
          <a:lstStyle/>
          <a:p>
            <a:pPr indent="0" marL="0">
              <a:buNone/>
            </a:pPr>
            <a:r>
              <a:rPr lang="en-US" sz="1500" dirty="0">
                <a:solidFill>
                  <a:schemeClr val="tx1"/>
                </a:solidFill>
              </a:rPr>
              <a:t>Apakah augmentasi deret waktu sensor membantu model mengenali batch baru?</a:t>
            </a:r>
            <a:endParaRPr lang="en-US" sz="1500" dirty="0"/>
          </a:p>
        </p:txBody>
      </p:sp>
      <p:sp>
        <p:nvSpPr>
          <p:cNvPr id="7" name="Shape 5"/>
          <p:cNvSpPr/>
          <p:nvPr/>
        </p:nvSpPr>
        <p:spPr>
          <a:xfrm>
            <a:off x="548640" y="2578608"/>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5786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34440" y="2487168"/>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Imbalanced data</a:t>
            </a:r>
            <a:endParaRPr lang="en-US" sz="1800" dirty="0"/>
          </a:p>
        </p:txBody>
      </p:sp>
      <p:sp>
        <p:nvSpPr>
          <p:cNvPr id="10" name="Text 8"/>
          <p:cNvSpPr txBox="1"/>
          <p:nvPr/>
        </p:nvSpPr>
        <p:spPr>
          <a:xfrm>
            <a:off x="4434840" y="2487168"/>
            <a:ext cx="4206240" cy="640080"/>
          </a:xfrm>
          <a:prstGeom prst="rect">
            <a:avLst/>
          </a:prstGeom>
          <a:noFill/>
          <a:ln/>
        </p:spPr>
        <p:txBody>
          <a:bodyPr wrap="square" lIns="0" tIns="0" rIns="0" bIns="0" rtlCol="0" anchor="ctr"/>
          <a:lstStyle/>
          <a:p>
            <a:pPr indent="0" marL="0">
              <a:buNone/>
            </a:pPr>
            <a:r>
              <a:rPr lang="en-US" sz="1500" dirty="0">
                <a:solidFill>
                  <a:schemeClr val="tx1"/>
                </a:solidFill>
              </a:rPr>
              <a:t>Apakah class weight, SMOTE, atau undersampling memperbaiki kelas minoritas?</a:t>
            </a:r>
            <a:endParaRPr lang="en-US" sz="1500" dirty="0"/>
          </a:p>
        </p:txBody>
      </p:sp>
      <p:sp>
        <p:nvSpPr>
          <p:cNvPr id="11" name="Shape 9"/>
          <p:cNvSpPr/>
          <p:nvPr/>
        </p:nvSpPr>
        <p:spPr>
          <a:xfrm>
            <a:off x="548640" y="3694176"/>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694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34440" y="3602736"/>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Ensemble learning</a:t>
            </a:r>
            <a:endParaRPr lang="en-US" sz="1800" dirty="0"/>
          </a:p>
        </p:txBody>
      </p:sp>
      <p:sp>
        <p:nvSpPr>
          <p:cNvPr id="14" name="Text 12"/>
          <p:cNvSpPr txBox="1"/>
          <p:nvPr/>
        </p:nvSpPr>
        <p:spPr>
          <a:xfrm>
            <a:off x="4434840" y="3602736"/>
            <a:ext cx="4206240" cy="640080"/>
          </a:xfrm>
          <a:prstGeom prst="rect">
            <a:avLst/>
          </a:prstGeom>
          <a:noFill/>
          <a:ln/>
        </p:spPr>
        <p:txBody>
          <a:bodyPr wrap="square" lIns="0" tIns="0" rIns="0" bIns="0" rtlCol="0" anchor="ctr"/>
          <a:lstStyle/>
          <a:p>
            <a:pPr indent="0" marL="0">
              <a:buNone/>
            </a:pPr>
            <a:r>
              <a:rPr lang="en-US" sz="1500" dirty="0">
                <a:solidFill>
                  <a:schemeClr val="tx1"/>
                </a:solidFill>
              </a:rPr>
              <a:t>Apakah bagging, boosting, dan stacking mengungguli model tunggal pada validasi yang jujur?</a:t>
            </a:r>
            <a:endParaRPr lang="en-US" sz="1500" dirty="0"/>
          </a:p>
        </p:txBody>
      </p:sp>
      <p:sp>
        <p:nvSpPr>
          <p:cNvPr id="15" name="Shape 13"/>
          <p:cNvSpPr/>
          <p:nvPr/>
        </p:nvSpPr>
        <p:spPr>
          <a:xfrm>
            <a:off x="548640" y="4809744"/>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4809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34440" y="4718304"/>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Reinforcement</a:t>
            </a:r>
            <a:endParaRPr lang="en-US" sz="1800" dirty="0"/>
          </a:p>
        </p:txBody>
      </p:sp>
      <p:sp>
        <p:nvSpPr>
          <p:cNvPr id="18" name="Text 16"/>
          <p:cNvSpPr txBox="1"/>
          <p:nvPr/>
        </p:nvSpPr>
        <p:spPr>
          <a:xfrm>
            <a:off x="4434840" y="4718304"/>
            <a:ext cx="4206240" cy="640080"/>
          </a:xfrm>
          <a:prstGeom prst="rect">
            <a:avLst/>
          </a:prstGeom>
          <a:noFill/>
          <a:ln/>
        </p:spPr>
        <p:txBody>
          <a:bodyPr wrap="square" lIns="0" tIns="0" rIns="0" bIns="0" rtlCol="0" anchor="ctr"/>
          <a:lstStyle/>
          <a:p>
            <a:pPr indent="0" marL="0">
              <a:buNone/>
            </a:pPr>
            <a:r>
              <a:rPr lang="en-US" sz="1500" dirty="0">
                <a:solidFill>
                  <a:schemeClr val="tx1"/>
                </a:solidFill>
              </a:rPr>
              <a:t>Dapatkah agen bandit memilih strategi kueri sehingga label yang dibutuhkan lebih sedikit?</a:t>
            </a:r>
            <a:endParaRPr lang="en-US" sz="1500" dirty="0"/>
          </a:p>
        </p:txBody>
      </p:sp>
      <p:sp>
        <p:nvSpPr>
          <p:cNvPr id="19" name="Shape 17"/>
          <p:cNvSpPr/>
          <p:nvPr/>
        </p:nvSpPr>
        <p:spPr>
          <a:xfrm>
            <a:off x="8915400" y="1371600"/>
            <a:ext cx="2724912" cy="3986784"/>
          </a:xfrm>
          <a:prstGeom prst="roundRect">
            <a:avLst>
              <a:gd name="adj" fmla="val 4027"/>
            </a:avLst>
          </a:prstGeom>
          <a:solidFill>
            <a:schemeClr val="tx2"/>
          </a:solidFill>
          <a:ln w="12700">
            <a:solidFill>
              <a:schemeClr val="tx2"/>
            </a:solidFill>
            <a:prstDash val="solid"/>
          </a:ln>
        </p:spPr>
      </p:sp>
      <p:sp>
        <p:nvSpPr>
          <p:cNvPr id="20" name="Text 18"/>
          <p:cNvSpPr txBox="1"/>
          <p:nvPr/>
        </p:nvSpPr>
        <p:spPr>
          <a:xfrm>
            <a:off x="8915400" y="1691640"/>
            <a:ext cx="2724912" cy="1188720"/>
          </a:xfrm>
          <a:prstGeom prst="rect">
            <a:avLst/>
          </a:prstGeom>
          <a:noFill/>
          <a:ln/>
        </p:spPr>
        <p:txBody>
          <a:bodyPr wrap="square" lIns="0" tIns="0" rIns="0" bIns="0" rtlCol="0" anchor="ctr"/>
          <a:lstStyle/>
          <a:p>
            <a:pPr algn="ctr" indent="0" marL="0">
              <a:buNone/>
            </a:pPr>
            <a:r>
              <a:rPr lang="en-US" sz="8000" b="1" dirty="0">
                <a:solidFill>
                  <a:schemeClr val="accent2"/>
                </a:solidFill>
                <a:latin typeface="Cambria" pitchFamily="34" charset="0"/>
                <a:ea typeface="Cambria" pitchFamily="34" charset="-122"/>
                <a:cs typeface="Cambria" pitchFamily="34" charset="-120"/>
              </a:rPr>
              <a:t>4</a:t>
            </a:r>
            <a:endParaRPr lang="en-US" sz="8000" dirty="0"/>
          </a:p>
        </p:txBody>
      </p:sp>
      <p:sp>
        <p:nvSpPr>
          <p:cNvPr id="21" name="Text 19"/>
          <p:cNvSpPr txBox="1"/>
          <p:nvPr/>
        </p:nvSpPr>
        <p:spPr>
          <a:xfrm>
            <a:off x="9098280" y="2926080"/>
            <a:ext cx="2359152" cy="365760"/>
          </a:xfrm>
          <a:prstGeom prst="rect">
            <a:avLst/>
          </a:prstGeom>
          <a:noFill/>
          <a:ln/>
        </p:spPr>
        <p:txBody>
          <a:bodyPr wrap="square" lIns="0" tIns="0" rIns="0" bIns="0" rtlCol="0" anchor="ctr"/>
          <a:lstStyle/>
          <a:p>
            <a:pPr algn="ctr" indent="0" marL="0">
              <a:buNone/>
            </a:pPr>
            <a:r>
              <a:rPr lang="en-US" sz="1500" dirty="0">
                <a:solidFill>
                  <a:schemeClr val="bg1"/>
                </a:solidFill>
              </a:rPr>
              <a:t>aspek ML II dikerjakan</a:t>
            </a:r>
            <a:endParaRPr lang="en-US" sz="1500" dirty="0"/>
          </a:p>
        </p:txBody>
      </p:sp>
      <p:sp>
        <p:nvSpPr>
          <p:cNvPr id="22" name="Text 20"/>
          <p:cNvSpPr txBox="1"/>
          <p:nvPr/>
        </p:nvSpPr>
        <p:spPr>
          <a:xfrm>
            <a:off x="9098280" y="3749040"/>
            <a:ext cx="2359152" cy="1097280"/>
          </a:xfrm>
          <a:prstGeom prst="rect">
            <a:avLst/>
          </a:prstGeom>
          <a:noFill/>
          <a:ln/>
        </p:spPr>
        <p:txBody>
          <a:bodyPr wrap="square" lIns="0" tIns="0" rIns="0" bIns="0" rtlCol="0" anchor="ctr"/>
          <a:lstStyle/>
          <a:p>
            <a:pPr algn="ctr" indent="0" marL="0">
              <a:buNone/>
            </a:pPr>
            <a:r>
              <a:rPr lang="en-US" sz="1400" dirty="0">
                <a:solidFill>
                  <a:srgbClr val="CADBD7"/>
                </a:solidFill>
              </a:rPr>
              <a:t>≥ 3 aspek → nilai minimum kelompok 75</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Satu pipeline untuk ketiga topik</a:t>
            </a:r>
            <a:endParaRPr lang="en-US" sz="3200" dirty="0"/>
          </a:p>
        </p:txBody>
      </p:sp>
      <p:sp>
        <p:nvSpPr>
          <p:cNvPr id="3" name="Shape 1"/>
          <p:cNvSpPr/>
          <p:nvPr/>
        </p:nvSpPr>
        <p:spPr>
          <a:xfrm>
            <a:off x="548640" y="1600200"/>
            <a:ext cx="1719072" cy="2514600"/>
          </a:xfrm>
          <a:prstGeom prst="roundRect">
            <a:avLst>
              <a:gd name="adj" fmla="val 6383"/>
            </a:avLst>
          </a:prstGeom>
          <a:solidFill>
            <a:schemeClr val="bg2"/>
          </a:solidFill>
          <a:ln w="12700">
            <a:solidFill>
              <a:schemeClr val="bg2"/>
            </a:solidFill>
            <a:prstDash val="solid"/>
          </a:ln>
        </p:spPr>
      </p:sp>
      <p:sp>
        <p:nvSpPr>
          <p:cNvPr id="4" name="Shape 2"/>
          <p:cNvSpPr/>
          <p:nvPr/>
        </p:nvSpPr>
        <p:spPr>
          <a:xfrm>
            <a:off x="731520" y="178308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73152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3152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Akuisisi</a:t>
            </a:r>
            <a:endParaRPr lang="en-US" sz="1600" dirty="0"/>
          </a:p>
        </p:txBody>
      </p:sp>
      <p:sp>
        <p:nvSpPr>
          <p:cNvPr id="7" name="Text 5"/>
          <p:cNvSpPr txBox="1"/>
          <p:nvPr/>
        </p:nvSpPr>
        <p:spPr>
          <a:xfrm>
            <a:off x="73152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Unduh dataset publik + cek SHA-256; jalur Raspberry Pi Erlangga</a:t>
            </a:r>
            <a:endParaRPr lang="en-US" sz="1250" dirty="0"/>
          </a:p>
        </p:txBody>
      </p:sp>
      <p:sp>
        <p:nvSpPr>
          <p:cNvPr id="8" name="Shape 6"/>
          <p:cNvSpPr/>
          <p:nvPr/>
        </p:nvSpPr>
        <p:spPr>
          <a:xfrm>
            <a:off x="2423160" y="1600200"/>
            <a:ext cx="1719072" cy="2514600"/>
          </a:xfrm>
          <a:prstGeom prst="roundRect">
            <a:avLst>
              <a:gd name="adj" fmla="val 6383"/>
            </a:avLst>
          </a:prstGeom>
          <a:solidFill>
            <a:schemeClr val="bg2"/>
          </a:solidFill>
          <a:ln w="12700">
            <a:solidFill>
              <a:schemeClr val="bg2"/>
            </a:solidFill>
            <a:prstDash val="solid"/>
          </a:ln>
        </p:spPr>
      </p:sp>
      <p:sp>
        <p:nvSpPr>
          <p:cNvPr id="9" name="Shape 7"/>
          <p:cNvSpPr/>
          <p:nvPr/>
        </p:nvSpPr>
        <p:spPr>
          <a:xfrm>
            <a:off x="2606040" y="1783080"/>
            <a:ext cx="411480" cy="411480"/>
          </a:xfrm>
          <a:prstGeom prst="ellipse">
            <a:avLst/>
          </a:prstGeom>
          <a:solidFill>
            <a:schemeClr val="accent1"/>
          </a:solidFill>
          <a:ln w="12700">
            <a:solidFill>
              <a:schemeClr val="accent1"/>
            </a:solidFill>
            <a:prstDash val="solid"/>
          </a:ln>
        </p:spPr>
      </p:sp>
      <p:sp>
        <p:nvSpPr>
          <p:cNvPr id="10" name="Text 8"/>
          <p:cNvSpPr txBox="1"/>
          <p:nvPr/>
        </p:nvSpPr>
        <p:spPr>
          <a:xfrm>
            <a:off x="260604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60604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Wrangling</a:t>
            </a:r>
            <a:endParaRPr lang="en-US" sz="1600" dirty="0"/>
          </a:p>
        </p:txBody>
      </p:sp>
      <p:sp>
        <p:nvSpPr>
          <p:cNvPr id="12" name="Text 10"/>
          <p:cNvSpPr txBox="1"/>
          <p:nvPr/>
        </p:nvSpPr>
        <p:spPr>
          <a:xfrm>
            <a:off x="260604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Fitur kausal sensor, scaffold Bemis–Murcko, 207 deskriptor RDKit</a:t>
            </a:r>
            <a:endParaRPr lang="en-US" sz="1250" dirty="0"/>
          </a:p>
        </p:txBody>
      </p:sp>
      <p:sp>
        <p:nvSpPr>
          <p:cNvPr id="13" name="Shape 11"/>
          <p:cNvSpPr/>
          <p:nvPr/>
        </p:nvSpPr>
        <p:spPr>
          <a:xfrm>
            <a:off x="4297680" y="1600200"/>
            <a:ext cx="1719072" cy="2514600"/>
          </a:xfrm>
          <a:prstGeom prst="roundRect">
            <a:avLst>
              <a:gd name="adj" fmla="val 6383"/>
            </a:avLst>
          </a:prstGeom>
          <a:solidFill>
            <a:schemeClr val="bg2"/>
          </a:solidFill>
          <a:ln w="12700">
            <a:solidFill>
              <a:schemeClr val="bg2"/>
            </a:solidFill>
            <a:prstDash val="solid"/>
          </a:ln>
        </p:spPr>
      </p:sp>
      <p:sp>
        <p:nvSpPr>
          <p:cNvPr id="14" name="Shape 12"/>
          <p:cNvSpPr/>
          <p:nvPr/>
        </p:nvSpPr>
        <p:spPr>
          <a:xfrm>
            <a:off x="4480560" y="1783080"/>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448056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448056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Validasi jujur</a:t>
            </a:r>
            <a:endParaRPr lang="en-US" sz="1600" dirty="0"/>
          </a:p>
        </p:txBody>
      </p:sp>
      <p:sp>
        <p:nvSpPr>
          <p:cNvPr id="17" name="Text 15"/>
          <p:cNvSpPr txBox="1"/>
          <p:nvPr/>
        </p:nvSpPr>
        <p:spPr>
          <a:xfrm>
            <a:off x="448056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Leave-One-Series-Out dan scaffold split</a:t>
            </a:r>
            <a:endParaRPr lang="en-US" sz="1250" dirty="0"/>
          </a:p>
        </p:txBody>
      </p:sp>
      <p:sp>
        <p:nvSpPr>
          <p:cNvPr id="18" name="Shape 16"/>
          <p:cNvSpPr/>
          <p:nvPr/>
        </p:nvSpPr>
        <p:spPr>
          <a:xfrm>
            <a:off x="6172200" y="1600200"/>
            <a:ext cx="1719072" cy="2514600"/>
          </a:xfrm>
          <a:prstGeom prst="roundRect">
            <a:avLst>
              <a:gd name="adj" fmla="val 6383"/>
            </a:avLst>
          </a:prstGeom>
          <a:solidFill>
            <a:schemeClr val="bg2"/>
          </a:solidFill>
          <a:ln w="12700">
            <a:solidFill>
              <a:schemeClr val="bg2"/>
            </a:solidFill>
            <a:prstDash val="solid"/>
          </a:ln>
        </p:spPr>
      </p:sp>
      <p:sp>
        <p:nvSpPr>
          <p:cNvPr id="19" name="Shape 17"/>
          <p:cNvSpPr/>
          <p:nvPr/>
        </p:nvSpPr>
        <p:spPr>
          <a:xfrm>
            <a:off x="6355080" y="178308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635508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35508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Augmentasi &amp; imbalance</a:t>
            </a:r>
            <a:endParaRPr lang="en-US" sz="1600" dirty="0"/>
          </a:p>
        </p:txBody>
      </p:sp>
      <p:sp>
        <p:nvSpPr>
          <p:cNvPr id="22" name="Text 20"/>
          <p:cNvSpPr txBox="1"/>
          <p:nvPr/>
        </p:nvSpPr>
        <p:spPr>
          <a:xfrm>
            <a:off x="635508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Jitter, gain scaling, class weight, SMOTE</a:t>
            </a:r>
            <a:endParaRPr lang="en-US" sz="1250" dirty="0"/>
          </a:p>
        </p:txBody>
      </p:sp>
      <p:sp>
        <p:nvSpPr>
          <p:cNvPr id="23" name="Shape 21"/>
          <p:cNvSpPr/>
          <p:nvPr/>
        </p:nvSpPr>
        <p:spPr>
          <a:xfrm>
            <a:off x="8046720" y="1600200"/>
            <a:ext cx="1719072" cy="2514600"/>
          </a:xfrm>
          <a:prstGeom prst="roundRect">
            <a:avLst>
              <a:gd name="adj" fmla="val 6383"/>
            </a:avLst>
          </a:prstGeom>
          <a:solidFill>
            <a:schemeClr val="bg2"/>
          </a:solidFill>
          <a:ln w="12700">
            <a:solidFill>
              <a:schemeClr val="bg2"/>
            </a:solidFill>
            <a:prstDash val="solid"/>
          </a:ln>
        </p:spPr>
      </p:sp>
      <p:sp>
        <p:nvSpPr>
          <p:cNvPr id="24" name="Shape 22"/>
          <p:cNvSpPr/>
          <p:nvPr/>
        </p:nvSpPr>
        <p:spPr>
          <a:xfrm>
            <a:off x="8229600" y="1783080"/>
            <a:ext cx="411480" cy="411480"/>
          </a:xfrm>
          <a:prstGeom prst="ellipse">
            <a:avLst/>
          </a:prstGeom>
          <a:solidFill>
            <a:schemeClr val="accent1"/>
          </a:solidFill>
          <a:ln w="12700">
            <a:solidFill>
              <a:schemeClr val="accent1"/>
            </a:solidFill>
            <a:prstDash val="solid"/>
          </a:ln>
        </p:spPr>
      </p:sp>
      <p:sp>
        <p:nvSpPr>
          <p:cNvPr id="25" name="Text 23"/>
          <p:cNvSpPr txBox="1"/>
          <p:nvPr/>
        </p:nvSpPr>
        <p:spPr>
          <a:xfrm>
            <a:off x="822960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822960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Ensemble</a:t>
            </a:r>
            <a:endParaRPr lang="en-US" sz="1600" dirty="0"/>
          </a:p>
        </p:txBody>
      </p:sp>
      <p:sp>
        <p:nvSpPr>
          <p:cNvPr id="27" name="Text 25"/>
          <p:cNvSpPr txBox="1"/>
          <p:nvPr/>
        </p:nvSpPr>
        <p:spPr>
          <a:xfrm>
            <a:off x="822960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RF, XGBoost, LightGBM, stacking, Optuna (TPE)</a:t>
            </a:r>
            <a:endParaRPr lang="en-US" sz="1250" dirty="0"/>
          </a:p>
        </p:txBody>
      </p:sp>
      <p:sp>
        <p:nvSpPr>
          <p:cNvPr id="28" name="Shape 26"/>
          <p:cNvSpPr/>
          <p:nvPr/>
        </p:nvSpPr>
        <p:spPr>
          <a:xfrm>
            <a:off x="9921240" y="1600200"/>
            <a:ext cx="1719072" cy="2514600"/>
          </a:xfrm>
          <a:prstGeom prst="roundRect">
            <a:avLst>
              <a:gd name="adj" fmla="val 6383"/>
            </a:avLst>
          </a:prstGeom>
          <a:solidFill>
            <a:schemeClr val="tx2"/>
          </a:solidFill>
          <a:ln w="12700">
            <a:solidFill>
              <a:schemeClr val="tx2"/>
            </a:solidFill>
            <a:prstDash val="solid"/>
          </a:ln>
        </p:spPr>
      </p:sp>
      <p:sp>
        <p:nvSpPr>
          <p:cNvPr id="29" name="Shape 27"/>
          <p:cNvSpPr/>
          <p:nvPr/>
        </p:nvSpPr>
        <p:spPr>
          <a:xfrm>
            <a:off x="10104120" y="1783080"/>
            <a:ext cx="411480" cy="411480"/>
          </a:xfrm>
          <a:prstGeom prst="ellipse">
            <a:avLst/>
          </a:prstGeom>
          <a:solidFill>
            <a:schemeClr val="accent2"/>
          </a:solidFill>
          <a:ln w="12700">
            <a:solidFill>
              <a:schemeClr val="accent2"/>
            </a:solidFill>
            <a:prstDash val="solid"/>
          </a:ln>
        </p:spPr>
      </p:sp>
      <p:sp>
        <p:nvSpPr>
          <p:cNvPr id="30" name="Text 28"/>
          <p:cNvSpPr txBox="1"/>
          <p:nvPr/>
        </p:nvSpPr>
        <p:spPr>
          <a:xfrm>
            <a:off x="10104120" y="17830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31" name="Text 29"/>
          <p:cNvSpPr txBox="1"/>
          <p:nvPr/>
        </p:nvSpPr>
        <p:spPr>
          <a:xfrm>
            <a:off x="10104120" y="2331720"/>
            <a:ext cx="1353312" cy="594360"/>
          </a:xfrm>
          <a:prstGeom prst="rect">
            <a:avLst/>
          </a:prstGeom>
          <a:noFill/>
          <a:ln/>
        </p:spPr>
        <p:txBody>
          <a:bodyPr wrap="square" lIns="0" tIns="0" rIns="0" bIns="0" rtlCol="0" anchor="t"/>
          <a:lstStyle/>
          <a:p>
            <a:pPr indent="0" marL="0">
              <a:buNone/>
            </a:pPr>
            <a:r>
              <a:rPr lang="en-US" sz="1600" b="1" dirty="0">
                <a:solidFill>
                  <a:schemeClr val="bg1"/>
                </a:solidFill>
              </a:rPr>
              <a:t>Loop bandit</a:t>
            </a:r>
            <a:endParaRPr lang="en-US" sz="1600" dirty="0"/>
          </a:p>
        </p:txBody>
      </p:sp>
      <p:sp>
        <p:nvSpPr>
          <p:cNvPr id="32" name="Text 30"/>
          <p:cNvSpPr txBox="1"/>
          <p:nvPr/>
        </p:nvSpPr>
        <p:spPr>
          <a:xfrm>
            <a:off x="10104120" y="2926080"/>
            <a:ext cx="1353312" cy="1097280"/>
          </a:xfrm>
          <a:prstGeom prst="rect">
            <a:avLst/>
          </a:prstGeom>
          <a:noFill/>
          <a:ln/>
        </p:spPr>
        <p:txBody>
          <a:bodyPr wrap="square" lIns="0" tIns="0" rIns="0" bIns="0" rtlCol="0" anchor="ctr"/>
          <a:lstStyle/>
          <a:p>
            <a:pPr indent="0" marL="0">
              <a:buNone/>
            </a:pPr>
            <a:r>
              <a:rPr lang="en-US" sz="1250" dirty="0">
                <a:solidFill>
                  <a:srgbClr val="CADBD7"/>
                </a:solidFill>
              </a:rPr>
              <a:t>Agen memilih strategi kueri active learning</a:t>
            </a:r>
            <a:endParaRPr lang="en-US" sz="1250" dirty="0"/>
          </a:p>
        </p:txBody>
      </p:sp>
      <p:sp>
        <p:nvSpPr>
          <p:cNvPr id="33" name="Shape 31"/>
          <p:cNvSpPr/>
          <p:nvPr/>
        </p:nvSpPr>
        <p:spPr>
          <a:xfrm>
            <a:off x="548640" y="4434840"/>
            <a:ext cx="11094415" cy="777240"/>
          </a:xfrm>
          <a:prstGeom prst="roundRect">
            <a:avLst>
              <a:gd name="adj" fmla="val 14118"/>
            </a:avLst>
          </a:prstGeom>
          <a:solidFill>
            <a:schemeClr val="bg1"/>
          </a:solidFill>
          <a:ln w="15875">
            <a:solidFill>
              <a:schemeClr val="accent1"/>
            </a:solidFill>
            <a:prstDash val="solid"/>
          </a:ln>
        </p:spPr>
      </p:sp>
      <p:sp>
        <p:nvSpPr>
          <p:cNvPr id="34" name="Text 32"/>
          <p:cNvSpPr txBox="1"/>
          <p:nvPr/>
        </p:nvSpPr>
        <p:spPr>
          <a:xfrm>
            <a:off x="822960" y="4434840"/>
            <a:ext cx="10545775" cy="777240"/>
          </a:xfrm>
          <a:prstGeom prst="rect">
            <a:avLst/>
          </a:prstGeom>
          <a:noFill/>
          <a:ln/>
        </p:spPr>
        <p:txBody>
          <a:bodyPr wrap="square" lIns="0" tIns="0" rIns="0" bIns="0" rtlCol="0" anchor="ctr"/>
          <a:lstStyle/>
          <a:p>
            <a:pPr indent="0" marL="0">
              <a:buNone/>
            </a:pPr>
            <a:r>
              <a:rPr lang="en-US" sz="1500" b="1" dirty="0">
                <a:solidFill>
                  <a:schemeClr val="accent1"/>
                </a:solidFill>
              </a:rPr>
              <a:t>Aturan emas: </a:t>
            </a:r>
            <a:pPr indent="0" marL="0">
              <a:buNone/>
            </a:pPr>
            <a:r>
              <a:rPr lang="en-US" sz="1500" dirty="0">
                <a:solidFill>
                  <a:schemeClr val="tx1"/>
                </a:solidFill>
              </a:rPr>
              <a:t>semua yang belajar dari data (imputasi, scaling, SMOTE, augmentasi, tuning, reward bandit) di-fit hanya pada data latih/validasi. Data uji hanya untuk pelaporan.</a:t>
            </a:r>
            <a:endParaRPr lang="en-US" sz="1500" dirty="0"/>
          </a:p>
        </p:txBody>
      </p:sp>
      <p:sp>
        <p:nvSpPr>
          <p:cNvPr id="35" name="Text 33"/>
          <p:cNvSpPr txBox="1"/>
          <p:nvPr/>
        </p:nvSpPr>
        <p:spPr>
          <a:xfrm>
            <a:off x="548640" y="5486400"/>
            <a:ext cx="11094415" cy="365760"/>
          </a:xfrm>
          <a:prstGeom prst="rect">
            <a:avLst/>
          </a:prstGeom>
          <a:noFill/>
          <a:ln/>
        </p:spPr>
        <p:txBody>
          <a:bodyPr wrap="square" lIns="0" tIns="0" rIns="0" bIns="0" rtlCol="0" anchor="ctr"/>
          <a:lstStyle/>
          <a:p>
            <a:pPr indent="0" marL="0">
              <a:buNone/>
            </a:pPr>
            <a:r>
              <a:rPr lang="en-US" sz="1300" dirty="0">
                <a:solidFill>
                  <a:srgbClr val="56676A"/>
                </a:solidFill>
              </a:rPr>
              <a:t>Kode: github.com/MuhammadErlanggaKurniawan/ets-ml2-kelompok · 4 notebook Colab</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Data yang dipakai dan yang belum ada</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737360"/>
                <a:gridCol w="2651760"/>
                <a:gridCol w="3291840"/>
                <a:gridCol w="2011680"/>
                <a:gridCol w="1399032"/>
              </a:tblGrid>
              <a:tr h="640080">
                <a:tc>
                  <a:txBody>
                    <a:bodyPr/>
                    <a:lstStyle/>
                    <a:p>
                      <a:pPr indent="0" marL="0">
                        <a:buNone/>
                      </a:pPr>
                      <a:r>
                        <a:rPr lang="en-US" sz="1300" b="1" dirty="0">
                          <a:solidFill>
                            <a:schemeClr val="bg1"/>
                          </a:solidFill>
                        </a:rPr>
                        <a:t>Track</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Dataset</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Ukuran</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Label</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Status</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r>
              <a:tr h="640080">
                <a:tc>
                  <a:txBody>
                    <a:bodyPr/>
                    <a:lstStyle/>
                    <a:p>
                      <a:pPr indent="0" marL="0">
                        <a:buNone/>
                      </a:pPr>
                      <a:r>
                        <a:rPr lang="en-US" sz="1300" dirty="0">
                          <a:solidFill>
                            <a:schemeClr val="tx1"/>
                          </a:solidFill>
                        </a:rPr>
                        <a:t>A · proksi Erlangga</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E-nose daging sapi (Wijaya dkk., 2018)</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 seri × 2.160 menit = 10.800 baris; 9 sensor MOS termasuk MQ135</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TVC 4 kelas; biner segar/tidak segar</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Dipakai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B · Michael</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AqSolDB (Sorkun dkk., 2019)</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9.982 senyawa, 4.886 scaffold, 207 deskriptor</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LogS (regresi)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Dipakai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r>
              <a:tr h="640080">
                <a:tc>
                  <a:txBody>
                    <a:bodyPr/>
                    <a:lstStyle/>
                    <a:p>
                      <a:pPr indent="0" marL="0">
                        <a:buNone/>
                      </a:pPr>
                      <a:r>
                        <a:rPr lang="en-US" sz="1300" dirty="0">
                          <a:solidFill>
                            <a:schemeClr val="tx1"/>
                          </a:solidFill>
                        </a:rPr>
                        <a:t>C · Rijal</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Citra kuning telur puyuh</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Rencana 372 butir (2 suhu × 31 hari × 6)</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Kelas Yolk Index</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rPr>
                        <a:t>Kode siap, menunggu data</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Pilot Erlangga</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Raspberry Pi, protokol PILOT_V1</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 baris, 1 batch; pH valid 3/6</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Panel sensori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4"/>
                          </a:solidFill>
                        </a:rPr>
                        <a:t>Belum cukup untuk validasi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4800600"/>
            <a:ext cx="11094415" cy="914400"/>
          </a:xfrm>
          <a:prstGeom prst="rect">
            <a:avLst/>
          </a:prstGeom>
          <a:noFill/>
          <a:ln/>
        </p:spPr>
        <p:txBody>
          <a:bodyPr wrap="square" lIns="0" tIns="0" rIns="0" bIns="0" rtlCol="0" anchor="t"/>
          <a:lstStyle/>
          <a:p>
            <a:pPr indent="0" marL="0">
              <a:buNone/>
            </a:pPr>
            <a:r>
              <a:rPr lang="en-US" sz="1400" dirty="0">
                <a:solidFill>
                  <a:srgbClr val="3A4A4D"/>
                </a:solidFill>
              </a:rPr>
              <a:t>Kami tidak memakai data pilot 6 baris untuk klaim performa: dengan satu batch, GroupKFold tidak bisa dijalankan, dan angka dari sana adalah artefak. Dataset e-nose dipilih karena memakai MQ135, kelembapan, dan suhu, serta punya 5 seri yang berperan seperti batch_id.</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Temuan 1: validasi acak menipu</a:t>
            </a:r>
            <a:endParaRPr lang="en-US" sz="3200" dirty="0"/>
          </a:p>
        </p:txBody>
      </p:sp>
      <p:sp>
        <p:nvSpPr>
          <p:cNvPr id="3" name="Shape 1"/>
          <p:cNvSpPr/>
          <p:nvPr/>
        </p:nvSpPr>
        <p:spPr>
          <a:xfrm>
            <a:off x="548640" y="1325880"/>
            <a:ext cx="5394960" cy="3200400"/>
          </a:xfrm>
          <a:prstGeom prst="roundRect">
            <a:avLst>
              <a:gd name="adj" fmla="val 3429"/>
            </a:avLst>
          </a:prstGeom>
          <a:solidFill>
            <a:schemeClr val="bg2"/>
          </a:solidFill>
          <a:ln w="12700">
            <a:solidFill>
              <a:schemeClr val="bg2"/>
            </a:solidFill>
            <a:prstDash val="solid"/>
          </a:ln>
        </p:spPr>
      </p:sp>
      <p:sp>
        <p:nvSpPr>
          <p:cNvPr id="4" name="Text 2"/>
          <p:cNvSpPr txBox="1"/>
          <p:nvPr/>
        </p:nvSpPr>
        <p:spPr>
          <a:xfrm>
            <a:off x="868680" y="1508760"/>
            <a:ext cx="47548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E-NOSE · macro-F1 4 kelas</a:t>
            </a:r>
            <a:endParaRPr lang="en-US" sz="1200" dirty="0"/>
          </a:p>
        </p:txBody>
      </p:sp>
      <p:sp>
        <p:nvSpPr>
          <p:cNvPr id="5" name="Text 3"/>
          <p:cNvSpPr txBox="1"/>
          <p:nvPr/>
        </p:nvSpPr>
        <p:spPr>
          <a:xfrm>
            <a:off x="868680" y="187452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0,998</a:t>
            </a:r>
            <a:endParaRPr lang="en-US" sz="5400" dirty="0"/>
          </a:p>
        </p:txBody>
      </p:sp>
      <p:sp>
        <p:nvSpPr>
          <p:cNvPr id="6" name="Text 4"/>
          <p:cNvSpPr txBox="1"/>
          <p:nvPr/>
        </p:nvSpPr>
        <p:spPr>
          <a:xfrm>
            <a:off x="868680"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split baris acak</a:t>
            </a:r>
            <a:endParaRPr lang="en-US" sz="1300" dirty="0"/>
          </a:p>
        </p:txBody>
      </p:sp>
      <p:sp>
        <p:nvSpPr>
          <p:cNvPr id="7" name="Text 5"/>
          <p:cNvSpPr txBox="1"/>
          <p:nvPr/>
        </p:nvSpPr>
        <p:spPr>
          <a:xfrm>
            <a:off x="3383280" y="187452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0,572</a:t>
            </a:r>
            <a:endParaRPr lang="en-US" sz="5400" dirty="0"/>
          </a:p>
        </p:txBody>
      </p:sp>
      <p:sp>
        <p:nvSpPr>
          <p:cNvPr id="8" name="Text 6"/>
          <p:cNvSpPr txBox="1"/>
          <p:nvPr/>
        </p:nvSpPr>
        <p:spPr>
          <a:xfrm>
            <a:off x="3383280"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Leave-One-Series-Out</a:t>
            </a:r>
            <a:endParaRPr lang="en-US" sz="1300" dirty="0"/>
          </a:p>
        </p:txBody>
      </p:sp>
      <p:sp>
        <p:nvSpPr>
          <p:cNvPr id="9" name="Text 7"/>
          <p:cNvSpPr txBox="1"/>
          <p:nvPr/>
        </p:nvSpPr>
        <p:spPr>
          <a:xfrm>
            <a:off x="868680" y="3840480"/>
            <a:ext cx="4754880" cy="457200"/>
          </a:xfrm>
          <a:prstGeom prst="rect">
            <a:avLst/>
          </a:prstGeom>
          <a:noFill/>
          <a:ln/>
        </p:spPr>
        <p:txBody>
          <a:bodyPr wrap="square" lIns="0" tIns="0" rIns="0" bIns="0" rtlCol="0" anchor="t"/>
          <a:lstStyle/>
          <a:p>
            <a:pPr indent="0" marL="0">
              <a:buNone/>
            </a:pPr>
            <a:r>
              <a:rPr lang="en-US" sz="1300" dirty="0">
                <a:solidFill>
                  <a:srgbClr val="56676A"/>
                </a:solidFill>
              </a:rPr>
              <a:t>Menit yang bertetangga hampir identik.</a:t>
            </a:r>
            <a:endParaRPr lang="en-US" sz="1300" dirty="0"/>
          </a:p>
        </p:txBody>
      </p:sp>
      <p:sp>
        <p:nvSpPr>
          <p:cNvPr id="10" name="Shape 8"/>
          <p:cNvSpPr/>
          <p:nvPr/>
        </p:nvSpPr>
        <p:spPr>
          <a:xfrm>
            <a:off x="6245352" y="1325880"/>
            <a:ext cx="5394960" cy="3200400"/>
          </a:xfrm>
          <a:prstGeom prst="roundRect">
            <a:avLst>
              <a:gd name="adj" fmla="val 3429"/>
            </a:avLst>
          </a:prstGeom>
          <a:solidFill>
            <a:schemeClr val="bg2"/>
          </a:solidFill>
          <a:ln w="12700">
            <a:solidFill>
              <a:schemeClr val="bg2"/>
            </a:solidFill>
            <a:prstDash val="solid"/>
          </a:ln>
        </p:spPr>
      </p:sp>
      <p:sp>
        <p:nvSpPr>
          <p:cNvPr id="11" name="Text 9"/>
          <p:cNvSpPr txBox="1"/>
          <p:nvPr/>
        </p:nvSpPr>
        <p:spPr>
          <a:xfrm>
            <a:off x="6565392" y="1508760"/>
            <a:ext cx="47548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AQSOLDB · RMSE LogS (↓)</a:t>
            </a:r>
            <a:endParaRPr lang="en-US" sz="1200" dirty="0"/>
          </a:p>
        </p:txBody>
      </p:sp>
      <p:sp>
        <p:nvSpPr>
          <p:cNvPr id="12" name="Text 10"/>
          <p:cNvSpPr txBox="1"/>
          <p:nvPr/>
        </p:nvSpPr>
        <p:spPr>
          <a:xfrm>
            <a:off x="6565392" y="187452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1,013</a:t>
            </a:r>
            <a:endParaRPr lang="en-US" sz="5400" dirty="0"/>
          </a:p>
        </p:txBody>
      </p:sp>
      <p:sp>
        <p:nvSpPr>
          <p:cNvPr id="13" name="Text 11"/>
          <p:cNvSpPr txBox="1"/>
          <p:nvPr/>
        </p:nvSpPr>
        <p:spPr>
          <a:xfrm>
            <a:off x="6565392"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split acak</a:t>
            </a:r>
            <a:endParaRPr lang="en-US" sz="1300" dirty="0"/>
          </a:p>
        </p:txBody>
      </p:sp>
      <p:sp>
        <p:nvSpPr>
          <p:cNvPr id="14" name="Text 12"/>
          <p:cNvSpPr txBox="1"/>
          <p:nvPr/>
        </p:nvSpPr>
        <p:spPr>
          <a:xfrm>
            <a:off x="9079992" y="187452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1,254</a:t>
            </a:r>
            <a:endParaRPr lang="en-US" sz="5400" dirty="0"/>
          </a:p>
        </p:txBody>
      </p:sp>
      <p:sp>
        <p:nvSpPr>
          <p:cNvPr id="15" name="Text 13"/>
          <p:cNvSpPr txBox="1"/>
          <p:nvPr/>
        </p:nvSpPr>
        <p:spPr>
          <a:xfrm>
            <a:off x="9079992"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scaffold split</a:t>
            </a:r>
            <a:endParaRPr lang="en-US" sz="1300" dirty="0"/>
          </a:p>
        </p:txBody>
      </p:sp>
      <p:sp>
        <p:nvSpPr>
          <p:cNvPr id="16" name="Text 14"/>
          <p:cNvSpPr txBox="1"/>
          <p:nvPr/>
        </p:nvSpPr>
        <p:spPr>
          <a:xfrm>
            <a:off x="6565392" y="3840480"/>
            <a:ext cx="4754880" cy="457200"/>
          </a:xfrm>
          <a:prstGeom prst="rect">
            <a:avLst/>
          </a:prstGeom>
          <a:noFill/>
          <a:ln/>
        </p:spPr>
        <p:txBody>
          <a:bodyPr wrap="square" lIns="0" tIns="0" rIns="0" bIns="0" rtlCol="0" anchor="t"/>
          <a:lstStyle/>
          <a:p>
            <a:pPr indent="0" marL="0">
              <a:buNone/>
            </a:pPr>
            <a:r>
              <a:rPr lang="en-US" sz="1300" dirty="0">
                <a:solidFill>
                  <a:srgbClr val="56676A"/>
                </a:solidFill>
              </a:rPr>
              <a:t>Uji scaffold: 0 scaffold yang muncul di data latih.</a:t>
            </a:r>
            <a:endParaRPr lang="en-US" sz="1300" dirty="0"/>
          </a:p>
        </p:txBody>
      </p:sp>
      <p:sp>
        <p:nvSpPr>
          <p:cNvPr id="17" name="Text 15"/>
          <p:cNvSpPr txBox="1"/>
          <p:nvPr/>
        </p:nvSpPr>
        <p:spPr>
          <a:xfrm>
            <a:off x="548640" y="4846320"/>
            <a:ext cx="11094415" cy="914400"/>
          </a:xfrm>
          <a:prstGeom prst="rect">
            <a:avLst/>
          </a:prstGeom>
          <a:noFill/>
          <a:ln/>
        </p:spPr>
        <p:txBody>
          <a:bodyPr wrap="square" lIns="0" tIns="0" rIns="0" bIns="0" rtlCol="0" anchor="t"/>
          <a:lstStyle/>
          <a:p>
            <a:pPr indent="0" marL="0">
              <a:buNone/>
            </a:pPr>
            <a:r>
              <a:rPr lang="en-US" sz="1600" b="1" dirty="0">
                <a:solidFill>
                  <a:schemeClr val="tx1"/>
                </a:solidFill>
              </a:rPr>
              <a:t>Akurasi ≈ 99% pada dataset e-nose ini hanya dapat kami reproduksi dengan split baris acak. </a:t>
            </a:r>
            <a:pPr indent="0" marL="0">
              <a:buNone/>
            </a:pPr>
            <a:r>
              <a:rPr lang="en-US" sz="1600" dirty="0">
                <a:solidFill>
                  <a:schemeClr val="tx1"/>
                </a:solidFill>
              </a:rPr>
              <a:t>Relevansi: inilah alasan GroupKFold per batch_id (Erlangga) dan scaffold split (Michael) wajib dipakai.</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Augmentasi &amp; imbalance: efeknya bergantung model</a:t>
            </a:r>
            <a:endParaRPr lang="en-US" sz="3200" dirty="0"/>
          </a:p>
        </p:txBody>
      </p:sp>
      <p:graphicFrame>
        <p:nvGraphicFramePr>
          <p:cNvPr id="3" name="Chart 0" descr=""/>
          <p:cNvGraphicFramePr/>
          <p:nvPr/>
        </p:nvGraphicFramePr>
        <p:xfrm>
          <a:off x="548640" y="123444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234440"/>
            <a:ext cx="4144975" cy="4023360"/>
          </a:xfrm>
          <a:prstGeom prst="roundRect">
            <a:avLst>
              <a:gd name="adj" fmla="val 2727"/>
            </a:avLst>
          </a:prstGeom>
          <a:solidFill>
            <a:schemeClr val="bg2"/>
          </a:solidFill>
          <a:ln w="12700">
            <a:solidFill>
              <a:schemeClr val="bg2"/>
            </a:solidFill>
            <a:prstDash val="solid"/>
          </a:ln>
        </p:spPr>
      </p:sp>
      <p:sp>
        <p:nvSpPr>
          <p:cNvPr id="5" name="Text 2"/>
          <p:cNvSpPr txBox="1"/>
          <p:nvPr/>
        </p:nvSpPr>
        <p:spPr>
          <a:xfrm>
            <a:off x="7772400" y="1417320"/>
            <a:ext cx="3657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IMBALANCE · LightGBM</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0" y="1828800"/>
          <a:ext cx="3596335" cy="914400"/>
        </p:xfrm>
        <a:graphic>
          <a:graphicData uri="http://schemas.openxmlformats.org/drawingml/2006/table">
            <a:tbl>
              <a:tblPr/>
              <a:tblGrid>
                <a:gridCol w="1554480"/>
                <a:gridCol w="777240"/>
                <a:gridCol w="1261872"/>
              </a:tblGrid>
              <a:tr h="411480">
                <a:tc>
                  <a:txBody>
                    <a:bodyPr/>
                    <a:lstStyle/>
                    <a:p>
                      <a:pPr indent="0" marL="0">
                        <a:buNone/>
                      </a:pPr>
                      <a:r>
                        <a:rPr lang="en-US" sz="1300" b="1" dirty="0">
                          <a:solidFill>
                            <a:schemeClr val="tx1"/>
                          </a:solidFill>
                        </a:rPr>
                        <a:t>Variasi</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b="1" dirty="0">
                          <a:solidFill>
                            <a:schemeClr val="tx1"/>
                          </a:solidFill>
                        </a:rPr>
                        <a:t>F1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b="1" dirty="0">
                          <a:solidFill>
                            <a:schemeClr val="tx1"/>
                          </a:solidFill>
                        </a:rPr>
                        <a:t>Recall excellent</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tanpa</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0,572</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0,907</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class weight</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0,591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0,894</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SMOTE</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0,571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0,921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undersampling</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0,584</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0,965</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bl>
          </a:graphicData>
        </a:graphic>
      </p:graphicFrame>
      <p:sp>
        <p:nvSpPr>
          <p:cNvPr id="7" name="Text 3"/>
          <p:cNvSpPr txBox="1"/>
          <p:nvPr/>
        </p:nvSpPr>
        <p:spPr>
          <a:xfrm>
            <a:off x="7772400" y="4069080"/>
            <a:ext cx="3596335" cy="914400"/>
          </a:xfrm>
          <a:prstGeom prst="rect">
            <a:avLst/>
          </a:prstGeom>
          <a:noFill/>
          <a:ln/>
        </p:spPr>
        <p:txBody>
          <a:bodyPr wrap="square" lIns="0" tIns="0" rIns="0" bIns="0" rtlCol="0" anchor="t"/>
          <a:lstStyle/>
          <a:p>
            <a:pPr indent="0" marL="0">
              <a:buNone/>
            </a:pPr>
            <a:r>
              <a:rPr lang="en-US" sz="1300" dirty="0">
                <a:solidFill>
                  <a:srgbClr val="56676A"/>
                </a:solidFill>
              </a:rPr>
              <a:t>Selisih ±0,02 masih di dalam simpangan baku antar seri (0,06–0,13).</a:t>
            </a:r>
            <a:endParaRPr lang="en-US" sz="1300" dirty="0"/>
          </a:p>
        </p:txBody>
      </p:sp>
      <p:sp>
        <p:nvSpPr>
          <p:cNvPr id="8" name="Text 4"/>
          <p:cNvSpPr txBox="1"/>
          <p:nvPr/>
        </p:nvSpPr>
        <p:spPr>
          <a:xfrm>
            <a:off x="548640" y="5486400"/>
            <a:ext cx="11094415" cy="777240"/>
          </a:xfrm>
          <a:prstGeom prst="rect">
            <a:avLst/>
          </a:prstGeom>
          <a:noFill/>
          <a:ln/>
        </p:spPr>
        <p:txBody>
          <a:bodyPr wrap="square" lIns="0" tIns="0" rIns="0" bIns="0" rtlCol="0" anchor="t"/>
          <a:lstStyle/>
          <a:p>
            <a:pPr indent="0" marL="0">
              <a:buNone/>
            </a:pPr>
            <a:r>
              <a:rPr lang="en-US" sz="1500" b="1" dirty="0">
                <a:solidFill>
                  <a:schemeClr val="tx1"/>
                </a:solidFill>
              </a:rPr>
              <a:t>Bacaan: </a:t>
            </a:r>
            <a:pPr indent="0" marL="0">
              <a:buNone/>
            </a:pPr>
            <a:r>
              <a:rPr lang="en-US" sz="1500" dirty="0">
                <a:solidFill>
                  <a:schemeClr val="tx1"/>
                </a:solidFill>
              </a:rPr>
              <a:t>gain scaling membantu model linear (+0,047) tetapi menurunkan LightGBM. Augmentasi dan resampling bukan obat universal; manfaatnya harus diuji dengan validasi yang benar.</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Ensemble e-nose: boosting paling stabil lintas seri</a:t>
            </a:r>
            <a:endParaRPr lang="en-US" sz="3200" dirty="0"/>
          </a:p>
        </p:txBody>
      </p:sp>
      <p:graphicFrame>
        <p:nvGraphicFramePr>
          <p:cNvPr id="3" name="Chart 0" descr=""/>
          <p:cNvGraphicFramePr/>
          <p:nvPr/>
        </p:nvGraphicFramePr>
        <p:xfrm>
          <a:off x="548640" y="12344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234440"/>
            <a:ext cx="3779215" cy="4480560"/>
          </a:xfrm>
          <a:prstGeom prst="roundRect">
            <a:avLst>
              <a:gd name="adj" fmla="val 2903"/>
            </a:avLst>
          </a:prstGeom>
          <a:solidFill>
            <a:schemeClr val="tx2"/>
          </a:solidFill>
          <a:ln w="12700">
            <a:solidFill>
              <a:schemeClr val="tx2"/>
            </a:solidFill>
            <a:prstDash val="solid"/>
          </a:ln>
        </p:spPr>
      </p:sp>
      <p:sp>
        <p:nvSpPr>
          <p:cNvPr id="5" name="Text 2"/>
          <p:cNvSpPr txBox="1"/>
          <p:nvPr/>
        </p:nvSpPr>
        <p:spPr>
          <a:xfrm>
            <a:off x="8183880" y="1463040"/>
            <a:ext cx="3108960" cy="914400"/>
          </a:xfrm>
          <a:prstGeom prst="rect">
            <a:avLst/>
          </a:prstGeom>
          <a:noFill/>
          <a:ln/>
        </p:spPr>
        <p:txBody>
          <a:bodyPr wrap="square" lIns="0" tIns="0" rIns="0" bIns="0" rtlCol="0" anchor="ctr"/>
          <a:lstStyle/>
          <a:p>
            <a:pPr indent="0" marL="0">
              <a:buNone/>
            </a:pPr>
            <a:r>
              <a:rPr lang="en-US" sz="5600" b="1" dirty="0">
                <a:solidFill>
                  <a:schemeClr val="accent2"/>
                </a:solidFill>
                <a:latin typeface="Cambria" pitchFamily="34" charset="0"/>
                <a:ea typeface="Cambria" pitchFamily="34" charset="-122"/>
                <a:cs typeface="Cambria" pitchFamily="34" charset="-120"/>
              </a:rPr>
              <a:t>0,911</a:t>
            </a:r>
            <a:endParaRPr lang="en-US" sz="5600" dirty="0"/>
          </a:p>
        </p:txBody>
      </p:sp>
      <p:sp>
        <p:nvSpPr>
          <p:cNvPr id="6" name="Text 3"/>
          <p:cNvSpPr txBox="1"/>
          <p:nvPr/>
        </p:nvSpPr>
        <p:spPr>
          <a:xfrm>
            <a:off x="8183880" y="2377440"/>
            <a:ext cx="3108960" cy="365760"/>
          </a:xfrm>
          <a:prstGeom prst="rect">
            <a:avLst/>
          </a:prstGeom>
          <a:noFill/>
          <a:ln/>
        </p:spPr>
        <p:txBody>
          <a:bodyPr wrap="square" lIns="0" tIns="0" rIns="0" bIns="0" rtlCol="0" anchor="ctr"/>
          <a:lstStyle/>
          <a:p>
            <a:pPr indent="0" marL="0">
              <a:buNone/>
            </a:pPr>
            <a:r>
              <a:rPr lang="en-US" sz="1400" dirty="0">
                <a:solidFill>
                  <a:schemeClr val="bg1"/>
                </a:solidFill>
              </a:rPr>
              <a:t>XGBoost, sd 0,058</a:t>
            </a:r>
            <a:endParaRPr lang="en-US" sz="1400" dirty="0"/>
          </a:p>
        </p:txBody>
      </p:sp>
      <p:sp>
        <p:nvSpPr>
          <p:cNvPr id="7" name="Text 4"/>
          <p:cNvSpPr txBox="1"/>
          <p:nvPr/>
        </p:nvSpPr>
        <p:spPr>
          <a:xfrm>
            <a:off x="8183880" y="2971800"/>
            <a:ext cx="3139135" cy="2560320"/>
          </a:xfrm>
          <a:prstGeom prst="rect">
            <a:avLst/>
          </a:prstGeom>
          <a:noFill/>
          <a:ln/>
        </p:spPr>
        <p:txBody>
          <a:bodyPr wrap="square" lIns="0" tIns="0" rIns="0" bIns="0" rtlCol="0" anchor="ctr"/>
          <a:lstStyle/>
          <a:p>
            <a:pPr indent="0" marL="0">
              <a:spcAft>
                <a:spcPts val="800"/>
              </a:spcAft>
              <a:buNone/>
            </a:pPr>
            <a:r>
              <a:rPr lang="en-US" sz="1400" dirty="0">
                <a:solidFill>
                  <a:srgbClr val="CADBD7"/>
                </a:solidFill>
              </a:rPr>
              <a:t>Model tunggal terbaik: Decision Tree 0,774 (sd 0,247).</a:t>
            </a:r>
            <a:endParaRPr lang="en-US" sz="1400" dirty="0"/>
          </a:p>
          <a:p>
            <a:pPr indent="0" marL="0">
              <a:spcAft>
                <a:spcPts val="800"/>
              </a:spcAft>
              <a:buNone/>
            </a:pPr>
            <a:r>
              <a:rPr lang="en-US" sz="1400" dirty="0">
                <a:solidFill>
                  <a:srgbClr val="CADBD7"/>
                </a:solidFill>
              </a:rPr>
              <a:t>Simpangan baku XGBoost 4× lebih kecil: stabil di setiap potongan daging.</a:t>
            </a:r>
            <a:endParaRPr lang="en-US" sz="1400" dirty="0"/>
          </a:p>
          <a:p>
            <a:pPr indent="0" marL="0">
              <a:spcAft>
                <a:spcPts val="800"/>
              </a:spcAft>
              <a:buNone/>
            </a:pPr>
            <a:r>
              <a:rPr lang="en-US" sz="1400" dirty="0">
                <a:solidFill>
                  <a:srgbClr val="CADBD7"/>
                </a:solidFill>
              </a:rPr>
              <a:t>Pada 4 kelas, keunggulan tidak jelas: LightGBM 0,572 vs Decision Tree 0,567.</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Ensemble kelarutan: stacking terbaik, Optuna tidak</a:t>
            </a:r>
            <a:endParaRPr lang="en-US" sz="3200" dirty="0"/>
          </a:p>
        </p:txBody>
      </p:sp>
      <p:graphicFrame>
        <p:nvGraphicFramePr>
          <p:cNvPr id="3" name="Chart 0" descr=""/>
          <p:cNvGraphicFramePr/>
          <p:nvPr/>
        </p:nvGraphicFramePr>
        <p:xfrm>
          <a:off x="548640" y="12344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234440"/>
            <a:ext cx="3779215" cy="20574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8138160" y="1371600"/>
            <a:ext cx="20116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1,222</a:t>
            </a:r>
            <a:endParaRPr lang="en-US" sz="4400" dirty="0"/>
          </a:p>
        </p:txBody>
      </p:sp>
      <p:sp>
        <p:nvSpPr>
          <p:cNvPr id="6" name="Text 3"/>
          <p:cNvSpPr txBox="1"/>
          <p:nvPr/>
        </p:nvSpPr>
        <p:spPr>
          <a:xfrm>
            <a:off x="8138160" y="2240280"/>
            <a:ext cx="3230575" cy="822960"/>
          </a:xfrm>
          <a:prstGeom prst="rect">
            <a:avLst/>
          </a:prstGeom>
          <a:noFill/>
          <a:ln/>
        </p:spPr>
        <p:txBody>
          <a:bodyPr wrap="square" lIns="0" tIns="0" rIns="0" bIns="0" rtlCol="0" anchor="ctr"/>
          <a:lstStyle/>
          <a:p>
            <a:pPr indent="0" marL="0">
              <a:buNone/>
            </a:pPr>
            <a:r>
              <a:rPr lang="en-US" sz="1300" dirty="0">
                <a:solidFill>
                  <a:schemeClr val="tx1"/>
                </a:solidFill>
              </a:rPr>
              <a:t>Stacking (Ridge+SVR+RF+LGBM → Ridge), R² 0,758</a:t>
            </a:r>
            <a:endParaRPr lang="en-US" sz="1300" dirty="0"/>
          </a:p>
        </p:txBody>
      </p:sp>
      <p:sp>
        <p:nvSpPr>
          <p:cNvPr id="7" name="Shape 4"/>
          <p:cNvSpPr/>
          <p:nvPr/>
        </p:nvSpPr>
        <p:spPr>
          <a:xfrm>
            <a:off x="7863840" y="3474720"/>
            <a:ext cx="3779215" cy="2240280"/>
          </a:xfrm>
          <a:prstGeom prst="roundRect">
            <a:avLst>
              <a:gd name="adj" fmla="val 4898"/>
            </a:avLst>
          </a:prstGeom>
          <a:solidFill>
            <a:schemeClr val="tx2"/>
          </a:solidFill>
          <a:ln w="12700">
            <a:solidFill>
              <a:schemeClr val="tx2"/>
            </a:solidFill>
            <a:prstDash val="solid"/>
          </a:ln>
        </p:spPr>
      </p:sp>
      <p:sp>
        <p:nvSpPr>
          <p:cNvPr id="8" name="Text 5"/>
          <p:cNvSpPr txBox="1"/>
          <p:nvPr/>
        </p:nvSpPr>
        <p:spPr>
          <a:xfrm>
            <a:off x="8138160" y="3611880"/>
            <a:ext cx="3230575" cy="320040"/>
          </a:xfrm>
          <a:prstGeom prst="rect">
            <a:avLst/>
          </a:prstGeom>
          <a:noFill/>
          <a:ln/>
        </p:spPr>
        <p:txBody>
          <a:bodyPr wrap="square" lIns="0" tIns="0" rIns="0" bIns="0" rtlCol="0" anchor="ctr"/>
          <a:lstStyle/>
          <a:p>
            <a:pPr indent="0" marL="0">
              <a:buNone/>
            </a:pPr>
            <a:r>
              <a:rPr lang="en-US" sz="1400" b="1" dirty="0">
                <a:solidFill>
                  <a:schemeClr val="accent2"/>
                </a:solidFill>
              </a:rPr>
              <a:t>Optuna (40 trial TPE)</a:t>
            </a:r>
            <a:endParaRPr lang="en-US" sz="1400" dirty="0"/>
          </a:p>
        </p:txBody>
      </p:sp>
      <p:sp>
        <p:nvSpPr>
          <p:cNvPr id="9" name="Text 6"/>
          <p:cNvSpPr txBox="1"/>
          <p:nvPr/>
        </p:nvSpPr>
        <p:spPr>
          <a:xfrm>
            <a:off x="8138160" y="3977640"/>
            <a:ext cx="3230575" cy="1645920"/>
          </a:xfrm>
          <a:prstGeom prst="rect">
            <a:avLst/>
          </a:prstGeom>
          <a:noFill/>
          <a:ln/>
        </p:spPr>
        <p:txBody>
          <a:bodyPr wrap="square" lIns="0" tIns="0" rIns="0" bIns="0" rtlCol="0" anchor="ctr"/>
          <a:lstStyle/>
          <a:p>
            <a:pPr indent="0" marL="0">
              <a:spcAft>
                <a:spcPts val="600"/>
              </a:spcAft>
              <a:buNone/>
            </a:pPr>
            <a:r>
              <a:rPr lang="en-US" sz="1300" b="1" dirty="0">
                <a:solidFill>
                  <a:schemeClr val="bg1"/>
                </a:solidFill>
              </a:rPr>
              <a:t>CV RMSE 1,063 → uji 1,259</a:t>
            </a:r>
            <a:endParaRPr lang="en-US" sz="1300" dirty="0"/>
          </a:p>
          <a:p>
            <a:pPr indent="0" marL="0">
              <a:spcAft>
                <a:spcPts val="600"/>
              </a:spcAft>
              <a:buNone/>
            </a:pPr>
            <a:r>
              <a:rPr lang="en-US" sz="1300" dirty="0">
                <a:solidFill>
                  <a:schemeClr val="bg1"/>
                </a:solidFill>
              </a:rPr>
              <a:t>Data uji berisi scaffold langka (distribution shift). Tuning tidak bisa menggantikan data yang mewakili domain target.</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Imbalanced regression: ekstrem membaik, tengah memburuk</a:t>
            </a:r>
            <a:endParaRPr lang="en-US" sz="3200" dirty="0"/>
          </a:p>
        </p:txBody>
      </p:sp>
      <p:graphicFrame>
        <p:nvGraphicFramePr>
          <p:cNvPr id="3" name="Chart 0" descr=""/>
          <p:cNvGraphicFramePr/>
          <p:nvPr/>
        </p:nvGraphicFramePr>
        <p:xfrm>
          <a:off x="548640" y="12344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234440"/>
            <a:ext cx="3779215" cy="4206240"/>
          </a:xfrm>
          <a:prstGeom prst="roundRect">
            <a:avLst>
              <a:gd name="adj" fmla="val 2903"/>
            </a:avLst>
          </a:prstGeom>
          <a:solidFill>
            <a:schemeClr val="bg2"/>
          </a:solidFill>
          <a:ln w="12700">
            <a:solidFill>
              <a:schemeClr val="bg2"/>
            </a:solidFill>
            <a:prstDash val="solid"/>
          </a:ln>
        </p:spPr>
      </p:sp>
      <p:sp>
        <p:nvSpPr>
          <p:cNvPr id="5" name="Text 2"/>
          <p:cNvSpPr txBox="1"/>
          <p:nvPr/>
        </p:nvSpPr>
        <p:spPr>
          <a:xfrm>
            <a:off x="8138160" y="1463040"/>
            <a:ext cx="3230575" cy="274320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Kategori sangat tidak larut</a:t>
            </a:r>
            <a:endParaRPr lang="en-US" sz="1500" dirty="0"/>
          </a:p>
          <a:p>
            <a:pPr indent="0" marL="0">
              <a:spcAft>
                <a:spcPts val="400"/>
              </a:spcAft>
              <a:buNone/>
            </a:pPr>
            <a:r>
              <a:rPr lang="en-US" sz="1500" dirty="0">
                <a:solidFill>
                  <a:schemeClr val="accent1"/>
                </a:solidFill>
              </a:rPr>
              <a:t>MAE 1,484 → 1,386</a:t>
            </a:r>
            <a:endParaRPr lang="en-US" sz="1500" dirty="0"/>
          </a:p>
          <a:p>
            <a:pPr indent="0" marL="0">
              <a:spcAft>
                <a:spcPts val="400"/>
              </a:spcAft>
              <a:buNone/>
            </a:pPr>
            <a:r>
              <a:rPr lang="en-US" sz="1500" b="1" dirty="0">
                <a:solidFill>
                  <a:schemeClr val="tx1"/>
                </a:solidFill>
              </a:rPr>
              <a:t>Kategori sangat larut</a:t>
            </a:r>
            <a:endParaRPr lang="en-US" sz="1500" dirty="0"/>
          </a:p>
          <a:p>
            <a:pPr indent="0" marL="0">
              <a:spcAft>
                <a:spcPts val="400"/>
              </a:spcAft>
              <a:buNone/>
            </a:pPr>
            <a:r>
              <a:rPr lang="en-US" sz="1500" dirty="0">
                <a:solidFill>
                  <a:schemeClr val="accent1"/>
                </a:solidFill>
              </a:rPr>
              <a:t>MAE 0,979 → 0,858</a:t>
            </a:r>
            <a:endParaRPr lang="en-US" sz="1500" dirty="0"/>
          </a:p>
          <a:p>
            <a:pPr indent="0" marL="0">
              <a:spcAft>
                <a:spcPts val="400"/>
              </a:spcAft>
              <a:buNone/>
            </a:pPr>
            <a:r>
              <a:rPr lang="en-US" sz="1500" b="1" dirty="0">
                <a:solidFill>
                  <a:schemeClr val="tx1"/>
                </a:solidFill>
              </a:rPr>
              <a:t>RMSE total</a:t>
            </a:r>
            <a:endParaRPr lang="en-US" sz="1500" dirty="0"/>
          </a:p>
          <a:p>
            <a:pPr indent="0" marL="0">
              <a:spcAft>
                <a:spcPts val="400"/>
              </a:spcAft>
              <a:buNone/>
            </a:pPr>
            <a:r>
              <a:rPr lang="en-US" sz="1500" dirty="0">
                <a:solidFill>
                  <a:schemeClr val="accent4"/>
                </a:solidFill>
              </a:rPr>
              <a:t>1,259 → 1,279</a:t>
            </a:r>
            <a:endParaRPr lang="en-US" sz="1500" dirty="0"/>
          </a:p>
        </p:txBody>
      </p:sp>
      <p:sp>
        <p:nvSpPr>
          <p:cNvPr id="6" name="Text 3"/>
          <p:cNvSpPr txBox="1"/>
          <p:nvPr/>
        </p:nvSpPr>
        <p:spPr>
          <a:xfrm>
            <a:off x="8138160" y="4297680"/>
            <a:ext cx="3230575" cy="1005840"/>
          </a:xfrm>
          <a:prstGeom prst="rect">
            <a:avLst/>
          </a:prstGeom>
          <a:noFill/>
          <a:ln/>
        </p:spPr>
        <p:txBody>
          <a:bodyPr wrap="square" lIns="0" tIns="0" rIns="0" bIns="0" rtlCol="0" anchor="t"/>
          <a:lstStyle/>
          <a:p>
            <a:pPr indent="0" marL="0">
              <a:buNone/>
            </a:pPr>
            <a:r>
              <a:rPr lang="en-US" sz="1300" dirty="0">
                <a:solidFill>
                  <a:srgbClr val="56676A"/>
                </a:solidFill>
              </a:rPr>
              <a:t>Pilih sesuai tujuan: untuk screening senyawa yang sangat tidak larut, bobot ini berguna.</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Reinforcement: agen bandit memilih strategi kueri</a:t>
            </a:r>
            <a:endParaRPr lang="en-US" sz="3200" dirty="0"/>
          </a:p>
        </p:txBody>
      </p:sp>
      <p:sp>
        <p:nvSpPr>
          <p:cNvPr id="3" name="Shape 1"/>
          <p:cNvSpPr/>
          <p:nvPr/>
        </p:nvSpPr>
        <p:spPr>
          <a:xfrm>
            <a:off x="548640" y="1371600"/>
            <a:ext cx="2468880" cy="1143000"/>
          </a:xfrm>
          <a:prstGeom prst="roundRect">
            <a:avLst>
              <a:gd name="adj" fmla="val 9600"/>
            </a:avLst>
          </a:prstGeom>
          <a:solidFill>
            <a:schemeClr val="bg2"/>
          </a:solidFill>
          <a:ln w="12700">
            <a:solidFill>
              <a:schemeClr val="bg2"/>
            </a:solidFill>
            <a:prstDash val="solid"/>
          </a:ln>
        </p:spPr>
      </p:sp>
      <p:sp>
        <p:nvSpPr>
          <p:cNvPr id="4" name="Text 2"/>
          <p:cNvSpPr txBox="1"/>
          <p:nvPr/>
        </p:nvSpPr>
        <p:spPr>
          <a:xfrm>
            <a:off x="777240" y="1508760"/>
            <a:ext cx="2011680" cy="365760"/>
          </a:xfrm>
          <a:prstGeom prst="rect">
            <a:avLst/>
          </a:prstGeom>
          <a:noFill/>
          <a:ln/>
        </p:spPr>
        <p:txBody>
          <a:bodyPr wrap="square" lIns="0" tIns="0" rIns="0" bIns="0" rtlCol="0" anchor="ctr"/>
          <a:lstStyle/>
          <a:p>
            <a:pPr indent="0" marL="0">
              <a:buNone/>
            </a:pPr>
            <a:r>
              <a:rPr lang="en-US" sz="1700" b="1" dirty="0">
                <a:solidFill>
                  <a:schemeClr val="tx2"/>
                </a:solidFill>
              </a:rPr>
              <a:t>Keadaan</a:t>
            </a:r>
            <a:endParaRPr lang="en-US" sz="1700" dirty="0"/>
          </a:p>
        </p:txBody>
      </p:sp>
      <p:sp>
        <p:nvSpPr>
          <p:cNvPr id="5" name="Text 3"/>
          <p:cNvSpPr txBox="1"/>
          <p:nvPr/>
        </p:nvSpPr>
        <p:spPr>
          <a:xfrm>
            <a:off x="777240" y="1874520"/>
            <a:ext cx="2011680" cy="594360"/>
          </a:xfrm>
          <a:prstGeom prst="rect">
            <a:avLst/>
          </a:prstGeom>
          <a:noFill/>
          <a:ln/>
        </p:spPr>
        <p:txBody>
          <a:bodyPr wrap="square" lIns="0" tIns="0" rIns="0" bIns="0" rtlCol="0" anchor="ctr"/>
          <a:lstStyle/>
          <a:p>
            <a:pPr indent="0" marL="0">
              <a:buNone/>
            </a:pPr>
            <a:r>
              <a:rPr lang="en-US" sz="1300" dirty="0">
                <a:solidFill>
                  <a:schemeClr val="tx1"/>
                </a:solidFill>
              </a:rPr>
              <a:t>Model + data berlabel saat ini</a:t>
            </a:r>
            <a:endParaRPr lang="en-US" sz="1300" dirty="0"/>
          </a:p>
        </p:txBody>
      </p:sp>
      <p:sp>
        <p:nvSpPr>
          <p:cNvPr id="6" name="Shape 4"/>
          <p:cNvSpPr/>
          <p:nvPr/>
        </p:nvSpPr>
        <p:spPr>
          <a:xfrm>
            <a:off x="3474720" y="1371600"/>
            <a:ext cx="2468880" cy="1143000"/>
          </a:xfrm>
          <a:prstGeom prst="roundRect">
            <a:avLst>
              <a:gd name="adj" fmla="val 9600"/>
            </a:avLst>
          </a:prstGeom>
          <a:solidFill>
            <a:schemeClr val="tx2"/>
          </a:solidFill>
          <a:ln w="12700">
            <a:solidFill>
              <a:schemeClr val="tx2"/>
            </a:solidFill>
            <a:prstDash val="solid"/>
          </a:ln>
        </p:spPr>
      </p:sp>
      <p:sp>
        <p:nvSpPr>
          <p:cNvPr id="7" name="Text 5"/>
          <p:cNvSpPr txBox="1"/>
          <p:nvPr/>
        </p:nvSpPr>
        <p:spPr>
          <a:xfrm>
            <a:off x="3703320" y="1508760"/>
            <a:ext cx="2011680" cy="365760"/>
          </a:xfrm>
          <a:prstGeom prst="rect">
            <a:avLst/>
          </a:prstGeom>
          <a:noFill/>
          <a:ln/>
        </p:spPr>
        <p:txBody>
          <a:bodyPr wrap="square" lIns="0" tIns="0" rIns="0" bIns="0" rtlCol="0" anchor="ctr"/>
          <a:lstStyle/>
          <a:p>
            <a:pPr indent="0" marL="0">
              <a:buNone/>
            </a:pPr>
            <a:r>
              <a:rPr lang="en-US" sz="1700" b="1" dirty="0">
                <a:solidFill>
                  <a:schemeClr val="accent2"/>
                </a:solidFill>
              </a:rPr>
              <a:t>Aksi</a:t>
            </a:r>
            <a:endParaRPr lang="en-US" sz="1700" dirty="0"/>
          </a:p>
        </p:txBody>
      </p:sp>
      <p:sp>
        <p:nvSpPr>
          <p:cNvPr id="8" name="Text 6"/>
          <p:cNvSpPr txBox="1"/>
          <p:nvPr/>
        </p:nvSpPr>
        <p:spPr>
          <a:xfrm>
            <a:off x="3703320" y="1874520"/>
            <a:ext cx="2011680" cy="594360"/>
          </a:xfrm>
          <a:prstGeom prst="rect">
            <a:avLst/>
          </a:prstGeom>
          <a:noFill/>
          <a:ln/>
        </p:spPr>
        <p:txBody>
          <a:bodyPr wrap="square" lIns="0" tIns="0" rIns="0" bIns="0" rtlCol="0" anchor="ctr"/>
          <a:lstStyle/>
          <a:p>
            <a:pPr indent="0" marL="0">
              <a:buNone/>
            </a:pPr>
            <a:r>
              <a:rPr lang="en-US" sz="1300" dirty="0">
                <a:solidFill>
                  <a:schemeClr val="bg1"/>
                </a:solidFill>
              </a:rPr>
              <a:t>Pilih arm: random · uncertainty · diversity</a:t>
            </a:r>
            <a:endParaRPr lang="en-US" sz="1300" dirty="0"/>
          </a:p>
        </p:txBody>
      </p:sp>
      <p:sp>
        <p:nvSpPr>
          <p:cNvPr id="9" name="Shape 7"/>
          <p:cNvSpPr/>
          <p:nvPr/>
        </p:nvSpPr>
        <p:spPr>
          <a:xfrm>
            <a:off x="3474720" y="3200400"/>
            <a:ext cx="2468880" cy="1143000"/>
          </a:xfrm>
          <a:prstGeom prst="roundRect">
            <a:avLst>
              <a:gd name="adj" fmla="val 9600"/>
            </a:avLst>
          </a:prstGeom>
          <a:solidFill>
            <a:schemeClr val="bg2"/>
          </a:solidFill>
          <a:ln w="12700">
            <a:solidFill>
              <a:schemeClr val="bg2"/>
            </a:solidFill>
            <a:prstDash val="solid"/>
          </a:ln>
        </p:spPr>
      </p:sp>
      <p:sp>
        <p:nvSpPr>
          <p:cNvPr id="10" name="Text 8"/>
          <p:cNvSpPr txBox="1"/>
          <p:nvPr/>
        </p:nvSpPr>
        <p:spPr>
          <a:xfrm>
            <a:off x="3703320" y="3337560"/>
            <a:ext cx="2011680" cy="365760"/>
          </a:xfrm>
          <a:prstGeom prst="rect">
            <a:avLst/>
          </a:prstGeom>
          <a:noFill/>
          <a:ln/>
        </p:spPr>
        <p:txBody>
          <a:bodyPr wrap="square" lIns="0" tIns="0" rIns="0" bIns="0" rtlCol="0" anchor="ctr"/>
          <a:lstStyle/>
          <a:p>
            <a:pPr indent="0" marL="0">
              <a:buNone/>
            </a:pPr>
            <a:r>
              <a:rPr lang="en-US" sz="1700" b="1" dirty="0">
                <a:solidFill>
                  <a:schemeClr val="tx2"/>
                </a:solidFill>
              </a:rPr>
              <a:t>Oracle</a:t>
            </a:r>
            <a:endParaRPr lang="en-US" sz="1700" dirty="0"/>
          </a:p>
        </p:txBody>
      </p:sp>
      <p:sp>
        <p:nvSpPr>
          <p:cNvPr id="11" name="Text 9"/>
          <p:cNvSpPr txBox="1"/>
          <p:nvPr/>
        </p:nvSpPr>
        <p:spPr>
          <a:xfrm>
            <a:off x="3703320" y="3703320"/>
            <a:ext cx="2011680" cy="594360"/>
          </a:xfrm>
          <a:prstGeom prst="rect">
            <a:avLst/>
          </a:prstGeom>
          <a:noFill/>
          <a:ln/>
        </p:spPr>
        <p:txBody>
          <a:bodyPr wrap="square" lIns="0" tIns="0" rIns="0" bIns="0" rtlCol="0" anchor="ctr"/>
          <a:lstStyle/>
          <a:p>
            <a:pPr indent="0" marL="0">
              <a:buNone/>
            </a:pPr>
            <a:r>
              <a:rPr lang="en-US" sz="1300" dirty="0">
                <a:solidFill>
                  <a:schemeClr val="tx1"/>
                </a:solidFill>
              </a:rPr>
              <a:t>Beri label pada satu batch</a:t>
            </a:r>
            <a:endParaRPr lang="en-US" sz="1300" dirty="0"/>
          </a:p>
        </p:txBody>
      </p:sp>
      <p:sp>
        <p:nvSpPr>
          <p:cNvPr id="12" name="Shape 10"/>
          <p:cNvSpPr/>
          <p:nvPr/>
        </p:nvSpPr>
        <p:spPr>
          <a:xfrm>
            <a:off x="548640" y="3200400"/>
            <a:ext cx="2468880" cy="1143000"/>
          </a:xfrm>
          <a:prstGeom prst="roundRect">
            <a:avLst>
              <a:gd name="adj" fmla="val 9600"/>
            </a:avLst>
          </a:prstGeom>
          <a:solidFill>
            <a:schemeClr val="bg2"/>
          </a:solidFill>
          <a:ln w="12700">
            <a:solidFill>
              <a:schemeClr val="bg2"/>
            </a:solidFill>
            <a:prstDash val="solid"/>
          </a:ln>
        </p:spPr>
      </p:sp>
      <p:sp>
        <p:nvSpPr>
          <p:cNvPr id="13" name="Text 11"/>
          <p:cNvSpPr txBox="1"/>
          <p:nvPr/>
        </p:nvSpPr>
        <p:spPr>
          <a:xfrm>
            <a:off x="777240" y="3337560"/>
            <a:ext cx="2011680" cy="365760"/>
          </a:xfrm>
          <a:prstGeom prst="rect">
            <a:avLst/>
          </a:prstGeom>
          <a:noFill/>
          <a:ln/>
        </p:spPr>
        <p:txBody>
          <a:bodyPr wrap="square" lIns="0" tIns="0" rIns="0" bIns="0" rtlCol="0" anchor="ctr"/>
          <a:lstStyle/>
          <a:p>
            <a:pPr indent="0" marL="0">
              <a:buNone/>
            </a:pPr>
            <a:r>
              <a:rPr lang="en-US" sz="1700" b="1" dirty="0">
                <a:solidFill>
                  <a:schemeClr val="tx2"/>
                </a:solidFill>
              </a:rPr>
              <a:t>Reward</a:t>
            </a:r>
            <a:endParaRPr lang="en-US" sz="1700" dirty="0"/>
          </a:p>
        </p:txBody>
      </p:sp>
      <p:sp>
        <p:nvSpPr>
          <p:cNvPr id="14" name="Text 12"/>
          <p:cNvSpPr txBox="1"/>
          <p:nvPr/>
        </p:nvSpPr>
        <p:spPr>
          <a:xfrm>
            <a:off x="777240" y="3703320"/>
            <a:ext cx="2011680" cy="594360"/>
          </a:xfrm>
          <a:prstGeom prst="rect">
            <a:avLst/>
          </a:prstGeom>
          <a:noFill/>
          <a:ln/>
        </p:spPr>
        <p:txBody>
          <a:bodyPr wrap="square" lIns="0" tIns="0" rIns="0" bIns="0" rtlCol="0" anchor="ctr"/>
          <a:lstStyle/>
          <a:p>
            <a:pPr indent="0" marL="0">
              <a:buNone/>
            </a:pPr>
            <a:r>
              <a:rPr lang="en-US" sz="1300" dirty="0">
                <a:solidFill>
                  <a:schemeClr val="tx1"/>
                </a:solidFill>
              </a:rPr>
              <a:t>Perbaikan relatif skor validasi</a:t>
            </a:r>
            <a:endParaRPr lang="en-US" sz="1300" dirty="0"/>
          </a:p>
        </p:txBody>
      </p:sp>
      <p:sp>
        <p:nvSpPr>
          <p:cNvPr id="15" name="Shape 13"/>
          <p:cNvSpPr/>
          <p:nvPr/>
        </p:nvSpPr>
        <p:spPr>
          <a:xfrm>
            <a:off x="3063240" y="1943100"/>
            <a:ext cx="365760" cy="0"/>
          </a:xfrm>
          <a:prstGeom prst="line">
            <a:avLst/>
          </a:prstGeom>
          <a:noFill/>
          <a:ln w="25400">
            <a:solidFill>
              <a:srgbClr val="0F5257"/>
            </a:solidFill>
            <a:prstDash val="solid"/>
            <a:tailEnd type="triangle"/>
          </a:ln>
        </p:spPr>
      </p:sp>
      <p:sp>
        <p:nvSpPr>
          <p:cNvPr id="16" name="Shape 14"/>
          <p:cNvSpPr/>
          <p:nvPr/>
        </p:nvSpPr>
        <p:spPr>
          <a:xfrm>
            <a:off x="4709160" y="2560320"/>
            <a:ext cx="0" cy="594360"/>
          </a:xfrm>
          <a:prstGeom prst="line">
            <a:avLst/>
          </a:prstGeom>
          <a:noFill/>
          <a:ln w="25400">
            <a:solidFill>
              <a:srgbClr val="0F5257"/>
            </a:solidFill>
            <a:prstDash val="solid"/>
            <a:tailEnd type="triangle"/>
          </a:ln>
        </p:spPr>
      </p:sp>
      <p:sp>
        <p:nvSpPr>
          <p:cNvPr id="17" name="Shape 15"/>
          <p:cNvSpPr/>
          <p:nvPr/>
        </p:nvSpPr>
        <p:spPr>
          <a:xfrm flipH="1">
            <a:off x="3063240" y="3771900"/>
            <a:ext cx="365760" cy="0"/>
          </a:xfrm>
          <a:prstGeom prst="line">
            <a:avLst/>
          </a:prstGeom>
          <a:noFill/>
          <a:ln w="25400">
            <a:solidFill>
              <a:srgbClr val="0F5257"/>
            </a:solidFill>
            <a:prstDash val="solid"/>
            <a:tailEnd type="triangle"/>
          </a:ln>
        </p:spPr>
      </p:sp>
      <p:sp>
        <p:nvSpPr>
          <p:cNvPr id="18" name="Shape 16"/>
          <p:cNvSpPr/>
          <p:nvPr/>
        </p:nvSpPr>
        <p:spPr>
          <a:xfrm flipV="1">
            <a:off x="1783080" y="2560320"/>
            <a:ext cx="0" cy="594360"/>
          </a:xfrm>
          <a:prstGeom prst="line">
            <a:avLst/>
          </a:prstGeom>
          <a:noFill/>
          <a:ln w="25400">
            <a:solidFill>
              <a:srgbClr val="0F5257"/>
            </a:solidFill>
            <a:prstDash val="solid"/>
            <a:tailEnd type="triangle"/>
          </a:ln>
        </p:spPr>
      </p:sp>
      <p:sp>
        <p:nvSpPr>
          <p:cNvPr id="19" name="Shape 17"/>
          <p:cNvSpPr/>
          <p:nvPr/>
        </p:nvSpPr>
        <p:spPr>
          <a:xfrm>
            <a:off x="6492240" y="1371600"/>
            <a:ext cx="5150815" cy="2971800"/>
          </a:xfrm>
          <a:prstGeom prst="roundRect">
            <a:avLst>
              <a:gd name="adj" fmla="val 3692"/>
            </a:avLst>
          </a:prstGeom>
          <a:solidFill>
            <a:schemeClr val="bg2"/>
          </a:solidFill>
          <a:ln w="12700">
            <a:solidFill>
              <a:schemeClr val="bg2"/>
            </a:solidFill>
            <a:prstDash val="solid"/>
          </a:ln>
        </p:spPr>
      </p:sp>
      <p:sp>
        <p:nvSpPr>
          <p:cNvPr id="20" name="Text 18"/>
          <p:cNvSpPr txBox="1"/>
          <p:nvPr/>
        </p:nvSpPr>
        <p:spPr>
          <a:xfrm>
            <a:off x="6766560" y="1554480"/>
            <a:ext cx="4602175" cy="2651760"/>
          </a:xfrm>
          <a:prstGeom prst="rect">
            <a:avLst/>
          </a:prstGeom>
          <a:noFill/>
          <a:ln/>
        </p:spPr>
        <p:txBody>
          <a:bodyPr wrap="square" lIns="0" tIns="0" rIns="0" bIns="0" rtlCol="0" anchor="ctr"/>
          <a:lstStyle/>
          <a:p>
            <a:pPr indent="0" marL="0">
              <a:buNone/>
            </a:pPr>
            <a:r>
              <a:rPr lang="en-US" sz="1500" b="1" dirty="0">
                <a:solidFill>
                  <a:schemeClr val="accent1"/>
                </a:solidFill>
              </a:rPr>
              <a:t>ε-greedy + Monte Carlo</a:t>
            </a:r>
            <a:endParaRPr lang="en-US" sz="1500" dirty="0"/>
          </a:p>
          <a:p>
            <a:pPr indent="0" marL="0">
              <a:buNone/>
            </a:pPr>
            <a:r>
              <a:rPr lang="en-US" sz="1500" dirty="0">
                <a:solidFill>
                  <a:schemeClr val="tx1"/>
                </a:solidFill>
              </a:rPr>
              <a:t>Q(a) ← Q(a) + (r − Q(a)) / n(a);  eksplorasi dengan peluang ε = 0,2</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accent1"/>
                </a:solidFill>
              </a:rPr>
              <a:t>UCB1</a:t>
            </a:r>
            <a:endParaRPr lang="en-US" sz="1500" dirty="0"/>
          </a:p>
          <a:p>
            <a:pPr indent="0" marL="0">
              <a:buNone/>
            </a:pPr>
            <a:r>
              <a:rPr lang="en-US" sz="1500" dirty="0">
                <a:solidFill>
                  <a:schemeClr val="tx1"/>
                </a:solidFill>
              </a:rPr>
              <a:t>pilih argmax  Q(a) + c·√(2 ln N / n(a))</a:t>
            </a:r>
            <a:endParaRPr lang="en-US" sz="1500" dirty="0"/>
          </a:p>
        </p:txBody>
      </p:sp>
      <p:sp>
        <p:nvSpPr>
          <p:cNvPr id="21" name="Text 19"/>
          <p:cNvSpPr txBox="1"/>
          <p:nvPr/>
        </p:nvSpPr>
        <p:spPr>
          <a:xfrm>
            <a:off x="548640" y="4800600"/>
            <a:ext cx="11094415" cy="1188720"/>
          </a:xfrm>
          <a:prstGeom prst="rect">
            <a:avLst/>
          </a:prstGeom>
          <a:noFill/>
          <a:ln/>
        </p:spPr>
        <p:txBody>
          <a:bodyPr wrap="square" lIns="0" tIns="0" rIns="0" bIns="0" rtlCol="0" anchor="t"/>
          <a:lstStyle/>
          <a:p>
            <a:pPr indent="0" marL="0">
              <a:buNone/>
            </a:pPr>
            <a:r>
              <a:rPr lang="en-US" sz="1500" b="1" dirty="0">
                <a:solidFill>
                  <a:schemeClr val="tx1"/>
                </a:solidFill>
              </a:rPr>
              <a:t>Kenapa disebut reinforcement: </a:t>
            </a:r>
            <a:pPr indent="0" marL="0">
              <a:buNone/>
            </a:pPr>
            <a:r>
              <a:rPr lang="en-US" sz="1500" dirty="0">
                <a:solidFill>
                  <a:schemeClr val="tx1"/>
                </a:solidFill>
              </a:rPr>
              <a:t>ini RL tanpa state (multi-armed bandit), jembatan bandit → RL di materi kuliah. Gagasan mengikuti Active Learning by Learning (Hsu &amp; Lin, AAAI 2015). Data uji tidak pernah dipakai untuk reward.</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Kelarutan: bandit menghemat ≈ setengah label</a:t>
            </a:r>
            <a:endParaRPr lang="en-US" sz="3200" dirty="0"/>
          </a:p>
        </p:txBody>
      </p:sp>
      <p:graphicFrame>
        <p:nvGraphicFramePr>
          <p:cNvPr id="3" name="Chart 0" descr=""/>
          <p:cNvGraphicFramePr/>
          <p:nvPr/>
        </p:nvGraphicFramePr>
        <p:xfrm>
          <a:off x="548640" y="123444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138160" y="1234440"/>
            <a:ext cx="3504895" cy="4480560"/>
          </a:xfrm>
          <a:prstGeom prst="roundRect">
            <a:avLst>
              <a:gd name="adj" fmla="val 3131"/>
            </a:avLst>
          </a:prstGeom>
          <a:solidFill>
            <a:schemeClr val="tx2"/>
          </a:solidFill>
          <a:ln w="12700">
            <a:solidFill>
              <a:schemeClr val="tx2"/>
            </a:solidFill>
            <a:prstDash val="solid"/>
          </a:ln>
        </p:spPr>
      </p:sp>
      <p:sp>
        <p:nvSpPr>
          <p:cNvPr id="5" name="Text 2"/>
          <p:cNvSpPr txBox="1"/>
          <p:nvPr/>
        </p:nvSpPr>
        <p:spPr>
          <a:xfrm>
            <a:off x="8412480" y="1417320"/>
            <a:ext cx="2956255" cy="914400"/>
          </a:xfrm>
          <a:prstGeom prst="rect">
            <a:avLst/>
          </a:prstGeom>
          <a:noFill/>
          <a:ln/>
        </p:spPr>
        <p:txBody>
          <a:bodyPr wrap="square" lIns="0" tIns="0" rIns="0" bIns="0" rtlCol="0" anchor="ctr"/>
          <a:lstStyle/>
          <a:p>
            <a:pPr indent="0" marL="0">
              <a:buNone/>
            </a:pPr>
            <a:r>
              <a:rPr lang="en-US" sz="5600" b="1" dirty="0">
                <a:solidFill>
                  <a:schemeClr val="accent2"/>
                </a:solidFill>
                <a:latin typeface="Cambria" pitchFamily="34" charset="0"/>
                <a:ea typeface="Cambria" pitchFamily="34" charset="-122"/>
                <a:cs typeface="Cambria" pitchFamily="34" charset="-120"/>
              </a:rPr>
              <a:t>52%</a:t>
            </a:r>
            <a:endParaRPr lang="en-US" sz="5600" dirty="0"/>
          </a:p>
        </p:txBody>
      </p:sp>
      <p:sp>
        <p:nvSpPr>
          <p:cNvPr id="6" name="Text 3"/>
          <p:cNvSpPr txBox="1"/>
          <p:nvPr/>
        </p:nvSpPr>
        <p:spPr>
          <a:xfrm>
            <a:off x="8412480" y="2377440"/>
            <a:ext cx="2956255" cy="1097280"/>
          </a:xfrm>
          <a:prstGeom prst="rect">
            <a:avLst/>
          </a:prstGeom>
          <a:noFill/>
          <a:ln/>
        </p:spPr>
        <p:txBody>
          <a:bodyPr wrap="square" lIns="0" tIns="0" rIns="0" bIns="0" rtlCol="0" anchor="ctr"/>
          <a:lstStyle/>
          <a:p>
            <a:pPr indent="0" marL="0">
              <a:buNone/>
            </a:pPr>
            <a:r>
              <a:rPr lang="en-US" sz="1300" dirty="0">
                <a:solidFill>
                  <a:schemeClr val="bg1"/>
                </a:solidFill>
              </a:rPr>
              <a:t>label lebih hemat: UCB1 menyamai RMSE akhir random (1,478) dengan 1.000 label, bukan 2.100</a:t>
            </a:r>
            <a:endParaRPr lang="en-US" sz="1300" dirty="0"/>
          </a:p>
        </p:txBody>
      </p:sp>
      <p:sp>
        <p:nvSpPr>
          <p:cNvPr id="7" name="Text 4"/>
          <p:cNvSpPr txBox="1"/>
          <p:nvPr/>
        </p:nvSpPr>
        <p:spPr>
          <a:xfrm>
            <a:off x="8412480" y="3611880"/>
            <a:ext cx="2956255" cy="2011680"/>
          </a:xfrm>
          <a:prstGeom prst="rect">
            <a:avLst/>
          </a:prstGeom>
          <a:noFill/>
          <a:ln/>
        </p:spPr>
        <p:txBody>
          <a:bodyPr wrap="square" lIns="0" tIns="0" rIns="0" bIns="0" rtlCol="0" anchor="ctr"/>
          <a:lstStyle/>
          <a:p>
            <a:pPr indent="0" marL="0">
              <a:spcAft>
                <a:spcPts val="600"/>
              </a:spcAft>
              <a:buNone/>
            </a:pPr>
            <a:r>
              <a:rPr lang="en-US" sz="1300" dirty="0">
                <a:solidFill>
                  <a:srgbClr val="CADBD7"/>
                </a:solidFill>
              </a:rPr>
              <a:t>2.100 label: bandit 1,410 vs random 1,478</a:t>
            </a:r>
            <a:endParaRPr lang="en-US" sz="1300" dirty="0"/>
          </a:p>
          <a:p>
            <a:pPr indent="0" marL="0">
              <a:spcAft>
                <a:spcPts val="600"/>
              </a:spcAft>
              <a:buNone/>
            </a:pPr>
            <a:r>
              <a:rPr lang="en-US" sz="1300" dirty="0">
                <a:solidFill>
                  <a:srgbClr val="CADBD7"/>
                </a:solidFill>
              </a:rPr>
              <a:t>Seluruh pool (6.788 label): 1,372</a:t>
            </a:r>
            <a:endParaRPr lang="en-US" sz="1300" dirty="0"/>
          </a:p>
          <a:p>
            <a:pPr indent="0" marL="0">
              <a:spcAft>
                <a:spcPts val="600"/>
              </a:spcAft>
              <a:buNone/>
            </a:pPr>
            <a:r>
              <a:rPr lang="en-US" sz="1300" dirty="0">
                <a:solidFill>
                  <a:srgbClr val="CADBD7"/>
                </a:solidFill>
              </a:rPr>
              <a:t>Bandit setara strategi terbaik tanpa perlu tahu strategi itu sebelumnya.</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E-nose: yang kurang adalah batch, bukan label</a:t>
            </a:r>
            <a:endParaRPr lang="en-US" sz="3200" dirty="0"/>
          </a:p>
        </p:txBody>
      </p:sp>
      <p:graphicFrame>
        <p:nvGraphicFramePr>
          <p:cNvPr id="3" name="Chart 0" descr=""/>
          <p:cNvGraphicFramePr/>
          <p:nvPr/>
        </p:nvGraphicFramePr>
        <p:xfrm>
          <a:off x="548640" y="1234440"/>
          <a:ext cx="5669280" cy="4160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446520" y="1234440"/>
          <a:ext cx="5196535" cy="41605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532120"/>
            <a:ext cx="11094415" cy="777240"/>
          </a:xfrm>
          <a:prstGeom prst="rect">
            <a:avLst/>
          </a:prstGeom>
          <a:noFill/>
          <a:ln/>
        </p:spPr>
        <p:txBody>
          <a:bodyPr wrap="square" lIns="0" tIns="0" rIns="0" bIns="0" rtlCol="0" anchor="t"/>
          <a:lstStyle/>
          <a:p>
            <a:pPr indent="0" marL="0">
              <a:buNone/>
            </a:pPr>
            <a:r>
              <a:rPr lang="en-US" sz="1400" b="1" dirty="0">
                <a:solidFill>
                  <a:schemeClr val="tx1"/>
                </a:solidFill>
              </a:rPr>
              <a:t>160 baris dari 4 seri (0,87) mengalahkan 6.480 baris dari 3 seri (0,83). </a:t>
            </a:r>
            <a:pPr indent="0" marL="0">
              <a:buNone/>
            </a:pPr>
            <a:r>
              <a:rPr lang="en-US" sz="1400" dirty="0">
                <a:solidFill>
                  <a:schemeClr val="tx1"/>
                </a:solidFill>
              </a:rPr>
              <a:t>AL memilih baris, padahal masalahnya pergeseran domain antar seri; random tetap paling aman (0,883). Implikasi: rancangan 16 batch Erlangga sudah tepat.</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Apa yang dipelajari model</a:t>
            </a:r>
            <a:endParaRPr lang="en-US" sz="3200" dirty="0"/>
          </a:p>
        </p:txBody>
      </p:sp>
      <p:graphicFrame>
        <p:nvGraphicFramePr>
          <p:cNvPr id="3" name="Chart 0" descr=""/>
          <p:cNvGraphicFramePr/>
          <p:nvPr/>
        </p:nvGraphicFramePr>
        <p:xfrm>
          <a:off x="548640" y="123444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45352" y="1234440"/>
          <a:ext cx="5397703" cy="39319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349240"/>
            <a:ext cx="11094415" cy="914400"/>
          </a:xfrm>
          <a:prstGeom prst="rect">
            <a:avLst/>
          </a:prstGeom>
          <a:noFill/>
          <a:ln/>
        </p:spPr>
        <p:txBody>
          <a:bodyPr wrap="square" lIns="0" tIns="0" rIns="0" bIns="0" rtlCol="0" anchor="t"/>
          <a:lstStyle/>
          <a:p>
            <a:pPr indent="0" marL="0">
              <a:buNone/>
            </a:pPr>
            <a:r>
              <a:rPr lang="en-US" sz="1400" b="1" dirty="0">
                <a:solidFill>
                  <a:schemeClr val="tx1"/>
                </a:solidFill>
              </a:rPr>
              <a:t>MolLogP paling berpengaruh, </a:t>
            </a:r>
            <a:pPr indent="0" marL="0">
              <a:buNone/>
            </a:pPr>
            <a:r>
              <a:rPr lang="en-US" sz="1400" dirty="0">
                <a:solidFill>
                  <a:schemeClr val="tx1"/>
                </a:solidFill>
              </a:rPr>
              <a:t>konsisten dengan kimia: lipofilisitas berbanding terbalik dengan kelarutan air. </a:t>
            </a:r>
            <a:pPr indent="0" marL="0">
              <a:buNone/>
            </a:pPr>
            <a:r>
              <a:rPr lang="en-US" sz="1400" b="1" dirty="0">
                <a:solidFill>
                  <a:schemeClr val="tx1"/>
                </a:solidFill>
              </a:rPr>
              <a:t>Pada e-nose, MQ4 dan MQ8 dominan, sedangkan MQ135 hanya 0,26. </a:t>
            </a:r>
            <a:pPr indent="0" marL="0">
              <a:buNone/>
            </a:pPr>
            <a:r>
              <a:rPr lang="en-US" sz="1400" dirty="0">
                <a:solidFill>
                  <a:schemeClr val="tx1"/>
                </a:solidFill>
              </a:rPr>
              <a:t>Domainnya daging mentah, jadi ini hipotesis untuk alat Erlangga, bukan kesimpulan.</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Analisis dan diskusi</a:t>
            </a:r>
            <a:endParaRPr lang="en-US" sz="3200" dirty="0"/>
          </a:p>
        </p:txBody>
      </p:sp>
      <p:sp>
        <p:nvSpPr>
          <p:cNvPr id="3" name="Shape 1"/>
          <p:cNvSpPr/>
          <p:nvPr/>
        </p:nvSpPr>
        <p:spPr>
          <a:xfrm>
            <a:off x="548640" y="1234440"/>
            <a:ext cx="5410048" cy="2331720"/>
          </a:xfrm>
          <a:prstGeom prst="roundRect">
            <a:avLst>
              <a:gd name="adj" fmla="val 4706"/>
            </a:avLst>
          </a:prstGeom>
          <a:solidFill>
            <a:schemeClr val="bg2"/>
          </a:solidFill>
          <a:ln w="12700">
            <a:solidFill>
              <a:schemeClr val="bg2"/>
            </a:solidFill>
            <a:prstDash val="solid"/>
          </a:ln>
        </p:spPr>
      </p:sp>
      <p:sp>
        <p:nvSpPr>
          <p:cNvPr id="4" name="Text 2"/>
          <p:cNvSpPr txBox="1"/>
          <p:nvPr/>
        </p:nvSpPr>
        <p:spPr>
          <a:xfrm>
            <a:off x="822960"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Batasan</a:t>
            </a:r>
            <a:endParaRPr lang="en-US" sz="1800" dirty="0"/>
          </a:p>
        </p:txBody>
      </p:sp>
      <p:sp>
        <p:nvSpPr>
          <p:cNvPr id="5" name="Text 3"/>
          <p:cNvSpPr txBox="1"/>
          <p:nvPr/>
        </p:nvSpPr>
        <p:spPr>
          <a:xfrm>
            <a:off x="822960" y="182880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Hanya 5 seri e-nose; sd besar</a:t>
            </a:r>
            <a:endParaRPr lang="en-US" sz="1400" dirty="0"/>
          </a:p>
          <a:p>
            <a:pPr marL="342900" indent="-342900">
              <a:spcAft>
                <a:spcPts val="300"/>
              </a:spcAft>
              <a:buSzPct val="100000"/>
              <a:buChar char="•"/>
            </a:pPr>
            <a:r>
              <a:rPr lang="en-US" sz="1400" dirty="0">
                <a:solidFill>
                  <a:schemeClr val="tx1"/>
                </a:solidFill>
              </a:rPr>
              <a:t>Track A proksi: TVC &amp; daging mentah ≠ panel sensori &amp; makanan matang</a:t>
            </a:r>
            <a:endParaRPr lang="en-US" sz="1400" dirty="0"/>
          </a:p>
          <a:p>
            <a:pPr marL="342900" indent="-342900">
              <a:spcAft>
                <a:spcPts val="300"/>
              </a:spcAft>
              <a:buSzPct val="100000"/>
              <a:buChar char="•"/>
            </a:pPr>
            <a:r>
              <a:rPr lang="en-US" sz="1400" dirty="0">
                <a:solidFill>
                  <a:schemeClr val="tx1"/>
                </a:solidFill>
              </a:rPr>
              <a:t>AL disimulasikan dari label yang sudah ada</a:t>
            </a:r>
            <a:endParaRPr lang="en-US" sz="1400" dirty="0"/>
          </a:p>
          <a:p>
            <a:pPr marL="342900" indent="-342900">
              <a:spcAft>
                <a:spcPts val="300"/>
              </a:spcAft>
              <a:buSzPct val="100000"/>
              <a:buChar char="•"/>
            </a:pPr>
            <a:r>
              <a:rPr lang="en-US" sz="1400" dirty="0">
                <a:solidFill>
                  <a:schemeClr val="tx1"/>
                </a:solidFill>
              </a:rPr>
              <a:t>Track C belum punya data</a:t>
            </a:r>
            <a:endParaRPr lang="en-US" sz="1400" dirty="0"/>
          </a:p>
        </p:txBody>
      </p:sp>
      <p:sp>
        <p:nvSpPr>
          <p:cNvPr id="6" name="Shape 4"/>
          <p:cNvSpPr/>
          <p:nvPr/>
        </p:nvSpPr>
        <p:spPr>
          <a:xfrm>
            <a:off x="6233008" y="1234440"/>
            <a:ext cx="5410048" cy="2331720"/>
          </a:xfrm>
          <a:prstGeom prst="roundRect">
            <a:avLst>
              <a:gd name="adj" fmla="val 4706"/>
            </a:avLst>
          </a:prstGeom>
          <a:solidFill>
            <a:schemeClr val="bg2"/>
          </a:solidFill>
          <a:ln w="12700">
            <a:solidFill>
              <a:schemeClr val="bg2"/>
            </a:solidFill>
            <a:prstDash val="solid"/>
          </a:ln>
        </p:spPr>
      </p:sp>
      <p:sp>
        <p:nvSpPr>
          <p:cNvPr id="7" name="Text 5"/>
          <p:cNvSpPr txBox="1"/>
          <p:nvPr/>
        </p:nvSpPr>
        <p:spPr>
          <a:xfrm>
            <a:off x="6507328"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Trade-off</a:t>
            </a:r>
            <a:endParaRPr lang="en-US" sz="1800" dirty="0"/>
          </a:p>
        </p:txBody>
      </p:sp>
      <p:sp>
        <p:nvSpPr>
          <p:cNvPr id="8" name="Text 6"/>
          <p:cNvSpPr txBox="1"/>
          <p:nvPr/>
        </p:nvSpPr>
        <p:spPr>
          <a:xfrm>
            <a:off x="6507328" y="182880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Augmentasi: bantu linear, rugikan boosting</a:t>
            </a:r>
            <a:endParaRPr lang="en-US" sz="1400" dirty="0"/>
          </a:p>
          <a:p>
            <a:pPr marL="342900" indent="-342900">
              <a:spcAft>
                <a:spcPts val="300"/>
              </a:spcAft>
              <a:buSzPct val="100000"/>
              <a:buChar char="•"/>
            </a:pPr>
            <a:r>
              <a:rPr lang="en-US" sz="1400" dirty="0">
                <a:solidFill>
                  <a:schemeClr val="tx1"/>
                </a:solidFill>
              </a:rPr>
              <a:t>Bobot imbalance: ekstrem membaik, tengah memburuk</a:t>
            </a:r>
            <a:endParaRPr lang="en-US" sz="1400" dirty="0"/>
          </a:p>
          <a:p>
            <a:pPr marL="342900" indent="-342900">
              <a:spcAft>
                <a:spcPts val="300"/>
              </a:spcAft>
              <a:buSzPct val="100000"/>
              <a:buChar char="•"/>
            </a:pPr>
            <a:r>
              <a:rPr lang="en-US" sz="1400" dirty="0">
                <a:solidFill>
                  <a:schemeClr val="tx1"/>
                </a:solidFill>
              </a:rPr>
              <a:t>Stacking: terbaik di kelarutan, mahal komputasi</a:t>
            </a:r>
            <a:endParaRPr lang="en-US" sz="1400" dirty="0"/>
          </a:p>
          <a:p>
            <a:pPr marL="342900" indent="-342900">
              <a:spcAft>
                <a:spcPts val="300"/>
              </a:spcAft>
              <a:buSzPct val="100000"/>
              <a:buChar char="•"/>
            </a:pPr>
            <a:r>
              <a:rPr lang="en-US" sz="1400" dirty="0">
                <a:solidFill>
                  <a:schemeClr val="tx1"/>
                </a:solidFill>
              </a:rPr>
              <a:t>Bandit: hemat label, tambah latih ulang</a:t>
            </a:r>
            <a:endParaRPr lang="en-US" sz="1400" dirty="0"/>
          </a:p>
        </p:txBody>
      </p:sp>
      <p:sp>
        <p:nvSpPr>
          <p:cNvPr id="9" name="Shape 7"/>
          <p:cNvSpPr/>
          <p:nvPr/>
        </p:nvSpPr>
        <p:spPr>
          <a:xfrm>
            <a:off x="548640" y="3794760"/>
            <a:ext cx="5410048" cy="2331720"/>
          </a:xfrm>
          <a:prstGeom prst="roundRect">
            <a:avLst>
              <a:gd name="adj" fmla="val 4706"/>
            </a:avLst>
          </a:prstGeom>
          <a:solidFill>
            <a:schemeClr val="bg2"/>
          </a:solidFill>
          <a:ln w="12700">
            <a:solidFill>
              <a:schemeClr val="bg2"/>
            </a:solidFill>
            <a:prstDash val="solid"/>
          </a:ln>
        </p:spPr>
      </p:sp>
      <p:sp>
        <p:nvSpPr>
          <p:cNvPr id="10" name="Text 8"/>
          <p:cNvSpPr txBox="1"/>
          <p:nvPr/>
        </p:nvSpPr>
        <p:spPr>
          <a:xfrm>
            <a:off x="822960"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Sumber galat</a:t>
            </a:r>
            <a:endParaRPr lang="en-US" sz="1800" dirty="0"/>
          </a:p>
        </p:txBody>
      </p:sp>
      <p:sp>
        <p:nvSpPr>
          <p:cNvPr id="11" name="Text 9"/>
          <p:cNvSpPr txBox="1"/>
          <p:nvPr/>
        </p:nvSpPr>
        <p:spPr>
          <a:xfrm>
            <a:off x="822960" y="438912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Pergeseran domain antar seri (ambien tak terkontrol)</a:t>
            </a:r>
            <a:endParaRPr lang="en-US" sz="1400" dirty="0"/>
          </a:p>
          <a:p>
            <a:pPr marL="342900" indent="-342900">
              <a:spcAft>
                <a:spcPts val="300"/>
              </a:spcAft>
              <a:buSzPct val="100000"/>
              <a:buChar char="•"/>
            </a:pPr>
            <a:r>
              <a:rPr lang="en-US" sz="1400" dirty="0">
                <a:solidFill>
                  <a:schemeClr val="tx1"/>
                </a:solidFill>
              </a:rPr>
              <a:t>Scaffold langka di data uji</a:t>
            </a:r>
            <a:endParaRPr lang="en-US" sz="1400" dirty="0"/>
          </a:p>
          <a:p>
            <a:pPr marL="342900" indent="-342900">
              <a:spcAft>
                <a:spcPts val="300"/>
              </a:spcAft>
              <a:buSzPct val="100000"/>
              <a:buChar char="•"/>
            </a:pPr>
            <a:r>
              <a:rPr lang="en-US" sz="1400" dirty="0">
                <a:solidFill>
                  <a:schemeClr val="tx1"/>
                </a:solidFill>
              </a:rPr>
              <a:t>Variasi pengukuran LogS lintas 9 sumber</a:t>
            </a:r>
            <a:endParaRPr lang="en-US" sz="1400" dirty="0"/>
          </a:p>
          <a:p>
            <a:pPr marL="342900" indent="-342900">
              <a:spcAft>
                <a:spcPts val="300"/>
              </a:spcAft>
              <a:buSzPct val="100000"/>
              <a:buChar char="•"/>
            </a:pPr>
            <a:r>
              <a:rPr lang="en-US" sz="1400" dirty="0">
                <a:solidFill>
                  <a:schemeClr val="tx1"/>
                </a:solidFill>
              </a:rPr>
              <a:t>Asumsi baseline: pemantauan mulai saat segar</a:t>
            </a:r>
            <a:endParaRPr lang="en-US" sz="1400" dirty="0"/>
          </a:p>
        </p:txBody>
      </p:sp>
      <p:sp>
        <p:nvSpPr>
          <p:cNvPr id="12" name="Shape 10"/>
          <p:cNvSpPr/>
          <p:nvPr/>
        </p:nvSpPr>
        <p:spPr>
          <a:xfrm>
            <a:off x="6233008" y="3794760"/>
            <a:ext cx="5410048" cy="2331720"/>
          </a:xfrm>
          <a:prstGeom prst="roundRect">
            <a:avLst>
              <a:gd name="adj" fmla="val 4706"/>
            </a:avLst>
          </a:prstGeom>
          <a:solidFill>
            <a:schemeClr val="bg2"/>
          </a:solidFill>
          <a:ln w="12700">
            <a:solidFill>
              <a:schemeClr val="bg2"/>
            </a:solidFill>
            <a:prstDash val="solid"/>
          </a:ln>
        </p:spPr>
      </p:sp>
      <p:sp>
        <p:nvSpPr>
          <p:cNvPr id="13" name="Text 11"/>
          <p:cNvSpPr txBox="1"/>
          <p:nvPr/>
        </p:nvSpPr>
        <p:spPr>
          <a:xfrm>
            <a:off x="6507328"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Pengembangan</a:t>
            </a:r>
            <a:endParaRPr lang="en-US" sz="1800" dirty="0"/>
          </a:p>
        </p:txBody>
      </p:sp>
      <p:sp>
        <p:nvSpPr>
          <p:cNvPr id="14" name="Text 12"/>
          <p:cNvSpPr txBox="1"/>
          <p:nvPr/>
        </p:nvSpPr>
        <p:spPr>
          <a:xfrm>
            <a:off x="6507328" y="438912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Data 16 batch Erlangga dengan pipeline yang sama</a:t>
            </a:r>
            <a:endParaRPr lang="en-US" sz="1400" dirty="0"/>
          </a:p>
          <a:p>
            <a:pPr marL="342900" indent="-342900">
              <a:spcAft>
                <a:spcPts val="300"/>
              </a:spcAft>
              <a:buSzPct val="100000"/>
              <a:buChar char="•"/>
            </a:pPr>
            <a:r>
              <a:rPr lang="en-US" sz="1400" dirty="0">
                <a:solidFill>
                  <a:schemeClr val="tx1"/>
                </a:solidFill>
              </a:rPr>
              <a:t>Uji sensor MQ4/MQ8 tambahan</a:t>
            </a:r>
            <a:endParaRPr lang="en-US" sz="1400" dirty="0"/>
          </a:p>
          <a:p>
            <a:pPr marL="342900" indent="-342900">
              <a:spcAft>
                <a:spcPts val="300"/>
              </a:spcAft>
              <a:buSzPct val="100000"/>
              <a:buChar char="•"/>
            </a:pPr>
            <a:r>
              <a:rPr lang="en-US" sz="1400" dirty="0">
                <a:solidFill>
                  <a:schemeClr val="tx1"/>
                </a:solidFill>
              </a:rPr>
              <a:t>AL tingkat batch: agen memilih sesi, bukan baris</a:t>
            </a:r>
            <a:endParaRPr lang="en-US" sz="1400" dirty="0"/>
          </a:p>
          <a:p>
            <a:pPr marL="342900" indent="-342900">
              <a:spcAft>
                <a:spcPts val="300"/>
              </a:spcAft>
              <a:buSzPct val="100000"/>
              <a:buChar char="•"/>
            </a:pPr>
            <a:r>
              <a:rPr lang="en-US" sz="1400" dirty="0">
                <a:solidFill>
                  <a:schemeClr val="tx1"/>
                </a:solidFill>
              </a:rPr>
              <a:t>Citra Rijal: hemat label = hemat telur dipecah</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548640"/>
            <a:ext cx="73152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Kesimpulan</a:t>
            </a:r>
            <a:endParaRPr lang="en-US" sz="4000" dirty="0"/>
          </a:p>
        </p:txBody>
      </p:sp>
      <p:sp>
        <p:nvSpPr>
          <p:cNvPr id="3" name="Shape 1"/>
          <p:cNvSpPr/>
          <p:nvPr/>
        </p:nvSpPr>
        <p:spPr>
          <a:xfrm>
            <a:off x="548640" y="173736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325880" y="169164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Validasi lebih menentukan daripada model</a:t>
            </a:r>
            <a:endParaRPr lang="en-US" sz="1900" dirty="0"/>
          </a:p>
        </p:txBody>
      </p:sp>
      <p:sp>
        <p:nvSpPr>
          <p:cNvPr id="6" name="Text 4"/>
          <p:cNvSpPr txBox="1"/>
          <p:nvPr/>
        </p:nvSpPr>
        <p:spPr>
          <a:xfrm>
            <a:off x="1325880" y="2103120"/>
            <a:ext cx="6583680" cy="365760"/>
          </a:xfrm>
          <a:prstGeom prst="rect">
            <a:avLst/>
          </a:prstGeom>
          <a:noFill/>
          <a:ln/>
        </p:spPr>
        <p:txBody>
          <a:bodyPr wrap="square" lIns="0" tIns="0" rIns="0" bIns="0" rtlCol="0" anchor="ctr"/>
          <a:lstStyle/>
          <a:p>
            <a:pPr indent="0" marL="0">
              <a:buNone/>
            </a:pPr>
            <a:r>
              <a:rPr lang="en-US" sz="1400" dirty="0">
                <a:solidFill>
                  <a:srgbClr val="CADBD7"/>
                </a:solidFill>
              </a:rPr>
              <a:t>Split acak 1,00 vs LOSO 0,57</a:t>
            </a:r>
            <a:endParaRPr lang="en-US" sz="1400" dirty="0"/>
          </a:p>
        </p:txBody>
      </p:sp>
      <p:sp>
        <p:nvSpPr>
          <p:cNvPr id="7" name="Shape 5"/>
          <p:cNvSpPr/>
          <p:nvPr/>
        </p:nvSpPr>
        <p:spPr>
          <a:xfrm>
            <a:off x="548640" y="274320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1325880" y="269748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Boosting kuat dan stabil; stacking menang tipis</a:t>
            </a:r>
            <a:endParaRPr lang="en-US" sz="1900" dirty="0"/>
          </a:p>
        </p:txBody>
      </p:sp>
      <p:sp>
        <p:nvSpPr>
          <p:cNvPr id="10" name="Text 8"/>
          <p:cNvSpPr txBox="1"/>
          <p:nvPr/>
        </p:nvSpPr>
        <p:spPr>
          <a:xfrm>
            <a:off x="1325880" y="3108960"/>
            <a:ext cx="6583680" cy="365760"/>
          </a:xfrm>
          <a:prstGeom prst="rect">
            <a:avLst/>
          </a:prstGeom>
          <a:noFill/>
          <a:ln/>
        </p:spPr>
        <p:txBody>
          <a:bodyPr wrap="square" lIns="0" tIns="0" rIns="0" bIns="0" rtlCol="0" anchor="ctr"/>
          <a:lstStyle/>
          <a:p>
            <a:pPr indent="0" marL="0">
              <a:buNone/>
            </a:pPr>
            <a:r>
              <a:rPr lang="en-US" sz="1400" dirty="0">
                <a:solidFill>
                  <a:srgbClr val="CADBD7"/>
                </a:solidFill>
              </a:rPr>
              <a:t>XGBoost biner 0,91 · stacking RMSE 1,22</a:t>
            </a:r>
            <a:endParaRPr lang="en-US" sz="1400" dirty="0"/>
          </a:p>
        </p:txBody>
      </p:sp>
      <p:sp>
        <p:nvSpPr>
          <p:cNvPr id="11" name="Shape 9"/>
          <p:cNvSpPr/>
          <p:nvPr/>
        </p:nvSpPr>
        <p:spPr>
          <a:xfrm>
            <a:off x="548640" y="374904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325880" y="370332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Bandit hemat label saat masalahnya kekurangan label</a:t>
            </a:r>
            <a:endParaRPr lang="en-US" sz="1900" dirty="0"/>
          </a:p>
        </p:txBody>
      </p:sp>
      <p:sp>
        <p:nvSpPr>
          <p:cNvPr id="14" name="Text 12"/>
          <p:cNvSpPr txBox="1"/>
          <p:nvPr/>
        </p:nvSpPr>
        <p:spPr>
          <a:xfrm>
            <a:off x="1325880" y="4114800"/>
            <a:ext cx="6583680" cy="365760"/>
          </a:xfrm>
          <a:prstGeom prst="rect">
            <a:avLst/>
          </a:prstGeom>
          <a:noFill/>
          <a:ln/>
        </p:spPr>
        <p:txBody>
          <a:bodyPr wrap="square" lIns="0" tIns="0" rIns="0" bIns="0" rtlCol="0" anchor="ctr"/>
          <a:lstStyle/>
          <a:p>
            <a:pPr indent="0" marL="0">
              <a:buNone/>
            </a:pPr>
            <a:r>
              <a:rPr lang="en-US" sz="1400" dirty="0">
                <a:solidFill>
                  <a:srgbClr val="CADBD7"/>
                </a:solidFill>
              </a:rPr>
              <a:t>≈ 52% lebih sedikit label di AqSolDB</a:t>
            </a:r>
            <a:endParaRPr lang="en-US" sz="1400" dirty="0"/>
          </a:p>
        </p:txBody>
      </p:sp>
      <p:sp>
        <p:nvSpPr>
          <p:cNvPr id="15" name="Shape 13"/>
          <p:cNvSpPr/>
          <p:nvPr/>
        </p:nvSpPr>
        <p:spPr>
          <a:xfrm>
            <a:off x="548640" y="475488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1325880" y="470916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Saat masalahnya domain shift, tambah batch</a:t>
            </a:r>
            <a:endParaRPr lang="en-US" sz="1900" dirty="0"/>
          </a:p>
        </p:txBody>
      </p:sp>
      <p:sp>
        <p:nvSpPr>
          <p:cNvPr id="18" name="Text 16"/>
          <p:cNvSpPr txBox="1"/>
          <p:nvPr/>
        </p:nvSpPr>
        <p:spPr>
          <a:xfrm>
            <a:off x="1325880" y="5120640"/>
            <a:ext cx="6583680" cy="365760"/>
          </a:xfrm>
          <a:prstGeom prst="rect">
            <a:avLst/>
          </a:prstGeom>
          <a:noFill/>
          <a:ln/>
        </p:spPr>
        <p:txBody>
          <a:bodyPr wrap="square" lIns="0" tIns="0" rIns="0" bIns="0" rtlCol="0" anchor="ctr"/>
          <a:lstStyle/>
          <a:p>
            <a:pPr indent="0" marL="0">
              <a:buNone/>
            </a:pPr>
            <a:r>
              <a:rPr lang="en-US" sz="1400" dirty="0">
                <a:solidFill>
                  <a:srgbClr val="CADBD7"/>
                </a:solidFill>
              </a:rPr>
              <a:t>Tidak cukup sekadar menambah baris; ini relevan untuk 16 batch Erlangga</a:t>
            </a:r>
            <a:endParaRPr lang="en-US" sz="1400" dirty="0"/>
          </a:p>
        </p:txBody>
      </p:sp>
      <p:sp>
        <p:nvSpPr>
          <p:cNvPr id="19" name="Shape 17"/>
          <p:cNvSpPr/>
          <p:nvPr/>
        </p:nvSpPr>
        <p:spPr>
          <a:xfrm>
            <a:off x="8183880" y="1691640"/>
            <a:ext cx="3459175" cy="3886200"/>
          </a:xfrm>
          <a:prstGeom prst="roundRect">
            <a:avLst>
              <a:gd name="adj" fmla="val 3172"/>
            </a:avLst>
          </a:prstGeom>
          <a:solidFill>
            <a:srgbClr val="15494A"/>
          </a:solidFill>
          <a:ln w="12700">
            <a:solidFill>
              <a:srgbClr val="15494A"/>
            </a:solidFill>
            <a:prstDash val="solid"/>
          </a:ln>
        </p:spPr>
      </p:sp>
      <p:sp>
        <p:nvSpPr>
          <p:cNvPr id="20" name="Text 18"/>
          <p:cNvSpPr txBox="1"/>
          <p:nvPr/>
        </p:nvSpPr>
        <p:spPr>
          <a:xfrm>
            <a:off x="8412480" y="1874520"/>
            <a:ext cx="3001975" cy="3566160"/>
          </a:xfrm>
          <a:prstGeom prst="rect">
            <a:avLst/>
          </a:prstGeom>
          <a:noFill/>
          <a:ln/>
        </p:spPr>
        <p:txBody>
          <a:bodyPr wrap="square" lIns="0" tIns="0" rIns="0" bIns="0" rtlCol="0" anchor="ctr"/>
          <a:lstStyle/>
          <a:p>
            <a:pPr indent="0" marL="0">
              <a:spcAft>
                <a:spcPts val="800"/>
              </a:spcAft>
              <a:buNone/>
            </a:pPr>
            <a:r>
              <a:rPr lang="en-US" sz="1700" b="1" dirty="0">
                <a:solidFill>
                  <a:schemeClr val="accent2"/>
                </a:solidFill>
              </a:rPr>
              <a:t>Langkah berikutnya</a:t>
            </a:r>
            <a:endParaRPr lang="en-US" sz="1400" dirty="0"/>
          </a:p>
          <a:p>
            <a:pPr marL="342900" indent="-342900">
              <a:spcAft>
                <a:spcPts val="800"/>
              </a:spcAft>
              <a:buSzPct val="100000"/>
              <a:buChar char="•"/>
            </a:pPr>
            <a:r>
              <a:rPr lang="en-US" sz="1400" dirty="0">
                <a:solidFill>
                  <a:schemeClr val="bg1"/>
                </a:solidFill>
              </a:rPr>
              <a:t>Erlangga: ambil 16 batch, jalankan GroupKFold per batch</a:t>
            </a:r>
            <a:endParaRPr lang="en-US" sz="1400" dirty="0"/>
          </a:p>
          <a:p>
            <a:pPr marL="342900" indent="-342900">
              <a:spcAft>
                <a:spcPts val="800"/>
              </a:spcAft>
              <a:buSzPct val="100000"/>
              <a:buChar char="•"/>
            </a:pPr>
            <a:r>
              <a:rPr lang="en-US" sz="1400" dirty="0">
                <a:solidFill>
                  <a:schemeClr val="bg1"/>
                </a:solidFill>
              </a:rPr>
              <a:t>Michael: fingerprint + domain shift scaffold</a:t>
            </a:r>
            <a:endParaRPr lang="en-US" sz="1400" dirty="0"/>
          </a:p>
          <a:p>
            <a:pPr marL="342900" indent="-342900">
              <a:spcAft>
                <a:spcPts val="800"/>
              </a:spcAft>
              <a:buSzPct val="100000"/>
              <a:buChar char="•"/>
            </a:pPr>
            <a:r>
              <a:rPr lang="en-US" sz="1400" dirty="0">
                <a:solidFill>
                  <a:schemeClr val="bg1"/>
                </a:solidFill>
              </a:rPr>
              <a:t>Rijal: citra pilot → embedding → bandit AL</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Referensi</a:t>
            </a:r>
            <a:endParaRPr lang="en-US" sz="3200" dirty="0"/>
          </a:p>
        </p:txBody>
      </p:sp>
      <p:sp>
        <p:nvSpPr>
          <p:cNvPr id="3" name="Text 1"/>
          <p:cNvSpPr txBox="1"/>
          <p:nvPr/>
        </p:nvSpPr>
        <p:spPr>
          <a:xfrm>
            <a:off x="548640" y="1234440"/>
            <a:ext cx="11094415" cy="49377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Hsu, W.-N., &amp; Lin, H.-T. (2015). Active learning by learning. Proc. AAAI, 29(1).</a:t>
            </a:r>
            <a:endParaRPr lang="en-US" sz="1300" dirty="0"/>
          </a:p>
          <a:p>
            <a:pPr indent="0" marL="0">
              <a:spcAft>
                <a:spcPts val="600"/>
              </a:spcAft>
              <a:buNone/>
            </a:pPr>
            <a:r>
              <a:rPr lang="en-US" sz="1300" dirty="0">
                <a:solidFill>
                  <a:schemeClr val="tx1"/>
                </a:solidFill>
              </a:rPr>
              <a:t>Sorkun, M. C., Khetan, A., &amp; Er, S. (2019). AqSolDB, a curated reference set of aqueous solubility and 2D descriptors. Scientific Data, 6, 143.</a:t>
            </a:r>
            <a:endParaRPr lang="en-US" sz="1300" dirty="0"/>
          </a:p>
          <a:p>
            <a:pPr indent="0" marL="0">
              <a:spcAft>
                <a:spcPts val="600"/>
              </a:spcAft>
              <a:buNone/>
            </a:pPr>
            <a:r>
              <a:rPr lang="en-US" sz="1300" dirty="0">
                <a:solidFill>
                  <a:schemeClr val="tx1"/>
                </a:solidFill>
              </a:rPr>
              <a:t>Wijaya, D. R., Sarno, R., &amp; Zulaika, E. (2018). Electronic nose dataset for beef quality monitoring in uncontrolled ambient conditions. Data in Brief, 21, 2414–2420.</a:t>
            </a:r>
            <a:endParaRPr lang="en-US" sz="1300" dirty="0"/>
          </a:p>
          <a:p>
            <a:pPr indent="0" marL="0">
              <a:spcAft>
                <a:spcPts val="600"/>
              </a:spcAft>
              <a:buNone/>
            </a:pPr>
            <a:r>
              <a:rPr lang="en-US" sz="1300" dirty="0">
                <a:solidFill>
                  <a:schemeClr val="tx1"/>
                </a:solidFill>
              </a:rPr>
              <a:t>Bemis, G. W., &amp; Murcko, M. A. (1996). The properties of known drugs. 1. Molecular frameworks. J. Med. Chem., 39(15), 2887–2893.</a:t>
            </a:r>
            <a:endParaRPr lang="en-US" sz="1300" dirty="0"/>
          </a:p>
          <a:p>
            <a:pPr indent="0" marL="0">
              <a:spcAft>
                <a:spcPts val="600"/>
              </a:spcAft>
              <a:buNone/>
            </a:pPr>
            <a:r>
              <a:rPr lang="en-US" sz="1300" dirty="0">
                <a:solidFill>
                  <a:schemeClr val="tx1"/>
                </a:solidFill>
              </a:rPr>
              <a:t>Chawla, N. V., dkk. (2002). SMOTE: Synthetic minority over-sampling technique. JAIR, 16, 321–357.</a:t>
            </a:r>
            <a:endParaRPr lang="en-US" sz="1300" dirty="0"/>
          </a:p>
          <a:p>
            <a:pPr indent="0" marL="0">
              <a:spcAft>
                <a:spcPts val="600"/>
              </a:spcAft>
              <a:buNone/>
            </a:pPr>
            <a:r>
              <a:rPr lang="en-US" sz="1300" dirty="0">
                <a:solidFill>
                  <a:schemeClr val="tx1"/>
                </a:solidFill>
              </a:rPr>
              <a:t>Akiba, T., dkk. (2019). Optuna: A next-generation hyperparameter optimization framework. Proc. KDD.</a:t>
            </a:r>
            <a:endParaRPr lang="en-US" sz="1300" dirty="0"/>
          </a:p>
          <a:p>
            <a:pPr indent="0" marL="0">
              <a:spcAft>
                <a:spcPts val="600"/>
              </a:spcAft>
              <a:buNone/>
            </a:pPr>
            <a:r>
              <a:rPr lang="en-US" sz="1300" dirty="0">
                <a:solidFill>
                  <a:schemeClr val="tx1"/>
                </a:solidFill>
              </a:rPr>
              <a:t>Chen, T., &amp; Guestrin, C. (2016). XGBoost: A scalable tree boosting system. Proc. KDD.</a:t>
            </a:r>
            <a:endParaRPr lang="en-US" sz="1300" dirty="0"/>
          </a:p>
          <a:p>
            <a:pPr indent="0" marL="0">
              <a:spcAft>
                <a:spcPts val="600"/>
              </a:spcAft>
              <a:buNone/>
            </a:pPr>
            <a:r>
              <a:rPr lang="en-US" sz="1300" dirty="0">
                <a:solidFill>
                  <a:schemeClr val="tx1"/>
                </a:solidFill>
              </a:rPr>
              <a:t>Lundberg, S. M., &amp; Lee, S.-I. (2017). A unified approach to interpreting model predictions. NeurIPS 30.</a:t>
            </a:r>
            <a:endParaRPr lang="en-US" sz="1300" dirty="0"/>
          </a:p>
          <a:p>
            <a:pPr indent="0" marL="0">
              <a:spcAft>
                <a:spcPts val="600"/>
              </a:spcAft>
              <a:buNone/>
            </a:pPr>
            <a:r>
              <a:rPr lang="en-US" sz="1300" dirty="0">
                <a:solidFill>
                  <a:schemeClr val="tx1"/>
                </a:solidFill>
              </a:rPr>
              <a:t>Auer, P., Cesa-Bianchi, N., &amp; Fischer, P. (2002). Finite-time analysis of the multiarmed bandit problem. Machine Learning, 47, 235–256.</a:t>
            </a:r>
            <a:endParaRPr lang="en-US" sz="1300" dirty="0"/>
          </a:p>
          <a:p>
            <a:pPr indent="0" marL="0">
              <a:spcAft>
                <a:spcPts val="600"/>
              </a:spcAft>
              <a:buNone/>
            </a:pPr>
            <a:r>
              <a:rPr lang="en-US" sz="1300" dirty="0">
                <a:solidFill>
                  <a:schemeClr val="tx1"/>
                </a:solidFill>
              </a:rPr>
              <a:t>Materi kuliah Machine Learning II: Ensemble_Learning.pptx, reinforcement.pptx (github.com/jendralhxr/machinelearning).</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Label Mahal">
  <a:themeElements>
    <a:clrScheme name="Label Mahal">
      <a:dk1>
        <a:srgbClr val="16262B"/>
      </a:dk1>
      <a:lt1>
        <a:srgbClr val="FFFFFF"/>
      </a:lt1>
      <a:dk2>
        <a:srgbClr val="0F3D3E"/>
      </a:dk2>
      <a:lt2>
        <a:srgbClr val="EEF4F2"/>
      </a:lt2>
      <a:accent1>
        <a:srgbClr val="0F5257"/>
      </a:accent1>
      <a:accent2>
        <a:srgbClr val="E3A33B"/>
      </a:accent2>
      <a:accent3>
        <a:srgbClr val="9AA5A6"/>
      </a:accent3>
      <a:accent4>
        <a:srgbClr val="C4553B"/>
      </a:accent4>
      <a:accent5>
        <a:srgbClr val="6C8F7D"/>
      </a:accent5>
      <a:accent6>
        <a:srgbClr val="2E6F95"/>
      </a:accent6>
      <a:hlink>
        <a:srgbClr val="2E6F95"/>
      </a:hlink>
      <a:folHlink>
        <a:srgbClr val="6C8F7D"/>
      </a:folHlink>
    </a:clrScheme>
    <a:fontScheme name="Label Mah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Belajar dengan Label Mahal</dc:title>
  <dc:subject>PptxGenJS Presentation</dc:subject>
  <dc:creator>Kelompok ETS ML II</dc:creator>
  <cp:lastModifiedBy>Kelompok ETS ML II</cp:lastModifiedBy>
  <cp:revision>1</cp:revision>
  <dcterms:created xsi:type="dcterms:W3CDTF">2026-10-20T13:12:39Z</dcterms:created>
  <dcterms:modified xsi:type="dcterms:W3CDTF">2026-10-20T13:12:39Z</dcterms:modified>
</cp:coreProperties>
</file>