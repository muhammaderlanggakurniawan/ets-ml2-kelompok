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rlangga: latar belakang, data, wrangling" id="{30cefaf1-f396-c85b-c464-b630bbc3b186}">
          <p14:sldIdLst>
            <p14:sldId id="256"/>
            <p14:sldId id="257"/>
            <p14:sldId id="258"/>
            <p14:sldId id="259"/>
          </p14:sldIdLst>
        </p14:section>
        <p14:section name="Michael: validasi, ensemble, augmentasi" id="{df31cf36-4596-12a4-f7cc-ed34db11e178}">
          <p14:sldIdLst>
            <p14:sldId id="260"/>
            <p14:sldId id="261"/>
            <p14:sldId id="262"/>
          </p14:sldIdLst>
        </p14:section>
        <p14:section name="Rijal: reinforcement, analisis, simpulan" id="{d3872765-2150-9653-a859-355122a86fc3}">
          <p14:sldIdLst>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[Erlangga] Selamat pagi. Kami kelompok Erlangga, Michael, dan Rijal. Judul proyek kami: Klasifikasi Kesegaran Daging Ayam Berbasis Ensemble dan Reinforcement Learning. Kami menggunakan satu dataset dan tiga aspek Machine Learning II: data augmentation, ensemble learning, dan reinforcement learning. Saya membuka dengan latar belakang, dataset, dan data wrangling. Michael menjelaskan skema validasi, ensemble learning, dan data augmentation. Rijal menjelaskan reinforcement learning, hasil dan analisis, serta simpulan.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[Erlangga] Daging ayam yang mulai busuk menghasilkan senyawa volatil seperti amonia. Sensor gas seri MQ dapat mendeteksi senyawa tersebut, dan rangkaian beberapa sensor gas disebut electronic nose atau e-nose. Pertanyaan kami: dari data sensor saja, dapatkah machine learning mengklasifikasikan daging ayam sebagai Fresh, Semi-fresh, atau Spoiled? Topik ini merupakan irisan skripsi kami: saya meneliti kesegaran makanan dengan sensor MQ-135, Rijal meneliti mutu produk unggas yaitu kuning telur puyuh, dan Michael menggunakan gradient boosting atau XGBoost yang kami pakai pada bagian ensemble. Manfaatnya: pengujian kesegaran yang cepat, murah, dan tidak merusak sampel.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[Erlangga] Alur kerja kami terdiri dari lima tahap. Akuisisi: data diunduh dari repositori penulis dan diverifikasi dengan SHA-256. Data wrangling: data diringkas dan diubah menjadi fitur. Pemodelan: kami membandingkan model tunggal dengan ensemble. Validasi: model selalu diuji pada sesi yang tidak dipakai saat pelatihan, yaitu Leave-One-Session-Out. Terakhir, agen reinforcement learning memilih keputusan. Datanya satu dataset: e-nose daging ayam dari Anwar dan Anwar 2025, 15 sesi rekaman dengan 218.318 baris dari tujuh sensor. Labelnya dibuat dari lama penyimpanan. Distribusi kelasnya seimbang, sehingga SMOTE tidak diperlukan.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[Erlangga] Data wrangling terdiri dari tiga langkah. Pertama, sensor membaca sekitar 12 kali per menit, sehingga kami melakukan agregasi per 5 menit: 218.318 baris menjadi 3.828 segmen. Kedua, dua jam pertama merupakan periode warm-up karena sensor perlu stabil, dan rata-rata jam pertama dipakai sebagai baseline. Ketiga, kami membuat 19 fitur: log-level gas, proporsi relatif antar sensor, dan perubahan terhadap baseline, yang analog dengan Rs per R0 di skripsi saya. Grafik di kanan menunjukkan efeknya: F1-macro Random Forest naik dari 0,681 menjadi 0,782. Satu hal penting: variabel waktu tidak kami jadikan fitur, karena label dibuat dari waktu; jika dipakai akan terjadi data leakage. Selanjutnya Michael.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[Michael] Terima kasih Erlangga. Sebelum membandingkan model, kami menentukan skema validasi. Dengan random split, Random Forest mendapat akurasi 96,9%, hampir sempurna. Namun jika diuji pada sesi yang tidak dipakai saat pelatihan, akurasinya 77,6%. Penyebabnya, segmen 5 menit yang berurutan isinya hampir sama, sehingga pada random split segmen dari sesi yang sama masuk ke data latih dan data uji sekaligus. Kondisi ini disebut data leakage. Paper aslinya menemukan hal serupa: 100 persen dengan random split dan 69 persen dengan pembagian non-acak. Karena itu kami memakai Leave-One-Session-Out: satu sesi dijadikan data uji, model dilatih dengan 14 sesi lainnya, dan diulang 15 kali.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[Michael] Ini bagian ensemble learning, yaitu penggabungan beberapa model agar prediksi lebih akurat dan stabil. Kami membandingkan tiga model tunggal, yaitu Logistic Regression, KNN, dan Decision Tree, dengan tiga ensemble. Random Forest menggabungkan 300 pohon lalu voting. XGBoost membangun pohon secara berurutan, dan setiap pohon memperbaiki kesalahan pohon sebelumnya. Soft Voting merata-ratakan probabilitas dari tiga model berbeda. Hasilnya, ketiga ensemble berada di atas seluruh model tunggal. Terbaik Random Forest dengan F1-macro 0,782, sedangkan model tunggal terbaik KNN 0,736. Perbandingan paling adil adalah Random Forest 0,782 dan Decision Tree 0,713, dengan kedalaman pohon yang sama; perbedaannya hanya satu pohon dibanding 300 pohon. Hyperparameter seluruh model ditetapkan sejak awal dan tidak di-tuning menggunakan data uji.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[Michael] Terakhir dari saya: data augmentation. Data kami hanya 15 sesi, padahal sensor pada alat lain dapat berbeda sensitivitas dan noise-nya. Kami membuat data latih sintetis dengan dua teknik. Gaussian noise jittering menambahkan derau acak kecil. Simulasi variasi sensitivitas mengalikan bacaan tiap sensor sekitar plus minus 30 persen, seolah-olah berasal dari alat lain. Augmentasi hanya diterapkan pada data latih, sedangkan data uji selalu asli. Hasilnya, performa tidak meningkat: Random Forest turun sedikit, dan Decision Tree hanya naik tipis dengan variasi sensitivitas. Artinya, variasi sintetis belum mewakili variasi nyata antar sesi. Rijal akan menunjukkan bahwa penambahan sesi asli jauh lebih efektif. Selanjutnya Rijal.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[Rijal] Terima kasih Michael. Bagian saya reinforcement learning. Tujuan sistem kami tidak hanya mengklasifikasikan, tetapi juga mengambil keputusan: jual, cek manual, atau buang. Agen belajar melalui trial and error. State-nya adalah prediksi Random Forest ditambah tingkat keyakinan model, yakin atau ragu, sehingga ada enam state. Aksinya tiga. Reward-nya dari tabel ini, berdasarkan asumsi risiko: menjual ayam busuk paling berbahaya, sehingga diberi minus lima. Cek manual selalu aman tetapi membutuhkan biaya. Agen memakai epsilon-greedy: 90 persen memilih aksi terbaik, 10 persen mencoba aksi acak, dan nilai setiap aksi diperbarui dengan rata-rata reward, sesuai materi multi-armed bandit. Hasilnya, agen menemukan kebijakan sendiri: prediksi Fresh dijual, Semi-fresh dicek manual, Spoiled yang yakin dibuang, dan Spoiled yang ragu dicek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[Rijal] Rubrik reinforcement menanyakan bagaimana penambahan iterasi dan data meningkatkan performa. Grafik kiri: penambahan iterasi. Di awal agen belum memiliki pengetahuan, reward-nya -0,80. Setelah 100 iterasi menjadi 0,53, lalu stabil di 0,61. Ini lebih baik dari selalu mengikuti prediksi model (0,44) maupun selalu cek manual (0,50). Agen dievaluasi pada sesi yang tidak dipakai untuk belajar. Grafik kanan: penambahan data. Jika Random Forest dilatih dengan 1 sesi, F1-macro-nya 0,58. Dengan 14 sesi naik menjadi 0,75. Jadi penambahan sesi asli meningkatkan performa, berbeda dengan data sintetis pada bagian augmentasi.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[Rijal] Hasil dan analisis. Batasan: hanya 15 sesi, label berdasarkan lama penyimpanan bukan uji laboratorium, dan nilai reward merupakan asumsi. Trade-off: cek manual lebih aman tetapi membutuhkan biaya; ambang keyakinan yang lebih tinggi membuat lebih banyak kasus dicek manual; ensemble lebih akurat tetapi lebih sulit diinterpretasikan. Sumber galat: kelas Semi-fresh paling sulit karena berada di antara dua kelas lain, level gas antar sesi sangat berbeda, dan akurasi sesi terburuk hanya 55,3%. Celah pengembangan: pipeline ini dapat diterapkan pada 16 batch data skripsi Erlangga, label sebaiknya dari uji laboratorium, dan sensor MQ-7 dan MQ-3 paling berpengaruh, sedangkan MQ-135 peringkat ke-4.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[Rijal] Simpulan kami ada empat. Pertama, skema validasi menentukan keandalan hasil: random split 96,9% terdampak data leakage, sedangkan LOSO 77,6% memberi estimasi yang realistis. Kedua, data wrangling memberi peningkatan terbesar: fitur relatif terhadap baseline menaikkan F1-macro Random Forest dari 0,681 menjadi 0,782. Ketiga, ensemble learning mengungguli model tunggal. Keempat, agen reinforcement learning menghasilkan keputusan yang lebih aman dibanding sekadar mengikuti prediksi model, dan penambahan sesi asli lebih efektif daripada data sintetis. Seluruh kode dan notebook tersedia di GitHub. Terima kasih, kami persilakan untuk bertanya.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3D3E"/>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BD7"/>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8A8C"/>
                </a:solidFill>
              </a:rPr>
              <a:t>ETS Machine Learning II · Klasifikasi Kesegaran Daging Ayam</a:t>
            </a:r>
            <a:endParaRPr lang="en-US" sz="1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BD7"/>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86868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MACHINE LEARNING II · EVALUASI TENGAH SEMESTER</a:t>
            </a:r>
            <a:endParaRPr lang="en-US" sz="1200" dirty="0"/>
          </a:p>
        </p:txBody>
      </p:sp>
      <p:sp>
        <p:nvSpPr>
          <p:cNvPr id="3" name="Text 1"/>
          <p:cNvSpPr txBox="1"/>
          <p:nvPr/>
        </p:nvSpPr>
        <p:spPr>
          <a:xfrm>
            <a:off x="548640" y="1234440"/>
            <a:ext cx="10607040" cy="210312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Klasifikasi Kesegaran Daging Ayam</a:t>
            </a:r>
            <a:endParaRPr lang="en-US" sz="4000" dirty="0"/>
          </a:p>
          <a:p>
            <a:pPr indent="0" marL="0">
              <a:buNone/>
            </a:pPr>
            <a:r>
              <a:rPr lang="en-US" sz="4000" b="1" dirty="0">
                <a:solidFill>
                  <a:schemeClr val="bg1"/>
                </a:solidFill>
                <a:latin typeface="Cambria" pitchFamily="34" charset="0"/>
                <a:ea typeface="Cambria" pitchFamily="34" charset="-122"/>
                <a:cs typeface="Cambria" pitchFamily="34" charset="-120"/>
              </a:rPr>
              <a:t>Berbasis Ensemble dan</a:t>
            </a:r>
            <a:endParaRPr lang="en-US" sz="4000" dirty="0"/>
          </a:p>
          <a:p>
            <a:pPr indent="0" marL="0">
              <a:buNone/>
            </a:pPr>
            <a:r>
              <a:rPr lang="en-US" sz="4000" b="1" dirty="0">
                <a:solidFill>
                  <a:schemeClr val="bg1"/>
                </a:solidFill>
                <a:latin typeface="Cambria" pitchFamily="34" charset="0"/>
                <a:ea typeface="Cambria" pitchFamily="34" charset="-122"/>
                <a:cs typeface="Cambria" pitchFamily="34" charset="-120"/>
              </a:rPr>
              <a:t>Reinforcement Learning</a:t>
            </a:r>
            <a:endParaRPr lang="en-US" sz="4000" dirty="0"/>
          </a:p>
        </p:txBody>
      </p:sp>
      <p:sp>
        <p:nvSpPr>
          <p:cNvPr id="4" name="Text 2"/>
          <p:cNvSpPr txBox="1"/>
          <p:nvPr/>
        </p:nvSpPr>
        <p:spPr>
          <a:xfrm>
            <a:off x="548640" y="3474720"/>
            <a:ext cx="9601200" cy="731520"/>
          </a:xfrm>
          <a:prstGeom prst="rect">
            <a:avLst/>
          </a:prstGeom>
          <a:noFill/>
          <a:ln/>
        </p:spPr>
        <p:txBody>
          <a:bodyPr wrap="square" lIns="0" tIns="0" rIns="0" bIns="0" rtlCol="0" anchor="ctr"/>
          <a:lstStyle/>
          <a:p>
            <a:pPr indent="0" marL="0">
              <a:buNone/>
            </a:pPr>
            <a:r>
              <a:rPr lang="en-US" sz="1900" dirty="0">
                <a:solidFill>
                  <a:srgbClr val="CADBD7"/>
                </a:solidFill>
              </a:rPr>
              <a:t>Studi kasus data electronic nose · tiga aspek ML II: data augmentation, ensemble learning, dan reinforcement learning</a:t>
            </a:r>
            <a:endParaRPr lang="en-US" sz="1900" dirty="0"/>
          </a:p>
        </p:txBody>
      </p:sp>
      <p:sp>
        <p:nvSpPr>
          <p:cNvPr id="5" name="Text 3"/>
          <p:cNvSpPr txBox="1"/>
          <p:nvPr/>
        </p:nvSpPr>
        <p:spPr>
          <a:xfrm>
            <a:off x="548640" y="4526280"/>
            <a:ext cx="7315200" cy="1097280"/>
          </a:xfrm>
          <a:prstGeom prst="rect">
            <a:avLst/>
          </a:prstGeom>
          <a:noFill/>
          <a:ln/>
        </p:spPr>
        <p:txBody>
          <a:bodyPr wrap="square" lIns="0" tIns="0" rIns="0" bIns="0" rtlCol="0" anchor="ctr"/>
          <a:lstStyle/>
          <a:p>
            <a:pPr indent="0" marL="0">
              <a:spcAft>
                <a:spcPts val="400"/>
              </a:spcAft>
              <a:buNone/>
            </a:pPr>
            <a:r>
              <a:rPr lang="en-US" sz="1500" dirty="0">
                <a:solidFill>
                  <a:schemeClr val="bg1"/>
                </a:solidFill>
              </a:rPr>
              <a:t>Muhammad Erlangga Kurniawan · 23083010045</a:t>
            </a:r>
            <a:endParaRPr lang="en-US" sz="1500" dirty="0"/>
          </a:p>
          <a:p>
            <a:pPr indent="0" marL="0">
              <a:spcAft>
                <a:spcPts val="400"/>
              </a:spcAft>
              <a:buNone/>
            </a:pPr>
            <a:r>
              <a:rPr lang="en-US" sz="1500" dirty="0">
                <a:solidFill>
                  <a:schemeClr val="bg1"/>
                </a:solidFill>
              </a:rPr>
              <a:t>Michael Valencio Erasmo Bagas Ganendra · 23083010042</a:t>
            </a:r>
            <a:endParaRPr lang="en-US" sz="1500" dirty="0"/>
          </a:p>
          <a:p>
            <a:pPr indent="0" marL="0">
              <a:spcAft>
                <a:spcPts val="400"/>
              </a:spcAft>
              <a:buNone/>
            </a:pPr>
            <a:r>
              <a:rPr lang="en-US" sz="1500" dirty="0">
                <a:solidFill>
                  <a:schemeClr val="bg1"/>
                </a:solidFill>
              </a:rPr>
              <a:t>Rijal Apuila Khufi · 23083010033</a:t>
            </a:r>
            <a:endParaRPr lang="en-US" sz="1500" dirty="0"/>
          </a:p>
        </p:txBody>
      </p:sp>
      <p:sp>
        <p:nvSpPr>
          <p:cNvPr id="6" name="Text 4"/>
          <p:cNvSpPr txBox="1"/>
          <p:nvPr/>
        </p:nvSpPr>
        <p:spPr>
          <a:xfrm>
            <a:off x="548640" y="5989320"/>
            <a:ext cx="10058400" cy="365760"/>
          </a:xfrm>
          <a:prstGeom prst="rect">
            <a:avLst/>
          </a:prstGeom>
          <a:noFill/>
          <a:ln/>
        </p:spPr>
        <p:txBody>
          <a:bodyPr wrap="square" lIns="0" tIns="0" rIns="0" bIns="0" rtlCol="0" anchor="ctr"/>
          <a:lstStyle/>
          <a:p>
            <a:pPr indent="0" marL="0">
              <a:buNone/>
            </a:pPr>
            <a:r>
              <a:rPr lang="en-US" sz="1200" dirty="0">
                <a:solidFill>
                  <a:srgbClr val="9FB8B3"/>
                </a:solidFill>
              </a:rPr>
              <a:t>Program Studi Sains Data · UPN "Veteran" Jawa Timur · Oktober 2026</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BD7"/>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Latar Belakang</a:t>
            </a:r>
            <a:endParaRPr lang="en-US" sz="3000" dirty="0"/>
          </a:p>
        </p:txBody>
      </p:sp>
      <p:sp>
        <p:nvSpPr>
          <p:cNvPr id="3" name="Shape 1"/>
          <p:cNvSpPr/>
          <p:nvPr/>
        </p:nvSpPr>
        <p:spPr>
          <a:xfrm>
            <a:off x="9814255" y="502920"/>
            <a:ext cx="182880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814255" y="502920"/>
            <a:ext cx="1828800" cy="411480"/>
          </a:xfrm>
          <a:prstGeom prst="rect">
            <a:avLst/>
          </a:prstGeom>
          <a:noFill/>
          <a:ln/>
        </p:spPr>
        <p:txBody>
          <a:bodyPr wrap="square" lIns="0" tIns="0" rIns="0" bIns="0" rtlCol="0" anchor="ctr"/>
          <a:lstStyle/>
          <a:p>
            <a:pPr algn="ctr" indent="0" marL="0">
              <a:buNone/>
            </a:pPr>
            <a:r>
              <a:rPr lang="en-US" sz="1200" b="1" dirty="0">
                <a:solidFill>
                  <a:schemeClr val="accent1"/>
                </a:solidFill>
              </a:rPr>
              <a:t>Pembicara: Erlangga</a:t>
            </a:r>
            <a:endParaRPr lang="en-US" sz="1200" dirty="0"/>
          </a:p>
        </p:txBody>
      </p:sp>
      <p:sp>
        <p:nvSpPr>
          <p:cNvPr id="5" name="Shape 3"/>
          <p:cNvSpPr/>
          <p:nvPr/>
        </p:nvSpPr>
        <p:spPr>
          <a:xfrm>
            <a:off x="548640" y="1280160"/>
            <a:ext cx="5760720" cy="3794760"/>
          </a:xfrm>
          <a:prstGeom prst="roundRect">
            <a:avLst>
              <a:gd name="adj" fmla="val 2892"/>
            </a:avLst>
          </a:prstGeom>
          <a:solidFill>
            <a:schemeClr val="tx2"/>
          </a:solidFill>
          <a:ln w="12700">
            <a:solidFill>
              <a:schemeClr val="tx2"/>
            </a:solidFill>
            <a:prstDash val="solid"/>
          </a:ln>
        </p:spPr>
      </p:sp>
      <p:sp>
        <p:nvSpPr>
          <p:cNvPr id="6" name="Text 4"/>
          <p:cNvSpPr txBox="1"/>
          <p:nvPr/>
        </p:nvSpPr>
        <p:spPr>
          <a:xfrm>
            <a:off x="868680" y="1508760"/>
            <a:ext cx="512064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PERMASALAHAN</a:t>
            </a:r>
            <a:endParaRPr lang="en-US" sz="1200" dirty="0"/>
          </a:p>
        </p:txBody>
      </p:sp>
      <p:sp>
        <p:nvSpPr>
          <p:cNvPr id="7" name="Shape 5"/>
          <p:cNvSpPr/>
          <p:nvPr/>
        </p:nvSpPr>
        <p:spPr>
          <a:xfrm>
            <a:off x="868680" y="1965960"/>
            <a:ext cx="438912" cy="438912"/>
          </a:xfrm>
          <a:prstGeom prst="ellipse">
            <a:avLst/>
          </a:prstGeom>
          <a:solidFill>
            <a:schemeClr val="accent2"/>
          </a:solidFill>
          <a:ln w="12700">
            <a:solidFill>
              <a:schemeClr val="accent2"/>
            </a:solidFill>
            <a:prstDash val="solid"/>
          </a:ln>
        </p:spPr>
      </p:sp>
      <p:sp>
        <p:nvSpPr>
          <p:cNvPr id="8" name="Text 6"/>
          <p:cNvSpPr txBox="1"/>
          <p:nvPr/>
        </p:nvSpPr>
        <p:spPr>
          <a:xfrm>
            <a:off x="868680" y="1965960"/>
            <a:ext cx="438912" cy="438912"/>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9" name="Text 7"/>
          <p:cNvSpPr txBox="1"/>
          <p:nvPr/>
        </p:nvSpPr>
        <p:spPr>
          <a:xfrm>
            <a:off x="1463040" y="1920240"/>
            <a:ext cx="4572000" cy="365760"/>
          </a:xfrm>
          <a:prstGeom prst="rect">
            <a:avLst/>
          </a:prstGeom>
          <a:noFill/>
          <a:ln/>
        </p:spPr>
        <p:txBody>
          <a:bodyPr wrap="square" lIns="0" tIns="0" rIns="0" bIns="0" rtlCol="0" anchor="ctr"/>
          <a:lstStyle/>
          <a:p>
            <a:pPr indent="0" marL="0">
              <a:buNone/>
            </a:pPr>
            <a:r>
              <a:rPr lang="en-US" sz="1600" b="1" dirty="0">
                <a:solidFill>
                  <a:schemeClr val="bg1"/>
                </a:solidFill>
              </a:rPr>
              <a:t>Daging ayam yang membusuk menghasilkan senyawa volatil</a:t>
            </a:r>
            <a:endParaRPr lang="en-US" sz="1600" dirty="0"/>
          </a:p>
        </p:txBody>
      </p:sp>
      <p:sp>
        <p:nvSpPr>
          <p:cNvPr id="10" name="Text 8"/>
          <p:cNvSpPr txBox="1"/>
          <p:nvPr/>
        </p:nvSpPr>
        <p:spPr>
          <a:xfrm>
            <a:off x="1463040" y="2304288"/>
            <a:ext cx="4572000" cy="365760"/>
          </a:xfrm>
          <a:prstGeom prst="rect">
            <a:avLst/>
          </a:prstGeom>
          <a:noFill/>
          <a:ln/>
        </p:spPr>
        <p:txBody>
          <a:bodyPr wrap="square" lIns="0" tIns="0" rIns="0" bIns="0" rtlCol="0" anchor="ctr"/>
          <a:lstStyle/>
          <a:p>
            <a:pPr indent="0" marL="0">
              <a:buNone/>
            </a:pPr>
            <a:r>
              <a:rPr lang="en-US" sz="1300" dirty="0">
                <a:solidFill>
                  <a:srgbClr val="CADBD7"/>
                </a:solidFill>
              </a:rPr>
              <a:t>seperti amonia (NH₃) dan senyawa organik volatil (VOC)</a:t>
            </a:r>
            <a:endParaRPr lang="en-US" sz="1300" dirty="0"/>
          </a:p>
        </p:txBody>
      </p:sp>
      <p:sp>
        <p:nvSpPr>
          <p:cNvPr id="11" name="Shape 9"/>
          <p:cNvSpPr/>
          <p:nvPr/>
        </p:nvSpPr>
        <p:spPr>
          <a:xfrm>
            <a:off x="868680" y="2971800"/>
            <a:ext cx="438912" cy="438912"/>
          </a:xfrm>
          <a:prstGeom prst="ellipse">
            <a:avLst/>
          </a:prstGeom>
          <a:solidFill>
            <a:schemeClr val="accent2"/>
          </a:solidFill>
          <a:ln w="12700">
            <a:solidFill>
              <a:schemeClr val="accent2"/>
            </a:solidFill>
            <a:prstDash val="solid"/>
          </a:ln>
        </p:spPr>
      </p:sp>
      <p:sp>
        <p:nvSpPr>
          <p:cNvPr id="12" name="Text 10"/>
          <p:cNvSpPr txBox="1"/>
          <p:nvPr/>
        </p:nvSpPr>
        <p:spPr>
          <a:xfrm>
            <a:off x="868680" y="2971800"/>
            <a:ext cx="438912" cy="438912"/>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3" name="Text 11"/>
          <p:cNvSpPr txBox="1"/>
          <p:nvPr/>
        </p:nvSpPr>
        <p:spPr>
          <a:xfrm>
            <a:off x="1463040" y="2926080"/>
            <a:ext cx="4572000" cy="365760"/>
          </a:xfrm>
          <a:prstGeom prst="rect">
            <a:avLst/>
          </a:prstGeom>
          <a:noFill/>
          <a:ln/>
        </p:spPr>
        <p:txBody>
          <a:bodyPr wrap="square" lIns="0" tIns="0" rIns="0" bIns="0" rtlCol="0" anchor="ctr"/>
          <a:lstStyle/>
          <a:p>
            <a:pPr indent="0" marL="0">
              <a:buNone/>
            </a:pPr>
            <a:r>
              <a:rPr lang="en-US" sz="1600" b="1" dirty="0">
                <a:solidFill>
                  <a:schemeClr val="bg1"/>
                </a:solidFill>
              </a:rPr>
              <a:t>Sensor gas seri MQ dapat mendeteksi senyawa tersebut</a:t>
            </a:r>
            <a:endParaRPr lang="en-US" sz="1600" dirty="0"/>
          </a:p>
        </p:txBody>
      </p:sp>
      <p:sp>
        <p:nvSpPr>
          <p:cNvPr id="14" name="Text 12"/>
          <p:cNvSpPr txBox="1"/>
          <p:nvPr/>
        </p:nvSpPr>
        <p:spPr>
          <a:xfrm>
            <a:off x="1463040" y="3310128"/>
            <a:ext cx="4572000" cy="365760"/>
          </a:xfrm>
          <a:prstGeom prst="rect">
            <a:avLst/>
          </a:prstGeom>
          <a:noFill/>
          <a:ln/>
        </p:spPr>
        <p:txBody>
          <a:bodyPr wrap="square" lIns="0" tIns="0" rIns="0" bIns="0" rtlCol="0" anchor="ctr"/>
          <a:lstStyle/>
          <a:p>
            <a:pPr indent="0" marL="0">
              <a:buNone/>
            </a:pPr>
            <a:r>
              <a:rPr lang="en-US" sz="1300" dirty="0">
                <a:solidFill>
                  <a:srgbClr val="CADBD7"/>
                </a:solidFill>
              </a:rPr>
              <a:t>rangkaian beberapa sensor gas disebut electronic nose (e-nose)</a:t>
            </a:r>
            <a:endParaRPr lang="en-US" sz="1300" dirty="0"/>
          </a:p>
        </p:txBody>
      </p:sp>
      <p:sp>
        <p:nvSpPr>
          <p:cNvPr id="15" name="Shape 13"/>
          <p:cNvSpPr/>
          <p:nvPr/>
        </p:nvSpPr>
        <p:spPr>
          <a:xfrm>
            <a:off x="868680" y="3977640"/>
            <a:ext cx="438912" cy="438912"/>
          </a:xfrm>
          <a:prstGeom prst="ellipse">
            <a:avLst/>
          </a:prstGeom>
          <a:solidFill>
            <a:schemeClr val="accent2"/>
          </a:solidFill>
          <a:ln w="12700">
            <a:solidFill>
              <a:schemeClr val="accent2"/>
            </a:solidFill>
            <a:prstDash val="solid"/>
          </a:ln>
        </p:spPr>
      </p:sp>
      <p:sp>
        <p:nvSpPr>
          <p:cNvPr id="16" name="Text 14"/>
          <p:cNvSpPr txBox="1"/>
          <p:nvPr/>
        </p:nvSpPr>
        <p:spPr>
          <a:xfrm>
            <a:off x="868680" y="3977640"/>
            <a:ext cx="438912" cy="438912"/>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7" name="Text 15"/>
          <p:cNvSpPr txBox="1"/>
          <p:nvPr/>
        </p:nvSpPr>
        <p:spPr>
          <a:xfrm>
            <a:off x="1463040" y="3931920"/>
            <a:ext cx="4572000" cy="365760"/>
          </a:xfrm>
          <a:prstGeom prst="rect">
            <a:avLst/>
          </a:prstGeom>
          <a:noFill/>
          <a:ln/>
        </p:spPr>
        <p:txBody>
          <a:bodyPr wrap="square" lIns="0" tIns="0" rIns="0" bIns="0" rtlCol="0" anchor="ctr"/>
          <a:lstStyle/>
          <a:p>
            <a:pPr indent="0" marL="0">
              <a:buNone/>
            </a:pPr>
            <a:r>
              <a:rPr lang="en-US" sz="1600" b="1" dirty="0">
                <a:solidFill>
                  <a:schemeClr val="bg1"/>
                </a:solidFill>
              </a:rPr>
              <a:t>Dapatkah machine learning mengklasifikasikan kesegaran ayam?</a:t>
            </a:r>
            <a:endParaRPr lang="en-US" sz="1600" dirty="0"/>
          </a:p>
        </p:txBody>
      </p:sp>
      <p:sp>
        <p:nvSpPr>
          <p:cNvPr id="18" name="Text 16"/>
          <p:cNvSpPr txBox="1"/>
          <p:nvPr/>
        </p:nvSpPr>
        <p:spPr>
          <a:xfrm>
            <a:off x="1463040" y="4315968"/>
            <a:ext cx="4572000" cy="365760"/>
          </a:xfrm>
          <a:prstGeom prst="rect">
            <a:avLst/>
          </a:prstGeom>
          <a:noFill/>
          <a:ln/>
        </p:spPr>
        <p:txBody>
          <a:bodyPr wrap="square" lIns="0" tIns="0" rIns="0" bIns="0" rtlCol="0" anchor="ctr"/>
          <a:lstStyle/>
          <a:p>
            <a:pPr indent="0" marL="0">
              <a:buNone/>
            </a:pPr>
            <a:r>
              <a:rPr lang="en-US" sz="1300" dirty="0">
                <a:solidFill>
                  <a:srgbClr val="CADBD7"/>
                </a:solidFill>
              </a:rPr>
              <a:t>Fresh · Semi-fresh · Spoiled</a:t>
            </a:r>
            <a:endParaRPr lang="en-US" sz="1300" dirty="0"/>
          </a:p>
        </p:txBody>
      </p:sp>
      <p:sp>
        <p:nvSpPr>
          <p:cNvPr id="19" name="Text 17"/>
          <p:cNvSpPr txBox="1"/>
          <p:nvPr/>
        </p:nvSpPr>
        <p:spPr>
          <a:xfrm>
            <a:off x="6583680" y="1325880"/>
            <a:ext cx="505937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IRISAN SKRIPSI ANGGOTA</a:t>
            </a:r>
            <a:endParaRPr lang="en-US" sz="1200" dirty="0"/>
          </a:p>
        </p:txBody>
      </p:sp>
      <p:sp>
        <p:nvSpPr>
          <p:cNvPr id="20" name="Shape 18"/>
          <p:cNvSpPr/>
          <p:nvPr/>
        </p:nvSpPr>
        <p:spPr>
          <a:xfrm>
            <a:off x="6583680" y="1691640"/>
            <a:ext cx="5059375" cy="1005840"/>
          </a:xfrm>
          <a:prstGeom prst="roundRect">
            <a:avLst>
              <a:gd name="adj" fmla="val 10909"/>
            </a:avLst>
          </a:prstGeom>
          <a:solidFill>
            <a:schemeClr val="bg2"/>
          </a:solidFill>
          <a:ln w="12700">
            <a:solidFill>
              <a:schemeClr val="bg2"/>
            </a:solidFill>
            <a:prstDash val="solid"/>
          </a:ln>
        </p:spPr>
      </p:sp>
      <p:sp>
        <p:nvSpPr>
          <p:cNvPr id="21" name="Text 19"/>
          <p:cNvSpPr txBox="1"/>
          <p:nvPr/>
        </p:nvSpPr>
        <p:spPr>
          <a:xfrm>
            <a:off x="6858000" y="1801368"/>
            <a:ext cx="4510735" cy="292608"/>
          </a:xfrm>
          <a:prstGeom prst="rect">
            <a:avLst/>
          </a:prstGeom>
          <a:noFill/>
          <a:ln/>
        </p:spPr>
        <p:txBody>
          <a:bodyPr wrap="square" lIns="0" tIns="0" rIns="0" bIns="0" rtlCol="0" anchor="ctr"/>
          <a:lstStyle/>
          <a:p>
            <a:pPr indent="0" marL="0">
              <a:buNone/>
            </a:pPr>
            <a:r>
              <a:rPr lang="en-US" sz="1500" b="1" dirty="0">
                <a:solidFill>
                  <a:schemeClr val="accent1"/>
                </a:solidFill>
              </a:rPr>
              <a:t>Muhammad Erlangga Kurniawan</a:t>
            </a:r>
            <a:endParaRPr lang="en-US" sz="1500" dirty="0"/>
          </a:p>
        </p:txBody>
      </p:sp>
      <p:sp>
        <p:nvSpPr>
          <p:cNvPr id="22" name="Text 20"/>
          <p:cNvSpPr txBox="1"/>
          <p:nvPr/>
        </p:nvSpPr>
        <p:spPr>
          <a:xfrm>
            <a:off x="6858000" y="2103120"/>
            <a:ext cx="4510735" cy="548640"/>
          </a:xfrm>
          <a:prstGeom prst="rect">
            <a:avLst/>
          </a:prstGeom>
          <a:noFill/>
          <a:ln/>
        </p:spPr>
        <p:txBody>
          <a:bodyPr wrap="square" lIns="0" tIns="0" rIns="0" bIns="0" rtlCol="0" anchor="t"/>
          <a:lstStyle/>
          <a:p>
            <a:pPr indent="0" marL="0">
              <a:buNone/>
            </a:pPr>
            <a:r>
              <a:rPr lang="en-US" sz="1300" dirty="0">
                <a:solidFill>
                  <a:schemeClr val="tx1"/>
                </a:solidFill>
              </a:rPr>
              <a:t>Kesegaran makanan dengan sensor MQ-135, sensor yang juga ada di dataset ini.</a:t>
            </a:r>
            <a:endParaRPr lang="en-US" sz="1300" dirty="0"/>
          </a:p>
        </p:txBody>
      </p:sp>
      <p:sp>
        <p:nvSpPr>
          <p:cNvPr id="23" name="Shape 21"/>
          <p:cNvSpPr/>
          <p:nvPr/>
        </p:nvSpPr>
        <p:spPr>
          <a:xfrm>
            <a:off x="6583680" y="2834640"/>
            <a:ext cx="5059375" cy="1005840"/>
          </a:xfrm>
          <a:prstGeom prst="roundRect">
            <a:avLst>
              <a:gd name="adj" fmla="val 10909"/>
            </a:avLst>
          </a:prstGeom>
          <a:solidFill>
            <a:schemeClr val="bg2"/>
          </a:solidFill>
          <a:ln w="12700">
            <a:solidFill>
              <a:schemeClr val="bg2"/>
            </a:solidFill>
            <a:prstDash val="solid"/>
          </a:ln>
        </p:spPr>
      </p:sp>
      <p:sp>
        <p:nvSpPr>
          <p:cNvPr id="24" name="Text 22"/>
          <p:cNvSpPr txBox="1"/>
          <p:nvPr/>
        </p:nvSpPr>
        <p:spPr>
          <a:xfrm>
            <a:off x="6858000" y="2944368"/>
            <a:ext cx="4510735" cy="292608"/>
          </a:xfrm>
          <a:prstGeom prst="rect">
            <a:avLst/>
          </a:prstGeom>
          <a:noFill/>
          <a:ln/>
        </p:spPr>
        <p:txBody>
          <a:bodyPr wrap="square" lIns="0" tIns="0" rIns="0" bIns="0" rtlCol="0" anchor="ctr"/>
          <a:lstStyle/>
          <a:p>
            <a:pPr indent="0" marL="0">
              <a:buNone/>
            </a:pPr>
            <a:r>
              <a:rPr lang="en-US" sz="1500" b="1" dirty="0">
                <a:solidFill>
                  <a:schemeClr val="accent1"/>
                </a:solidFill>
              </a:rPr>
              <a:t>Rijal Apuila Khufi</a:t>
            </a:r>
            <a:endParaRPr lang="en-US" sz="1500" dirty="0"/>
          </a:p>
        </p:txBody>
      </p:sp>
      <p:sp>
        <p:nvSpPr>
          <p:cNvPr id="25" name="Text 23"/>
          <p:cNvSpPr txBox="1"/>
          <p:nvPr/>
        </p:nvSpPr>
        <p:spPr>
          <a:xfrm>
            <a:off x="6858000" y="3246120"/>
            <a:ext cx="4510735" cy="548640"/>
          </a:xfrm>
          <a:prstGeom prst="rect">
            <a:avLst/>
          </a:prstGeom>
          <a:noFill/>
          <a:ln/>
        </p:spPr>
        <p:txBody>
          <a:bodyPr wrap="square" lIns="0" tIns="0" rIns="0" bIns="0" rtlCol="0" anchor="t"/>
          <a:lstStyle/>
          <a:p>
            <a:pPr indent="0" marL="0">
              <a:buNone/>
            </a:pPr>
            <a:r>
              <a:rPr lang="en-US" sz="1300" dirty="0">
                <a:solidFill>
                  <a:schemeClr val="tx1"/>
                </a:solidFill>
              </a:rPr>
              <a:t>Mutu produk unggas (kuning telur puyuh).</a:t>
            </a:r>
            <a:endParaRPr lang="en-US" sz="1300" dirty="0"/>
          </a:p>
        </p:txBody>
      </p:sp>
      <p:sp>
        <p:nvSpPr>
          <p:cNvPr id="26" name="Shape 24"/>
          <p:cNvSpPr/>
          <p:nvPr/>
        </p:nvSpPr>
        <p:spPr>
          <a:xfrm>
            <a:off x="6583680" y="3977640"/>
            <a:ext cx="5059375" cy="1005840"/>
          </a:xfrm>
          <a:prstGeom prst="roundRect">
            <a:avLst>
              <a:gd name="adj" fmla="val 10909"/>
            </a:avLst>
          </a:prstGeom>
          <a:solidFill>
            <a:schemeClr val="bg2"/>
          </a:solidFill>
          <a:ln w="12700">
            <a:solidFill>
              <a:schemeClr val="bg2"/>
            </a:solidFill>
            <a:prstDash val="solid"/>
          </a:ln>
        </p:spPr>
      </p:sp>
      <p:sp>
        <p:nvSpPr>
          <p:cNvPr id="27" name="Text 25"/>
          <p:cNvSpPr txBox="1"/>
          <p:nvPr/>
        </p:nvSpPr>
        <p:spPr>
          <a:xfrm>
            <a:off x="6858000" y="4087368"/>
            <a:ext cx="4510735" cy="292608"/>
          </a:xfrm>
          <a:prstGeom prst="rect">
            <a:avLst/>
          </a:prstGeom>
          <a:noFill/>
          <a:ln/>
        </p:spPr>
        <p:txBody>
          <a:bodyPr wrap="square" lIns="0" tIns="0" rIns="0" bIns="0" rtlCol="0" anchor="ctr"/>
          <a:lstStyle/>
          <a:p>
            <a:pPr indent="0" marL="0">
              <a:buNone/>
            </a:pPr>
            <a:r>
              <a:rPr lang="en-US" sz="1500" b="1" dirty="0">
                <a:solidFill>
                  <a:schemeClr val="accent1"/>
                </a:solidFill>
              </a:rPr>
              <a:t>Michael Valencio Erasmo Bagas Ganendra</a:t>
            </a:r>
            <a:endParaRPr lang="en-US" sz="1500" dirty="0"/>
          </a:p>
        </p:txBody>
      </p:sp>
      <p:sp>
        <p:nvSpPr>
          <p:cNvPr id="28" name="Text 26"/>
          <p:cNvSpPr txBox="1"/>
          <p:nvPr/>
        </p:nvSpPr>
        <p:spPr>
          <a:xfrm>
            <a:off x="6858000" y="4389120"/>
            <a:ext cx="4510735" cy="548640"/>
          </a:xfrm>
          <a:prstGeom prst="rect">
            <a:avLst/>
          </a:prstGeom>
          <a:noFill/>
          <a:ln/>
        </p:spPr>
        <p:txBody>
          <a:bodyPr wrap="square" lIns="0" tIns="0" rIns="0" bIns="0" rtlCol="0" anchor="t"/>
          <a:lstStyle/>
          <a:p>
            <a:pPr indent="0" marL="0">
              <a:buNone/>
            </a:pPr>
            <a:r>
              <a:rPr lang="en-US" sz="1300" dirty="0">
                <a:solidFill>
                  <a:schemeClr val="tx1"/>
                </a:solidFill>
              </a:rPr>
              <a:t>Model gradient boosting (XGBoost), dipakai pada bagian ensemble.</a:t>
            </a:r>
            <a:endParaRPr lang="en-US" sz="1300" dirty="0"/>
          </a:p>
        </p:txBody>
      </p:sp>
      <p:sp>
        <p:nvSpPr>
          <p:cNvPr id="29" name="Shape 27"/>
          <p:cNvSpPr/>
          <p:nvPr/>
        </p:nvSpPr>
        <p:spPr>
          <a:xfrm>
            <a:off x="548640" y="5349240"/>
            <a:ext cx="11094415" cy="731520"/>
          </a:xfrm>
          <a:prstGeom prst="roundRect">
            <a:avLst>
              <a:gd name="adj" fmla="val 15000"/>
            </a:avLst>
          </a:prstGeom>
          <a:solidFill>
            <a:schemeClr val="tx2"/>
          </a:solidFill>
          <a:ln w="12700">
            <a:solidFill>
              <a:schemeClr val="tx2"/>
            </a:solidFill>
            <a:prstDash val="solid"/>
          </a:ln>
        </p:spPr>
      </p:sp>
      <p:sp>
        <p:nvSpPr>
          <p:cNvPr id="30" name="Text 28"/>
          <p:cNvSpPr txBox="1"/>
          <p:nvPr/>
        </p:nvSpPr>
        <p:spPr>
          <a:xfrm>
            <a:off x="868680" y="5349240"/>
            <a:ext cx="10454335" cy="731520"/>
          </a:xfrm>
          <a:prstGeom prst="rect">
            <a:avLst/>
          </a:prstGeom>
          <a:noFill/>
          <a:ln/>
        </p:spPr>
        <p:txBody>
          <a:bodyPr wrap="square" lIns="0" tIns="0" rIns="0" bIns="0" rtlCol="0" anchor="ctr"/>
          <a:lstStyle/>
          <a:p>
            <a:pPr indent="0" marL="0">
              <a:buNone/>
            </a:pPr>
            <a:r>
              <a:rPr lang="en-US" sz="1600" b="1" dirty="0">
                <a:solidFill>
                  <a:schemeClr val="accent2"/>
                </a:solidFill>
              </a:rPr>
              <a:t>Manfaat: </a:t>
            </a:r>
            <a:pPr indent="0" marL="0">
              <a:buNone/>
            </a:pPr>
            <a:r>
              <a:rPr lang="en-US" sz="1600" dirty="0">
                <a:solidFill>
                  <a:schemeClr val="bg1"/>
                </a:solidFill>
              </a:rPr>
              <a:t>pengujian kesegaran yang cepat, murah, dan non-destruktif, misalnya di toko atau rantai distribusi.</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Dataset dan Alur Kerja</a:t>
            </a:r>
            <a:endParaRPr lang="en-US" sz="3000" dirty="0"/>
          </a:p>
        </p:txBody>
      </p:sp>
      <p:sp>
        <p:nvSpPr>
          <p:cNvPr id="3" name="Shape 1"/>
          <p:cNvSpPr/>
          <p:nvPr/>
        </p:nvSpPr>
        <p:spPr>
          <a:xfrm>
            <a:off x="9814255" y="502920"/>
            <a:ext cx="182880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814255" y="502920"/>
            <a:ext cx="1828800" cy="411480"/>
          </a:xfrm>
          <a:prstGeom prst="rect">
            <a:avLst/>
          </a:prstGeom>
          <a:noFill/>
          <a:ln/>
        </p:spPr>
        <p:txBody>
          <a:bodyPr wrap="square" lIns="0" tIns="0" rIns="0" bIns="0" rtlCol="0" anchor="ctr"/>
          <a:lstStyle/>
          <a:p>
            <a:pPr algn="ctr" indent="0" marL="0">
              <a:buNone/>
            </a:pPr>
            <a:r>
              <a:rPr lang="en-US" sz="1200" b="1" dirty="0">
                <a:solidFill>
                  <a:schemeClr val="accent1"/>
                </a:solidFill>
              </a:rPr>
              <a:t>Pembicara: Erlangga</a:t>
            </a:r>
            <a:endParaRPr lang="en-US" sz="1200" dirty="0"/>
          </a:p>
        </p:txBody>
      </p:sp>
      <p:sp>
        <p:nvSpPr>
          <p:cNvPr id="5" name="Shape 3"/>
          <p:cNvSpPr/>
          <p:nvPr/>
        </p:nvSpPr>
        <p:spPr>
          <a:xfrm>
            <a:off x="548640" y="1280160"/>
            <a:ext cx="1962851" cy="2057400"/>
          </a:xfrm>
          <a:prstGeom prst="roundRect">
            <a:avLst>
              <a:gd name="adj" fmla="val 5590"/>
            </a:avLst>
          </a:prstGeom>
          <a:solidFill>
            <a:schemeClr val="bg2"/>
          </a:solidFill>
          <a:ln w="12700">
            <a:solidFill>
              <a:schemeClr val="bg2"/>
            </a:solidFill>
            <a:prstDash val="solid"/>
          </a:ln>
        </p:spPr>
      </p:sp>
      <p:sp>
        <p:nvSpPr>
          <p:cNvPr id="6" name="Shape 4"/>
          <p:cNvSpPr/>
          <p:nvPr/>
        </p:nvSpPr>
        <p:spPr>
          <a:xfrm>
            <a:off x="731520" y="1463040"/>
            <a:ext cx="411480" cy="411480"/>
          </a:xfrm>
          <a:prstGeom prst="ellipse">
            <a:avLst/>
          </a:prstGeom>
          <a:solidFill>
            <a:schemeClr val="accent1"/>
          </a:solidFill>
          <a:ln w="12700">
            <a:solidFill>
              <a:schemeClr val="accent1"/>
            </a:solidFill>
            <a:prstDash val="solid"/>
          </a:ln>
        </p:spPr>
      </p:sp>
      <p:sp>
        <p:nvSpPr>
          <p:cNvPr id="7" name="Text 5"/>
          <p:cNvSpPr txBox="1"/>
          <p:nvPr/>
        </p:nvSpPr>
        <p:spPr>
          <a:xfrm>
            <a:off x="731520" y="14630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6"/>
          <p:cNvSpPr txBox="1"/>
          <p:nvPr/>
        </p:nvSpPr>
        <p:spPr>
          <a:xfrm>
            <a:off x="1234440" y="1463040"/>
            <a:ext cx="1139891" cy="411480"/>
          </a:xfrm>
          <a:prstGeom prst="rect">
            <a:avLst/>
          </a:prstGeom>
          <a:noFill/>
          <a:ln/>
        </p:spPr>
        <p:txBody>
          <a:bodyPr wrap="square" lIns="0" tIns="0" rIns="0" bIns="0" rtlCol="0" anchor="ctr"/>
          <a:lstStyle/>
          <a:p>
            <a:pPr indent="0" marL="0">
              <a:buNone/>
            </a:pPr>
            <a:r>
              <a:rPr lang="en-US" sz="1600" b="1" dirty="0">
                <a:solidFill>
                  <a:schemeClr val="tx2"/>
                </a:solidFill>
              </a:rPr>
              <a:t>Akuisisi</a:t>
            </a:r>
            <a:endParaRPr lang="en-US" sz="1600" dirty="0"/>
          </a:p>
        </p:txBody>
      </p:sp>
      <p:sp>
        <p:nvSpPr>
          <p:cNvPr id="9" name="Text 7"/>
          <p:cNvSpPr txBox="1"/>
          <p:nvPr/>
        </p:nvSpPr>
        <p:spPr>
          <a:xfrm>
            <a:off x="731520" y="2011680"/>
            <a:ext cx="1597091" cy="777240"/>
          </a:xfrm>
          <a:prstGeom prst="rect">
            <a:avLst/>
          </a:prstGeom>
          <a:noFill/>
          <a:ln/>
        </p:spPr>
        <p:txBody>
          <a:bodyPr wrap="square" lIns="0" tIns="0" rIns="0" bIns="0" rtlCol="0" anchor="ctr"/>
          <a:lstStyle/>
          <a:p>
            <a:pPr indent="0" marL="0">
              <a:buNone/>
            </a:pPr>
            <a:r>
              <a:rPr lang="en-US" sz="1300" dirty="0">
                <a:solidFill>
                  <a:schemeClr val="tx1"/>
                </a:solidFill>
              </a:rPr>
              <a:t>Unduh data, verifikasi checksum SHA-256</a:t>
            </a:r>
            <a:endParaRPr lang="en-US" sz="1300" dirty="0"/>
          </a:p>
        </p:txBody>
      </p:sp>
      <p:sp>
        <p:nvSpPr>
          <p:cNvPr id="10" name="Shape 8"/>
          <p:cNvSpPr/>
          <p:nvPr/>
        </p:nvSpPr>
        <p:spPr>
          <a:xfrm>
            <a:off x="2557211" y="2308860"/>
            <a:ext cx="228600" cy="0"/>
          </a:xfrm>
          <a:prstGeom prst="line">
            <a:avLst/>
          </a:prstGeom>
          <a:noFill/>
          <a:ln w="25400">
            <a:solidFill>
              <a:srgbClr val="0F5257"/>
            </a:solidFill>
            <a:prstDash val="solid"/>
            <a:tailEnd type="triangle"/>
          </a:ln>
        </p:spPr>
      </p:sp>
      <p:sp>
        <p:nvSpPr>
          <p:cNvPr id="11" name="Shape 9"/>
          <p:cNvSpPr/>
          <p:nvPr/>
        </p:nvSpPr>
        <p:spPr>
          <a:xfrm>
            <a:off x="2831531" y="1280160"/>
            <a:ext cx="1962851" cy="2057400"/>
          </a:xfrm>
          <a:prstGeom prst="roundRect">
            <a:avLst>
              <a:gd name="adj" fmla="val 5590"/>
            </a:avLst>
          </a:prstGeom>
          <a:solidFill>
            <a:schemeClr val="bg2"/>
          </a:solidFill>
          <a:ln w="12700">
            <a:solidFill>
              <a:schemeClr val="bg2"/>
            </a:solidFill>
            <a:prstDash val="solid"/>
          </a:ln>
        </p:spPr>
      </p:sp>
      <p:sp>
        <p:nvSpPr>
          <p:cNvPr id="12" name="Shape 10"/>
          <p:cNvSpPr/>
          <p:nvPr/>
        </p:nvSpPr>
        <p:spPr>
          <a:xfrm>
            <a:off x="3014411" y="1463040"/>
            <a:ext cx="411480" cy="411480"/>
          </a:xfrm>
          <a:prstGeom prst="ellipse">
            <a:avLst/>
          </a:prstGeom>
          <a:solidFill>
            <a:schemeClr val="accent1"/>
          </a:solidFill>
          <a:ln w="12700">
            <a:solidFill>
              <a:schemeClr val="accent1"/>
            </a:solidFill>
            <a:prstDash val="solid"/>
          </a:ln>
        </p:spPr>
      </p:sp>
      <p:sp>
        <p:nvSpPr>
          <p:cNvPr id="13" name="Text 11"/>
          <p:cNvSpPr txBox="1"/>
          <p:nvPr/>
        </p:nvSpPr>
        <p:spPr>
          <a:xfrm>
            <a:off x="3014411" y="14630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2"/>
          <p:cNvSpPr txBox="1"/>
          <p:nvPr/>
        </p:nvSpPr>
        <p:spPr>
          <a:xfrm>
            <a:off x="3517331" y="1463040"/>
            <a:ext cx="1139891" cy="411480"/>
          </a:xfrm>
          <a:prstGeom prst="rect">
            <a:avLst/>
          </a:prstGeom>
          <a:noFill/>
          <a:ln/>
        </p:spPr>
        <p:txBody>
          <a:bodyPr wrap="square" lIns="0" tIns="0" rIns="0" bIns="0" rtlCol="0" anchor="ctr"/>
          <a:lstStyle/>
          <a:p>
            <a:pPr indent="0" marL="0">
              <a:buNone/>
            </a:pPr>
            <a:r>
              <a:rPr lang="en-US" sz="1600" b="1" dirty="0">
                <a:solidFill>
                  <a:schemeClr val="tx2"/>
                </a:solidFill>
              </a:rPr>
              <a:t>Wrangling</a:t>
            </a:r>
            <a:endParaRPr lang="en-US" sz="1600" dirty="0"/>
          </a:p>
        </p:txBody>
      </p:sp>
      <p:sp>
        <p:nvSpPr>
          <p:cNvPr id="15" name="Text 13"/>
          <p:cNvSpPr txBox="1"/>
          <p:nvPr/>
        </p:nvSpPr>
        <p:spPr>
          <a:xfrm>
            <a:off x="3014411" y="2011680"/>
            <a:ext cx="1597091" cy="777240"/>
          </a:xfrm>
          <a:prstGeom prst="rect">
            <a:avLst/>
          </a:prstGeom>
          <a:noFill/>
          <a:ln/>
        </p:spPr>
        <p:txBody>
          <a:bodyPr wrap="square" lIns="0" tIns="0" rIns="0" bIns="0" rtlCol="0" anchor="ctr"/>
          <a:lstStyle/>
          <a:p>
            <a:pPr indent="0" marL="0">
              <a:buNone/>
            </a:pPr>
            <a:r>
              <a:rPr lang="en-US" sz="1300" dirty="0">
                <a:solidFill>
                  <a:schemeClr val="tx1"/>
                </a:solidFill>
              </a:rPr>
              <a:t>Window 5 menit, warm-up, 19 fitur</a:t>
            </a:r>
            <a:endParaRPr lang="en-US" sz="1300" dirty="0"/>
          </a:p>
        </p:txBody>
      </p:sp>
      <p:sp>
        <p:nvSpPr>
          <p:cNvPr id="16" name="Shape 14"/>
          <p:cNvSpPr/>
          <p:nvPr/>
        </p:nvSpPr>
        <p:spPr>
          <a:xfrm>
            <a:off x="2968691" y="2834640"/>
            <a:ext cx="1688531" cy="365760"/>
          </a:xfrm>
          <a:prstGeom prst="roundRect">
            <a:avLst>
              <a:gd name="adj" fmla="val 50000"/>
            </a:avLst>
          </a:prstGeom>
          <a:solidFill>
            <a:schemeClr val="accent2"/>
          </a:solidFill>
          <a:ln w="12700">
            <a:solidFill>
              <a:schemeClr val="accent2"/>
            </a:solidFill>
            <a:prstDash val="solid"/>
          </a:ln>
        </p:spPr>
      </p:sp>
      <p:sp>
        <p:nvSpPr>
          <p:cNvPr id="17" name="Text 15"/>
          <p:cNvSpPr txBox="1"/>
          <p:nvPr/>
        </p:nvSpPr>
        <p:spPr>
          <a:xfrm>
            <a:off x="2968691" y="2834640"/>
            <a:ext cx="1688531" cy="365760"/>
          </a:xfrm>
          <a:prstGeom prst="rect">
            <a:avLst/>
          </a:prstGeom>
          <a:noFill/>
          <a:ln/>
        </p:spPr>
        <p:txBody>
          <a:bodyPr wrap="square" lIns="0" tIns="0" rIns="0" bIns="0" rtlCol="0" anchor="ctr"/>
          <a:lstStyle/>
          <a:p>
            <a:pPr algn="ctr" indent="0" marL="0">
              <a:buNone/>
            </a:pPr>
            <a:r>
              <a:rPr lang="en-US" sz="1200" b="1" dirty="0">
                <a:solidFill>
                  <a:schemeClr val="tx2"/>
                </a:solidFill>
              </a:rPr>
              <a:t>Augmentation</a:t>
            </a:r>
            <a:endParaRPr lang="en-US" sz="1200" dirty="0"/>
          </a:p>
        </p:txBody>
      </p:sp>
      <p:sp>
        <p:nvSpPr>
          <p:cNvPr id="18" name="Shape 16"/>
          <p:cNvSpPr/>
          <p:nvPr/>
        </p:nvSpPr>
        <p:spPr>
          <a:xfrm>
            <a:off x="4840102" y="2308860"/>
            <a:ext cx="228600" cy="0"/>
          </a:xfrm>
          <a:prstGeom prst="line">
            <a:avLst/>
          </a:prstGeom>
          <a:noFill/>
          <a:ln w="25400">
            <a:solidFill>
              <a:srgbClr val="0F5257"/>
            </a:solidFill>
            <a:prstDash val="solid"/>
            <a:tailEnd type="triangle"/>
          </a:ln>
        </p:spPr>
      </p:sp>
      <p:sp>
        <p:nvSpPr>
          <p:cNvPr id="19" name="Shape 17"/>
          <p:cNvSpPr/>
          <p:nvPr/>
        </p:nvSpPr>
        <p:spPr>
          <a:xfrm>
            <a:off x="5114422" y="1280160"/>
            <a:ext cx="1962851" cy="2057400"/>
          </a:xfrm>
          <a:prstGeom prst="roundRect">
            <a:avLst>
              <a:gd name="adj" fmla="val 5590"/>
            </a:avLst>
          </a:prstGeom>
          <a:solidFill>
            <a:schemeClr val="bg2"/>
          </a:solidFill>
          <a:ln w="12700">
            <a:solidFill>
              <a:schemeClr val="bg2"/>
            </a:solidFill>
            <a:prstDash val="solid"/>
          </a:ln>
        </p:spPr>
      </p:sp>
      <p:sp>
        <p:nvSpPr>
          <p:cNvPr id="20" name="Shape 18"/>
          <p:cNvSpPr/>
          <p:nvPr/>
        </p:nvSpPr>
        <p:spPr>
          <a:xfrm>
            <a:off x="5297302" y="1463040"/>
            <a:ext cx="411480" cy="411480"/>
          </a:xfrm>
          <a:prstGeom prst="ellipse">
            <a:avLst/>
          </a:prstGeom>
          <a:solidFill>
            <a:schemeClr val="accent1"/>
          </a:solidFill>
          <a:ln w="12700">
            <a:solidFill>
              <a:schemeClr val="accent1"/>
            </a:solidFill>
            <a:prstDash val="solid"/>
          </a:ln>
        </p:spPr>
      </p:sp>
      <p:sp>
        <p:nvSpPr>
          <p:cNvPr id="21" name="Text 19"/>
          <p:cNvSpPr txBox="1"/>
          <p:nvPr/>
        </p:nvSpPr>
        <p:spPr>
          <a:xfrm>
            <a:off x="5297302" y="14630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2" name="Text 20"/>
          <p:cNvSpPr txBox="1"/>
          <p:nvPr/>
        </p:nvSpPr>
        <p:spPr>
          <a:xfrm>
            <a:off x="5800222" y="1463040"/>
            <a:ext cx="1139891" cy="411480"/>
          </a:xfrm>
          <a:prstGeom prst="rect">
            <a:avLst/>
          </a:prstGeom>
          <a:noFill/>
          <a:ln/>
        </p:spPr>
        <p:txBody>
          <a:bodyPr wrap="square" lIns="0" tIns="0" rIns="0" bIns="0" rtlCol="0" anchor="ctr"/>
          <a:lstStyle/>
          <a:p>
            <a:pPr indent="0" marL="0">
              <a:buNone/>
            </a:pPr>
            <a:r>
              <a:rPr lang="en-US" sz="1600" b="1" dirty="0">
                <a:solidFill>
                  <a:schemeClr val="tx2"/>
                </a:solidFill>
              </a:rPr>
              <a:t>Pemodelan</a:t>
            </a:r>
            <a:endParaRPr lang="en-US" sz="1600" dirty="0"/>
          </a:p>
        </p:txBody>
      </p:sp>
      <p:sp>
        <p:nvSpPr>
          <p:cNvPr id="23" name="Text 21"/>
          <p:cNvSpPr txBox="1"/>
          <p:nvPr/>
        </p:nvSpPr>
        <p:spPr>
          <a:xfrm>
            <a:off x="5297302" y="2011680"/>
            <a:ext cx="1597091" cy="777240"/>
          </a:xfrm>
          <a:prstGeom prst="rect">
            <a:avLst/>
          </a:prstGeom>
          <a:noFill/>
          <a:ln/>
        </p:spPr>
        <p:txBody>
          <a:bodyPr wrap="square" lIns="0" tIns="0" rIns="0" bIns="0" rtlCol="0" anchor="ctr"/>
          <a:lstStyle/>
          <a:p>
            <a:pPr indent="0" marL="0">
              <a:buNone/>
            </a:pPr>
            <a:r>
              <a:rPr lang="en-US" sz="1300" dirty="0">
                <a:solidFill>
                  <a:schemeClr val="tx1"/>
                </a:solidFill>
              </a:rPr>
              <a:t>Model tunggal vs ensemble</a:t>
            </a:r>
            <a:endParaRPr lang="en-US" sz="1300" dirty="0"/>
          </a:p>
        </p:txBody>
      </p:sp>
      <p:sp>
        <p:nvSpPr>
          <p:cNvPr id="24" name="Shape 22"/>
          <p:cNvSpPr/>
          <p:nvPr/>
        </p:nvSpPr>
        <p:spPr>
          <a:xfrm>
            <a:off x="5251582" y="2834640"/>
            <a:ext cx="1688531" cy="365760"/>
          </a:xfrm>
          <a:prstGeom prst="roundRect">
            <a:avLst>
              <a:gd name="adj" fmla="val 50000"/>
            </a:avLst>
          </a:prstGeom>
          <a:solidFill>
            <a:schemeClr val="accent2"/>
          </a:solidFill>
          <a:ln w="12700">
            <a:solidFill>
              <a:schemeClr val="accent2"/>
            </a:solidFill>
            <a:prstDash val="solid"/>
          </a:ln>
        </p:spPr>
      </p:sp>
      <p:sp>
        <p:nvSpPr>
          <p:cNvPr id="25" name="Text 23"/>
          <p:cNvSpPr txBox="1"/>
          <p:nvPr/>
        </p:nvSpPr>
        <p:spPr>
          <a:xfrm>
            <a:off x="5251582" y="2834640"/>
            <a:ext cx="1688531" cy="365760"/>
          </a:xfrm>
          <a:prstGeom prst="rect">
            <a:avLst/>
          </a:prstGeom>
          <a:noFill/>
          <a:ln/>
        </p:spPr>
        <p:txBody>
          <a:bodyPr wrap="square" lIns="0" tIns="0" rIns="0" bIns="0" rtlCol="0" anchor="ctr"/>
          <a:lstStyle/>
          <a:p>
            <a:pPr algn="ctr" indent="0" marL="0">
              <a:buNone/>
            </a:pPr>
            <a:r>
              <a:rPr lang="en-US" sz="1200" b="1" dirty="0">
                <a:solidFill>
                  <a:schemeClr val="tx2"/>
                </a:solidFill>
              </a:rPr>
              <a:t>Ensemble</a:t>
            </a:r>
            <a:endParaRPr lang="en-US" sz="1200" dirty="0"/>
          </a:p>
        </p:txBody>
      </p:sp>
      <p:sp>
        <p:nvSpPr>
          <p:cNvPr id="26" name="Shape 24"/>
          <p:cNvSpPr/>
          <p:nvPr/>
        </p:nvSpPr>
        <p:spPr>
          <a:xfrm>
            <a:off x="7122993" y="2308860"/>
            <a:ext cx="228600" cy="0"/>
          </a:xfrm>
          <a:prstGeom prst="line">
            <a:avLst/>
          </a:prstGeom>
          <a:noFill/>
          <a:ln w="25400">
            <a:solidFill>
              <a:srgbClr val="0F5257"/>
            </a:solidFill>
            <a:prstDash val="solid"/>
            <a:tailEnd type="triangle"/>
          </a:ln>
        </p:spPr>
      </p:sp>
      <p:sp>
        <p:nvSpPr>
          <p:cNvPr id="27" name="Shape 25"/>
          <p:cNvSpPr/>
          <p:nvPr/>
        </p:nvSpPr>
        <p:spPr>
          <a:xfrm>
            <a:off x="7397313" y="1280160"/>
            <a:ext cx="1962851" cy="2057400"/>
          </a:xfrm>
          <a:prstGeom prst="roundRect">
            <a:avLst>
              <a:gd name="adj" fmla="val 5590"/>
            </a:avLst>
          </a:prstGeom>
          <a:solidFill>
            <a:schemeClr val="bg2"/>
          </a:solidFill>
          <a:ln w="12700">
            <a:solidFill>
              <a:schemeClr val="bg2"/>
            </a:solidFill>
            <a:prstDash val="solid"/>
          </a:ln>
        </p:spPr>
      </p:sp>
      <p:sp>
        <p:nvSpPr>
          <p:cNvPr id="28" name="Shape 26"/>
          <p:cNvSpPr/>
          <p:nvPr/>
        </p:nvSpPr>
        <p:spPr>
          <a:xfrm>
            <a:off x="7580193" y="1463040"/>
            <a:ext cx="411480" cy="411480"/>
          </a:xfrm>
          <a:prstGeom prst="ellipse">
            <a:avLst/>
          </a:prstGeom>
          <a:solidFill>
            <a:schemeClr val="accent1"/>
          </a:solidFill>
          <a:ln w="12700">
            <a:solidFill>
              <a:schemeClr val="accent1"/>
            </a:solidFill>
            <a:prstDash val="solid"/>
          </a:ln>
        </p:spPr>
      </p:sp>
      <p:sp>
        <p:nvSpPr>
          <p:cNvPr id="29" name="Text 27"/>
          <p:cNvSpPr txBox="1"/>
          <p:nvPr/>
        </p:nvSpPr>
        <p:spPr>
          <a:xfrm>
            <a:off x="7580193" y="14630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30" name="Text 28"/>
          <p:cNvSpPr txBox="1"/>
          <p:nvPr/>
        </p:nvSpPr>
        <p:spPr>
          <a:xfrm>
            <a:off x="8083113" y="1463040"/>
            <a:ext cx="1139891" cy="411480"/>
          </a:xfrm>
          <a:prstGeom prst="rect">
            <a:avLst/>
          </a:prstGeom>
          <a:noFill/>
          <a:ln/>
        </p:spPr>
        <p:txBody>
          <a:bodyPr wrap="square" lIns="0" tIns="0" rIns="0" bIns="0" rtlCol="0" anchor="ctr"/>
          <a:lstStyle/>
          <a:p>
            <a:pPr indent="0" marL="0">
              <a:buNone/>
            </a:pPr>
            <a:r>
              <a:rPr lang="en-US" sz="1600" b="1" dirty="0">
                <a:solidFill>
                  <a:schemeClr val="tx2"/>
                </a:solidFill>
              </a:rPr>
              <a:t>Validasi</a:t>
            </a:r>
            <a:endParaRPr lang="en-US" sz="1600" dirty="0"/>
          </a:p>
        </p:txBody>
      </p:sp>
      <p:sp>
        <p:nvSpPr>
          <p:cNvPr id="31" name="Text 29"/>
          <p:cNvSpPr txBox="1"/>
          <p:nvPr/>
        </p:nvSpPr>
        <p:spPr>
          <a:xfrm>
            <a:off x="7580193" y="2011680"/>
            <a:ext cx="1597091" cy="777240"/>
          </a:xfrm>
          <a:prstGeom prst="rect">
            <a:avLst/>
          </a:prstGeom>
          <a:noFill/>
          <a:ln/>
        </p:spPr>
        <p:txBody>
          <a:bodyPr wrap="square" lIns="0" tIns="0" rIns="0" bIns="0" rtlCol="0" anchor="ctr"/>
          <a:lstStyle/>
          <a:p>
            <a:pPr indent="0" marL="0">
              <a:buNone/>
            </a:pPr>
            <a:r>
              <a:rPr lang="en-US" sz="1300" dirty="0">
                <a:solidFill>
                  <a:schemeClr val="tx1"/>
                </a:solidFill>
              </a:rPr>
              <a:t>LOSO: diuji pada sesi yang tidak dipakai saat latih</a:t>
            </a:r>
            <a:endParaRPr lang="en-US" sz="1300" dirty="0"/>
          </a:p>
        </p:txBody>
      </p:sp>
      <p:sp>
        <p:nvSpPr>
          <p:cNvPr id="32" name="Shape 30"/>
          <p:cNvSpPr/>
          <p:nvPr/>
        </p:nvSpPr>
        <p:spPr>
          <a:xfrm>
            <a:off x="9405884" y="2308860"/>
            <a:ext cx="228600" cy="0"/>
          </a:xfrm>
          <a:prstGeom prst="line">
            <a:avLst/>
          </a:prstGeom>
          <a:noFill/>
          <a:ln w="25400">
            <a:solidFill>
              <a:srgbClr val="0F5257"/>
            </a:solidFill>
            <a:prstDash val="solid"/>
            <a:tailEnd type="triangle"/>
          </a:ln>
        </p:spPr>
      </p:sp>
      <p:sp>
        <p:nvSpPr>
          <p:cNvPr id="33" name="Shape 31"/>
          <p:cNvSpPr/>
          <p:nvPr/>
        </p:nvSpPr>
        <p:spPr>
          <a:xfrm>
            <a:off x="9680204" y="1280160"/>
            <a:ext cx="1962851" cy="2057400"/>
          </a:xfrm>
          <a:prstGeom prst="roundRect">
            <a:avLst>
              <a:gd name="adj" fmla="val 5590"/>
            </a:avLst>
          </a:prstGeom>
          <a:solidFill>
            <a:schemeClr val="bg2"/>
          </a:solidFill>
          <a:ln w="12700">
            <a:solidFill>
              <a:schemeClr val="bg2"/>
            </a:solidFill>
            <a:prstDash val="solid"/>
          </a:ln>
        </p:spPr>
      </p:sp>
      <p:sp>
        <p:nvSpPr>
          <p:cNvPr id="34" name="Shape 32"/>
          <p:cNvSpPr/>
          <p:nvPr/>
        </p:nvSpPr>
        <p:spPr>
          <a:xfrm>
            <a:off x="9863084" y="1463040"/>
            <a:ext cx="411480" cy="411480"/>
          </a:xfrm>
          <a:prstGeom prst="ellipse">
            <a:avLst/>
          </a:prstGeom>
          <a:solidFill>
            <a:schemeClr val="accent1"/>
          </a:solidFill>
          <a:ln w="12700">
            <a:solidFill>
              <a:schemeClr val="accent1"/>
            </a:solidFill>
            <a:prstDash val="solid"/>
          </a:ln>
        </p:spPr>
      </p:sp>
      <p:sp>
        <p:nvSpPr>
          <p:cNvPr id="35" name="Text 33"/>
          <p:cNvSpPr txBox="1"/>
          <p:nvPr/>
        </p:nvSpPr>
        <p:spPr>
          <a:xfrm>
            <a:off x="9863084" y="14630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6" name="Text 34"/>
          <p:cNvSpPr txBox="1"/>
          <p:nvPr/>
        </p:nvSpPr>
        <p:spPr>
          <a:xfrm>
            <a:off x="10366004" y="1463040"/>
            <a:ext cx="1139891" cy="411480"/>
          </a:xfrm>
          <a:prstGeom prst="rect">
            <a:avLst/>
          </a:prstGeom>
          <a:noFill/>
          <a:ln/>
        </p:spPr>
        <p:txBody>
          <a:bodyPr wrap="square" lIns="0" tIns="0" rIns="0" bIns="0" rtlCol="0" anchor="ctr"/>
          <a:lstStyle/>
          <a:p>
            <a:pPr indent="0" marL="0">
              <a:buNone/>
            </a:pPr>
            <a:r>
              <a:rPr lang="en-US" sz="1600" b="1" dirty="0">
                <a:solidFill>
                  <a:schemeClr val="tx2"/>
                </a:solidFill>
              </a:rPr>
              <a:t>Keputusan</a:t>
            </a:r>
            <a:endParaRPr lang="en-US" sz="1600" dirty="0"/>
          </a:p>
        </p:txBody>
      </p:sp>
      <p:sp>
        <p:nvSpPr>
          <p:cNvPr id="37" name="Text 35"/>
          <p:cNvSpPr txBox="1"/>
          <p:nvPr/>
        </p:nvSpPr>
        <p:spPr>
          <a:xfrm>
            <a:off x="9863084" y="2011680"/>
            <a:ext cx="1597091" cy="777240"/>
          </a:xfrm>
          <a:prstGeom prst="rect">
            <a:avLst/>
          </a:prstGeom>
          <a:noFill/>
          <a:ln/>
        </p:spPr>
        <p:txBody>
          <a:bodyPr wrap="square" lIns="0" tIns="0" rIns="0" bIns="0" rtlCol="0" anchor="ctr"/>
          <a:lstStyle/>
          <a:p>
            <a:pPr indent="0" marL="0">
              <a:buNone/>
            </a:pPr>
            <a:r>
              <a:rPr lang="en-US" sz="1300" dirty="0">
                <a:solidFill>
                  <a:schemeClr val="tx1"/>
                </a:solidFill>
              </a:rPr>
              <a:t>Agen memilih: jual, cek manual, buang</a:t>
            </a:r>
            <a:endParaRPr lang="en-US" sz="1300" dirty="0"/>
          </a:p>
        </p:txBody>
      </p:sp>
      <p:sp>
        <p:nvSpPr>
          <p:cNvPr id="38" name="Shape 36"/>
          <p:cNvSpPr/>
          <p:nvPr/>
        </p:nvSpPr>
        <p:spPr>
          <a:xfrm>
            <a:off x="9817364" y="2834640"/>
            <a:ext cx="1688531" cy="365760"/>
          </a:xfrm>
          <a:prstGeom prst="roundRect">
            <a:avLst>
              <a:gd name="adj" fmla="val 50000"/>
            </a:avLst>
          </a:prstGeom>
          <a:solidFill>
            <a:schemeClr val="accent2"/>
          </a:solidFill>
          <a:ln w="12700">
            <a:solidFill>
              <a:schemeClr val="accent2"/>
            </a:solidFill>
            <a:prstDash val="solid"/>
          </a:ln>
        </p:spPr>
      </p:sp>
      <p:sp>
        <p:nvSpPr>
          <p:cNvPr id="39" name="Text 37"/>
          <p:cNvSpPr txBox="1"/>
          <p:nvPr/>
        </p:nvSpPr>
        <p:spPr>
          <a:xfrm>
            <a:off x="9817364" y="2834640"/>
            <a:ext cx="1688531" cy="365760"/>
          </a:xfrm>
          <a:prstGeom prst="rect">
            <a:avLst/>
          </a:prstGeom>
          <a:noFill/>
          <a:ln/>
        </p:spPr>
        <p:txBody>
          <a:bodyPr wrap="square" lIns="0" tIns="0" rIns="0" bIns="0" rtlCol="0" anchor="ctr"/>
          <a:lstStyle/>
          <a:p>
            <a:pPr algn="ctr" indent="0" marL="0">
              <a:buNone/>
            </a:pPr>
            <a:r>
              <a:rPr lang="en-US" sz="1200" b="1" dirty="0">
                <a:solidFill>
                  <a:schemeClr val="tx2"/>
                </a:solidFill>
              </a:rPr>
              <a:t>Reinforcement</a:t>
            </a:r>
            <a:endParaRPr lang="en-US" sz="1200" dirty="0"/>
          </a:p>
        </p:txBody>
      </p:sp>
      <p:sp>
        <p:nvSpPr>
          <p:cNvPr id="40" name="Shape 38"/>
          <p:cNvSpPr/>
          <p:nvPr/>
        </p:nvSpPr>
        <p:spPr>
          <a:xfrm>
            <a:off x="548640" y="3566160"/>
            <a:ext cx="6766560" cy="2331720"/>
          </a:xfrm>
          <a:prstGeom prst="roundRect">
            <a:avLst>
              <a:gd name="adj" fmla="val 4706"/>
            </a:avLst>
          </a:prstGeom>
          <a:solidFill>
            <a:schemeClr val="bg1"/>
          </a:solidFill>
          <a:ln w="15875">
            <a:solidFill>
              <a:schemeClr val="accent1"/>
            </a:solidFill>
            <a:prstDash val="solid"/>
          </a:ln>
        </p:spPr>
      </p:sp>
      <p:sp>
        <p:nvSpPr>
          <p:cNvPr id="41" name="Text 39"/>
          <p:cNvSpPr txBox="1"/>
          <p:nvPr/>
        </p:nvSpPr>
        <p:spPr>
          <a:xfrm>
            <a:off x="822960" y="3749040"/>
            <a:ext cx="6217920" cy="36576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E-nose daging ayam</a:t>
            </a:r>
            <a:endParaRPr lang="en-US" sz="1900" dirty="0"/>
          </a:p>
        </p:txBody>
      </p:sp>
      <p:sp>
        <p:nvSpPr>
          <p:cNvPr id="42" name="Text 40"/>
          <p:cNvSpPr txBox="1"/>
          <p:nvPr/>
        </p:nvSpPr>
        <p:spPr>
          <a:xfrm>
            <a:off x="822960" y="4133088"/>
            <a:ext cx="6217920" cy="274320"/>
          </a:xfrm>
          <a:prstGeom prst="rect">
            <a:avLst/>
          </a:prstGeom>
          <a:noFill/>
          <a:ln/>
        </p:spPr>
        <p:txBody>
          <a:bodyPr wrap="square" lIns="0" tIns="0" rIns="0" bIns="0" rtlCol="0" anchor="ctr"/>
          <a:lstStyle/>
          <a:p>
            <a:pPr indent="0" marL="0">
              <a:buNone/>
            </a:pPr>
            <a:r>
              <a:rPr lang="en-US" sz="1200" dirty="0">
                <a:solidFill>
                  <a:srgbClr val="56676A"/>
                </a:solidFill>
              </a:rPr>
              <a:t>Anwar &amp; Anwar (2025), Sensing and Bio-Sensing Research 47, 100739</a:t>
            </a:r>
            <a:endParaRPr lang="en-US" sz="1200" dirty="0"/>
          </a:p>
        </p:txBody>
      </p:sp>
      <p:sp>
        <p:nvSpPr>
          <p:cNvPr id="43" name="Text 41"/>
          <p:cNvSpPr txBox="1"/>
          <p:nvPr/>
        </p:nvSpPr>
        <p:spPr>
          <a:xfrm>
            <a:off x="822960" y="4526280"/>
            <a:ext cx="6217920" cy="12801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15 sesi rekaman, 218.318 baris data</a:t>
            </a:r>
            <a:endParaRPr lang="en-US" sz="1400" dirty="0"/>
          </a:p>
          <a:p>
            <a:pPr marL="342900" indent="-342900">
              <a:spcAft>
                <a:spcPts val="400"/>
              </a:spcAft>
              <a:buSzPct val="100000"/>
              <a:buChar char="•"/>
            </a:pPr>
            <a:r>
              <a:rPr lang="en-US" sz="1400" dirty="0">
                <a:solidFill>
                  <a:schemeClr val="tx1"/>
                </a:solidFill>
              </a:rPr>
              <a:t>7 sensor: MQ-135, MQ-2, MQ-3, MQ-6, MQ-7, MQ-9, kelembapan</a:t>
            </a:r>
            <a:endParaRPr lang="en-US" sz="1400" dirty="0"/>
          </a:p>
          <a:p>
            <a:pPr marL="342900" indent="-342900">
              <a:spcAft>
                <a:spcPts val="400"/>
              </a:spcAft>
              <a:buSzPct val="100000"/>
              <a:buChar char="•"/>
            </a:pPr>
            <a:r>
              <a:rPr lang="en-US" sz="1400" dirty="0">
                <a:solidFill>
                  <a:schemeClr val="tx1"/>
                </a:solidFill>
              </a:rPr>
              <a:t>Label dari lama penyimpanan: Fresh · Semi-fresh · Spoiled</a:t>
            </a:r>
            <a:endParaRPr lang="en-US" sz="1400" dirty="0"/>
          </a:p>
        </p:txBody>
      </p:sp>
      <p:sp>
        <p:nvSpPr>
          <p:cNvPr id="44" name="Shape 42"/>
          <p:cNvSpPr/>
          <p:nvPr/>
        </p:nvSpPr>
        <p:spPr>
          <a:xfrm>
            <a:off x="7589520" y="3566160"/>
            <a:ext cx="4053535" cy="2331720"/>
          </a:xfrm>
          <a:prstGeom prst="roundRect">
            <a:avLst>
              <a:gd name="adj" fmla="val 4706"/>
            </a:avLst>
          </a:prstGeom>
          <a:solidFill>
            <a:schemeClr val="bg2"/>
          </a:solidFill>
          <a:ln w="12700">
            <a:solidFill>
              <a:schemeClr val="bg2"/>
            </a:solidFill>
            <a:prstDash val="solid"/>
          </a:ln>
        </p:spPr>
      </p:sp>
      <p:sp>
        <p:nvSpPr>
          <p:cNvPr id="45" name="Text 43"/>
          <p:cNvSpPr txBox="1"/>
          <p:nvPr/>
        </p:nvSpPr>
        <p:spPr>
          <a:xfrm>
            <a:off x="7863840" y="3749040"/>
            <a:ext cx="350489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DISTRIBUSI KELAS</a:t>
            </a:r>
            <a:endParaRPr lang="en-US" sz="1200" dirty="0"/>
          </a:p>
        </p:txBody>
      </p:sp>
      <p:sp>
        <p:nvSpPr>
          <p:cNvPr id="46" name="Text 44"/>
          <p:cNvSpPr txBox="1"/>
          <p:nvPr/>
        </p:nvSpPr>
        <p:spPr>
          <a:xfrm>
            <a:off x="7863840" y="4160520"/>
            <a:ext cx="1463040" cy="347472"/>
          </a:xfrm>
          <a:prstGeom prst="rect">
            <a:avLst/>
          </a:prstGeom>
          <a:noFill/>
          <a:ln/>
        </p:spPr>
        <p:txBody>
          <a:bodyPr wrap="square" lIns="0" tIns="0" rIns="0" bIns="0" rtlCol="0" anchor="ctr"/>
          <a:lstStyle/>
          <a:p>
            <a:pPr indent="0" marL="0">
              <a:buNone/>
            </a:pPr>
            <a:r>
              <a:rPr lang="en-US" sz="1400" dirty="0">
                <a:solidFill>
                  <a:schemeClr val="tx1"/>
                </a:solidFill>
              </a:rPr>
              <a:t>Fresh</a:t>
            </a:r>
            <a:endParaRPr lang="en-US" sz="1400" dirty="0"/>
          </a:p>
        </p:txBody>
      </p:sp>
      <p:sp>
        <p:nvSpPr>
          <p:cNvPr id="47" name="Text 45"/>
          <p:cNvSpPr txBox="1"/>
          <p:nvPr/>
        </p:nvSpPr>
        <p:spPr>
          <a:xfrm>
            <a:off x="9326880" y="4160520"/>
            <a:ext cx="1097280" cy="347472"/>
          </a:xfrm>
          <a:prstGeom prst="rect">
            <a:avLst/>
          </a:prstGeom>
          <a:noFill/>
          <a:ln/>
        </p:spPr>
        <p:txBody>
          <a:bodyPr wrap="square" lIns="0" tIns="0" rIns="0" bIns="0" rtlCol="0" anchor="ctr"/>
          <a:lstStyle/>
          <a:p>
            <a:pPr indent="0" marL="0">
              <a:buNone/>
            </a:pPr>
            <a:r>
              <a:rPr lang="en-US" sz="1500" b="1" dirty="0">
                <a:solidFill>
                  <a:srgbClr val="13866B"/>
                </a:solidFill>
              </a:rPr>
              <a:t>1.080</a:t>
            </a:r>
            <a:endParaRPr lang="en-US" sz="1500" dirty="0"/>
          </a:p>
        </p:txBody>
      </p:sp>
      <p:sp>
        <p:nvSpPr>
          <p:cNvPr id="48" name="Text 46"/>
          <p:cNvSpPr txBox="1"/>
          <p:nvPr/>
        </p:nvSpPr>
        <p:spPr>
          <a:xfrm>
            <a:off x="7863840" y="4572000"/>
            <a:ext cx="1463040" cy="347472"/>
          </a:xfrm>
          <a:prstGeom prst="rect">
            <a:avLst/>
          </a:prstGeom>
          <a:noFill/>
          <a:ln/>
        </p:spPr>
        <p:txBody>
          <a:bodyPr wrap="square" lIns="0" tIns="0" rIns="0" bIns="0" rtlCol="0" anchor="ctr"/>
          <a:lstStyle/>
          <a:p>
            <a:pPr indent="0" marL="0">
              <a:buNone/>
            </a:pPr>
            <a:r>
              <a:rPr lang="en-US" sz="1400" dirty="0">
                <a:solidFill>
                  <a:schemeClr val="tx1"/>
                </a:solidFill>
              </a:rPr>
              <a:t>Semi-fresh</a:t>
            </a:r>
            <a:endParaRPr lang="en-US" sz="1400" dirty="0"/>
          </a:p>
        </p:txBody>
      </p:sp>
      <p:sp>
        <p:nvSpPr>
          <p:cNvPr id="49" name="Text 47"/>
          <p:cNvSpPr txBox="1"/>
          <p:nvPr/>
        </p:nvSpPr>
        <p:spPr>
          <a:xfrm>
            <a:off x="9326880" y="4572000"/>
            <a:ext cx="1097280" cy="347472"/>
          </a:xfrm>
          <a:prstGeom prst="rect">
            <a:avLst/>
          </a:prstGeom>
          <a:noFill/>
          <a:ln/>
        </p:spPr>
        <p:txBody>
          <a:bodyPr wrap="square" lIns="0" tIns="0" rIns="0" bIns="0" rtlCol="0" anchor="ctr"/>
          <a:lstStyle/>
          <a:p>
            <a:pPr indent="0" marL="0">
              <a:buNone/>
            </a:pPr>
            <a:r>
              <a:rPr lang="en-US" sz="1500" b="1" dirty="0">
                <a:solidFill>
                  <a:srgbClr val="E3A33B"/>
                </a:solidFill>
              </a:rPr>
              <a:t>1.260</a:t>
            </a:r>
            <a:endParaRPr lang="en-US" sz="1500" dirty="0"/>
          </a:p>
        </p:txBody>
      </p:sp>
      <p:sp>
        <p:nvSpPr>
          <p:cNvPr id="50" name="Text 48"/>
          <p:cNvSpPr txBox="1"/>
          <p:nvPr/>
        </p:nvSpPr>
        <p:spPr>
          <a:xfrm>
            <a:off x="7863840" y="4983480"/>
            <a:ext cx="1463040" cy="347472"/>
          </a:xfrm>
          <a:prstGeom prst="rect">
            <a:avLst/>
          </a:prstGeom>
          <a:noFill/>
          <a:ln/>
        </p:spPr>
        <p:txBody>
          <a:bodyPr wrap="square" lIns="0" tIns="0" rIns="0" bIns="0" rtlCol="0" anchor="ctr"/>
          <a:lstStyle/>
          <a:p>
            <a:pPr indent="0" marL="0">
              <a:buNone/>
            </a:pPr>
            <a:r>
              <a:rPr lang="en-US" sz="1400" dirty="0">
                <a:solidFill>
                  <a:schemeClr val="tx1"/>
                </a:solidFill>
              </a:rPr>
              <a:t>Spoiled</a:t>
            </a:r>
            <a:endParaRPr lang="en-US" sz="1400" dirty="0"/>
          </a:p>
        </p:txBody>
      </p:sp>
      <p:sp>
        <p:nvSpPr>
          <p:cNvPr id="51" name="Text 49"/>
          <p:cNvSpPr txBox="1"/>
          <p:nvPr/>
        </p:nvSpPr>
        <p:spPr>
          <a:xfrm>
            <a:off x="9326880" y="4983480"/>
            <a:ext cx="1097280" cy="347472"/>
          </a:xfrm>
          <a:prstGeom prst="rect">
            <a:avLst/>
          </a:prstGeom>
          <a:noFill/>
          <a:ln/>
        </p:spPr>
        <p:txBody>
          <a:bodyPr wrap="square" lIns="0" tIns="0" rIns="0" bIns="0" rtlCol="0" anchor="ctr"/>
          <a:lstStyle/>
          <a:p>
            <a:pPr indent="0" marL="0">
              <a:buNone/>
            </a:pPr>
            <a:r>
              <a:rPr lang="en-US" sz="1500" b="1" dirty="0">
                <a:solidFill>
                  <a:srgbClr val="C4553B"/>
                </a:solidFill>
              </a:rPr>
              <a:t>1.128</a:t>
            </a:r>
            <a:endParaRPr lang="en-US" sz="1500" dirty="0"/>
          </a:p>
        </p:txBody>
      </p:sp>
      <p:sp>
        <p:nvSpPr>
          <p:cNvPr id="52" name="Text 50"/>
          <p:cNvSpPr txBox="1"/>
          <p:nvPr/>
        </p:nvSpPr>
        <p:spPr>
          <a:xfrm>
            <a:off x="7863840" y="5394960"/>
            <a:ext cx="3504895" cy="411480"/>
          </a:xfrm>
          <a:prstGeom prst="rect">
            <a:avLst/>
          </a:prstGeom>
          <a:noFill/>
          <a:ln/>
        </p:spPr>
        <p:txBody>
          <a:bodyPr wrap="square" lIns="0" tIns="0" rIns="0" bIns="0" rtlCol="0" anchor="ctr"/>
          <a:lstStyle/>
          <a:p>
            <a:pPr indent="0" marL="0">
              <a:buNone/>
            </a:pPr>
            <a:r>
              <a:rPr lang="en-US" sz="1250" dirty="0">
                <a:solidFill>
                  <a:srgbClr val="56676A"/>
                </a:solidFill>
              </a:rPr>
              <a:t>Seimbang (rasio 1,17), sehingga SMOTE tidak diperlukan.</a:t>
            </a:r>
            <a:endParaRPr lang="en-US" sz="125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Data Wrangling</a:t>
            </a:r>
            <a:endParaRPr lang="en-US" sz="3000" dirty="0"/>
          </a:p>
        </p:txBody>
      </p:sp>
      <p:sp>
        <p:nvSpPr>
          <p:cNvPr id="3" name="Shape 1"/>
          <p:cNvSpPr/>
          <p:nvPr/>
        </p:nvSpPr>
        <p:spPr>
          <a:xfrm>
            <a:off x="9814255" y="502920"/>
            <a:ext cx="182880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814255" y="502920"/>
            <a:ext cx="1828800" cy="411480"/>
          </a:xfrm>
          <a:prstGeom prst="rect">
            <a:avLst/>
          </a:prstGeom>
          <a:noFill/>
          <a:ln/>
        </p:spPr>
        <p:txBody>
          <a:bodyPr wrap="square" lIns="0" tIns="0" rIns="0" bIns="0" rtlCol="0" anchor="ctr"/>
          <a:lstStyle/>
          <a:p>
            <a:pPr algn="ctr" indent="0" marL="0">
              <a:buNone/>
            </a:pPr>
            <a:r>
              <a:rPr lang="en-US" sz="1200" b="1" dirty="0">
                <a:solidFill>
                  <a:schemeClr val="accent1"/>
                </a:solidFill>
              </a:rPr>
              <a:t>Pembicara: Erlangga</a:t>
            </a:r>
            <a:endParaRPr lang="en-US" sz="1200" dirty="0"/>
          </a:p>
        </p:txBody>
      </p:sp>
      <p:sp>
        <p:nvSpPr>
          <p:cNvPr id="5" name="Shape 3"/>
          <p:cNvSpPr/>
          <p:nvPr/>
        </p:nvSpPr>
        <p:spPr>
          <a:xfrm>
            <a:off x="548640" y="1371600"/>
            <a:ext cx="457200" cy="457200"/>
          </a:xfrm>
          <a:prstGeom prst="ellipse">
            <a:avLst/>
          </a:prstGeom>
          <a:solidFill>
            <a:schemeClr val="accent1"/>
          </a:solidFill>
          <a:ln w="12700">
            <a:solidFill>
              <a:schemeClr val="accent1"/>
            </a:solidFill>
            <a:prstDash val="solid"/>
          </a:ln>
        </p:spPr>
      </p:sp>
      <p:sp>
        <p:nvSpPr>
          <p:cNvPr id="6" name="Text 4"/>
          <p:cNvSpPr txBox="1"/>
          <p:nvPr/>
        </p:nvSpPr>
        <p:spPr>
          <a:xfrm>
            <a:off x="548640" y="1371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1188720" y="1325880"/>
            <a:ext cx="5029200" cy="365760"/>
          </a:xfrm>
          <a:prstGeom prst="rect">
            <a:avLst/>
          </a:prstGeom>
          <a:noFill/>
          <a:ln/>
        </p:spPr>
        <p:txBody>
          <a:bodyPr wrap="square" lIns="0" tIns="0" rIns="0" bIns="0" rtlCol="0" anchor="ctr"/>
          <a:lstStyle/>
          <a:p>
            <a:pPr indent="0" marL="0">
              <a:buNone/>
            </a:pPr>
            <a:r>
              <a:rPr lang="en-US" sz="1700" b="1" dirty="0">
                <a:solidFill>
                  <a:schemeClr val="tx2"/>
                </a:solidFill>
              </a:rPr>
              <a:t>Agregasi window 5 menit</a:t>
            </a:r>
            <a:endParaRPr lang="en-US" sz="1700" dirty="0"/>
          </a:p>
        </p:txBody>
      </p:sp>
      <p:sp>
        <p:nvSpPr>
          <p:cNvPr id="8" name="Text 6"/>
          <p:cNvSpPr txBox="1"/>
          <p:nvPr/>
        </p:nvSpPr>
        <p:spPr>
          <a:xfrm>
            <a:off x="1188720" y="1709928"/>
            <a:ext cx="5029200" cy="777240"/>
          </a:xfrm>
          <a:prstGeom prst="rect">
            <a:avLst/>
          </a:prstGeom>
          <a:noFill/>
          <a:ln/>
        </p:spPr>
        <p:txBody>
          <a:bodyPr wrap="square" lIns="0" tIns="0" rIns="0" bIns="0" rtlCol="0" anchor="t"/>
          <a:lstStyle/>
          <a:p>
            <a:pPr indent="0" marL="0">
              <a:buNone/>
            </a:pPr>
            <a:r>
              <a:rPr lang="en-US" sz="1400" dirty="0">
                <a:solidFill>
                  <a:schemeClr val="tx1"/>
                </a:solidFill>
              </a:rPr>
              <a:t>Sensor membaca ±12 kali per menit. 218.318 baris → 3.828 segmen.</a:t>
            </a:r>
            <a:endParaRPr lang="en-US" sz="1400" dirty="0"/>
          </a:p>
        </p:txBody>
      </p:sp>
      <p:sp>
        <p:nvSpPr>
          <p:cNvPr id="9" name="Shape 7"/>
          <p:cNvSpPr/>
          <p:nvPr/>
        </p:nvSpPr>
        <p:spPr>
          <a:xfrm>
            <a:off x="548640" y="265176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548640" y="2651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1188720" y="2606040"/>
            <a:ext cx="5029200" cy="365760"/>
          </a:xfrm>
          <a:prstGeom prst="rect">
            <a:avLst/>
          </a:prstGeom>
          <a:noFill/>
          <a:ln/>
        </p:spPr>
        <p:txBody>
          <a:bodyPr wrap="square" lIns="0" tIns="0" rIns="0" bIns="0" rtlCol="0" anchor="ctr"/>
          <a:lstStyle/>
          <a:p>
            <a:pPr indent="0" marL="0">
              <a:buNone/>
            </a:pPr>
            <a:r>
              <a:rPr lang="en-US" sz="1700" b="1" dirty="0">
                <a:solidFill>
                  <a:schemeClr val="tx2"/>
                </a:solidFill>
              </a:rPr>
              <a:t>Penghapusan periode warm-up (2 jam)</a:t>
            </a:r>
            <a:endParaRPr lang="en-US" sz="1700" dirty="0"/>
          </a:p>
        </p:txBody>
      </p:sp>
      <p:sp>
        <p:nvSpPr>
          <p:cNvPr id="12" name="Text 10"/>
          <p:cNvSpPr txBox="1"/>
          <p:nvPr/>
        </p:nvSpPr>
        <p:spPr>
          <a:xfrm>
            <a:off x="1188720" y="2990088"/>
            <a:ext cx="5029200" cy="777240"/>
          </a:xfrm>
          <a:prstGeom prst="rect">
            <a:avLst/>
          </a:prstGeom>
          <a:noFill/>
          <a:ln/>
        </p:spPr>
        <p:txBody>
          <a:bodyPr wrap="square" lIns="0" tIns="0" rIns="0" bIns="0" rtlCol="0" anchor="t"/>
          <a:lstStyle/>
          <a:p>
            <a:pPr indent="0" marL="0">
              <a:buNone/>
            </a:pPr>
            <a:r>
              <a:rPr lang="en-US" sz="1400" dirty="0">
                <a:solidFill>
                  <a:schemeClr val="tx1"/>
                </a:solidFill>
              </a:rPr>
              <a:t>Sensor perlu waktu stabil. Rata-rata jam ke-1 menjadi baseline; tersisa 3.468 segmen.</a:t>
            </a:r>
            <a:endParaRPr lang="en-US" sz="1400" dirty="0"/>
          </a:p>
        </p:txBody>
      </p:sp>
      <p:sp>
        <p:nvSpPr>
          <p:cNvPr id="13" name="Shape 11"/>
          <p:cNvSpPr/>
          <p:nvPr/>
        </p:nvSpPr>
        <p:spPr>
          <a:xfrm>
            <a:off x="548640" y="3931920"/>
            <a:ext cx="457200" cy="457200"/>
          </a:xfrm>
          <a:prstGeom prst="ellipse">
            <a:avLst/>
          </a:prstGeom>
          <a:solidFill>
            <a:schemeClr val="accent1"/>
          </a:solidFill>
          <a:ln w="12700">
            <a:solidFill>
              <a:schemeClr val="accent1"/>
            </a:solidFill>
            <a:prstDash val="solid"/>
          </a:ln>
        </p:spPr>
      </p:sp>
      <p:sp>
        <p:nvSpPr>
          <p:cNvPr id="14" name="Text 12"/>
          <p:cNvSpPr txBox="1"/>
          <p:nvPr/>
        </p:nvSpPr>
        <p:spPr>
          <a:xfrm>
            <a:off x="548640" y="3931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3"/>
          <p:cNvSpPr txBox="1"/>
          <p:nvPr/>
        </p:nvSpPr>
        <p:spPr>
          <a:xfrm>
            <a:off x="1188720" y="3886200"/>
            <a:ext cx="5029200" cy="365760"/>
          </a:xfrm>
          <a:prstGeom prst="rect">
            <a:avLst/>
          </a:prstGeom>
          <a:noFill/>
          <a:ln/>
        </p:spPr>
        <p:txBody>
          <a:bodyPr wrap="square" lIns="0" tIns="0" rIns="0" bIns="0" rtlCol="0" anchor="ctr"/>
          <a:lstStyle/>
          <a:p>
            <a:pPr indent="0" marL="0">
              <a:buNone/>
            </a:pPr>
            <a:r>
              <a:rPr lang="en-US" sz="1700" b="1" dirty="0">
                <a:solidFill>
                  <a:schemeClr val="tx2"/>
                </a:solidFill>
              </a:rPr>
              <a:t>Rekayasa fitur (19 fitur)</a:t>
            </a:r>
            <a:endParaRPr lang="en-US" sz="1700" dirty="0"/>
          </a:p>
        </p:txBody>
      </p:sp>
      <p:sp>
        <p:nvSpPr>
          <p:cNvPr id="16" name="Text 14"/>
          <p:cNvSpPr txBox="1"/>
          <p:nvPr/>
        </p:nvSpPr>
        <p:spPr>
          <a:xfrm>
            <a:off x="1188720" y="4270248"/>
            <a:ext cx="5029200" cy="777240"/>
          </a:xfrm>
          <a:prstGeom prst="rect">
            <a:avLst/>
          </a:prstGeom>
          <a:noFill/>
          <a:ln/>
        </p:spPr>
        <p:txBody>
          <a:bodyPr wrap="square" lIns="0" tIns="0" rIns="0" bIns="0" rtlCol="0" anchor="t"/>
          <a:lstStyle/>
          <a:p>
            <a:pPr indent="0" marL="0">
              <a:buNone/>
            </a:pPr>
            <a:r>
              <a:rPr lang="en-US" sz="1400" dirty="0">
                <a:solidFill>
                  <a:schemeClr val="tx1"/>
                </a:solidFill>
              </a:rPr>
              <a:t>Log-level gas · proporsi relatif antar sensor · perubahan terhadap baseline (analog Rs/R0) · kelembapan.</a:t>
            </a:r>
            <a:endParaRPr lang="en-US" sz="1400" dirty="0"/>
          </a:p>
        </p:txBody>
      </p:sp>
      <p:pic>
        <p:nvPicPr>
          <p:cNvPr id="17" name="Image 0" descr="/Users/angga0704/ets-ml2-kelompok/hasil/05_efek_wrangling.png">    </p:cNvPr>
          <p:cNvPicPr>
            <a:picLocks noChangeAspect="1"/>
          </p:cNvPicPr>
          <p:nvPr/>
        </p:nvPicPr>
        <p:blipFill>
          <a:blip r:embed="rId1"/>
          <a:stretch>
            <a:fillRect/>
          </a:stretch>
        </p:blipFill>
        <p:spPr>
          <a:xfrm>
            <a:off x="6400800" y="1494658"/>
            <a:ext cx="5242255" cy="3411485"/>
          </a:xfrm>
          <a:prstGeom prst="rect">
            <a:avLst/>
          </a:prstGeom>
        </p:spPr>
      </p:pic>
      <p:sp>
        <p:nvSpPr>
          <p:cNvPr id="18" name="Shape 15"/>
          <p:cNvSpPr/>
          <p:nvPr/>
        </p:nvSpPr>
        <p:spPr>
          <a:xfrm>
            <a:off x="548640" y="5486400"/>
            <a:ext cx="11094415" cy="685800"/>
          </a:xfrm>
          <a:prstGeom prst="roundRect">
            <a:avLst>
              <a:gd name="adj" fmla="val 16000"/>
            </a:avLst>
          </a:prstGeom>
          <a:solidFill>
            <a:schemeClr val="tx2"/>
          </a:solidFill>
          <a:ln w="12700">
            <a:solidFill>
              <a:schemeClr val="tx2"/>
            </a:solidFill>
            <a:prstDash val="solid"/>
          </a:ln>
        </p:spPr>
      </p:sp>
      <p:sp>
        <p:nvSpPr>
          <p:cNvPr id="19" name="Text 16"/>
          <p:cNvSpPr txBox="1"/>
          <p:nvPr/>
        </p:nvSpPr>
        <p:spPr>
          <a:xfrm>
            <a:off x="868680" y="5486400"/>
            <a:ext cx="10454335" cy="685800"/>
          </a:xfrm>
          <a:prstGeom prst="rect">
            <a:avLst/>
          </a:prstGeom>
          <a:noFill/>
          <a:ln/>
        </p:spPr>
        <p:txBody>
          <a:bodyPr wrap="square" lIns="0" tIns="0" rIns="0" bIns="0" rtlCol="0" anchor="ctr"/>
          <a:lstStyle/>
          <a:p>
            <a:pPr indent="0" marL="0">
              <a:buNone/>
            </a:pPr>
            <a:r>
              <a:rPr lang="en-US" sz="1600" b="1" dirty="0">
                <a:solidFill>
                  <a:schemeClr val="accent2"/>
                </a:solidFill>
              </a:rPr>
              <a:t>Mengapa waktu tidak dijadikan fitur? </a:t>
            </a:r>
            <a:pPr indent="0" marL="0">
              <a:buNone/>
            </a:pPr>
            <a:r>
              <a:rPr lang="en-US" sz="1600" dirty="0">
                <a:solidFill>
                  <a:schemeClr val="bg1"/>
                </a:solidFill>
              </a:rPr>
              <a:t>Label dibuat dari waktu; jika dipakai, terjadi data leakage (model mempelajari lama simpan, bukan pola gas).</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Skema Validasi: Random Split vs LOSO</a:t>
            </a:r>
            <a:endParaRPr lang="en-US" sz="3000" dirty="0"/>
          </a:p>
        </p:txBody>
      </p:sp>
      <p:sp>
        <p:nvSpPr>
          <p:cNvPr id="3" name="Shape 1"/>
          <p:cNvSpPr/>
          <p:nvPr/>
        </p:nvSpPr>
        <p:spPr>
          <a:xfrm>
            <a:off x="9814255" y="502920"/>
            <a:ext cx="182880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814255" y="502920"/>
            <a:ext cx="1828800" cy="411480"/>
          </a:xfrm>
          <a:prstGeom prst="rect">
            <a:avLst/>
          </a:prstGeom>
          <a:noFill/>
          <a:ln/>
        </p:spPr>
        <p:txBody>
          <a:bodyPr wrap="square" lIns="0" tIns="0" rIns="0" bIns="0" rtlCol="0" anchor="ctr"/>
          <a:lstStyle/>
          <a:p>
            <a:pPr algn="ctr" indent="0" marL="0">
              <a:buNone/>
            </a:pPr>
            <a:r>
              <a:rPr lang="en-US" sz="1200" b="1" dirty="0">
                <a:solidFill>
                  <a:schemeClr val="accent1"/>
                </a:solidFill>
              </a:rPr>
              <a:t>Pembicara: Michael</a:t>
            </a:r>
            <a:endParaRPr lang="en-US" sz="1200" dirty="0"/>
          </a:p>
        </p:txBody>
      </p:sp>
      <p:sp>
        <p:nvSpPr>
          <p:cNvPr id="5" name="Shape 3"/>
          <p:cNvSpPr/>
          <p:nvPr/>
        </p:nvSpPr>
        <p:spPr>
          <a:xfrm>
            <a:off x="548640" y="1325880"/>
            <a:ext cx="5852160" cy="3108960"/>
          </a:xfrm>
          <a:prstGeom prst="roundRect">
            <a:avLst>
              <a:gd name="adj" fmla="val 3529"/>
            </a:avLst>
          </a:prstGeom>
          <a:solidFill>
            <a:schemeClr val="bg2"/>
          </a:solidFill>
          <a:ln w="12700">
            <a:solidFill>
              <a:schemeClr val="bg2"/>
            </a:solidFill>
            <a:prstDash val="solid"/>
          </a:ln>
        </p:spPr>
      </p:sp>
      <p:sp>
        <p:nvSpPr>
          <p:cNvPr id="6" name="Text 4"/>
          <p:cNvSpPr txBox="1"/>
          <p:nvPr/>
        </p:nvSpPr>
        <p:spPr>
          <a:xfrm>
            <a:off x="868680" y="1508760"/>
            <a:ext cx="530352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AKURASI RANDOM FOREST</a:t>
            </a:r>
            <a:endParaRPr lang="en-US" sz="1200" dirty="0"/>
          </a:p>
        </p:txBody>
      </p:sp>
      <p:sp>
        <p:nvSpPr>
          <p:cNvPr id="7" name="Text 5"/>
          <p:cNvSpPr txBox="1"/>
          <p:nvPr/>
        </p:nvSpPr>
        <p:spPr>
          <a:xfrm>
            <a:off x="868680" y="1920240"/>
            <a:ext cx="2651760" cy="868680"/>
          </a:xfrm>
          <a:prstGeom prst="rect">
            <a:avLst/>
          </a:prstGeom>
          <a:noFill/>
          <a:ln/>
        </p:spPr>
        <p:txBody>
          <a:bodyPr wrap="square" lIns="0" tIns="0" rIns="0" bIns="0" rtlCol="0" anchor="b"/>
          <a:lstStyle/>
          <a:p>
            <a:pPr indent="0" marL="0">
              <a:buNone/>
            </a:pPr>
            <a:r>
              <a:rPr lang="en-US" sz="5400" b="1" dirty="0">
                <a:solidFill>
                  <a:schemeClr val="accent4"/>
                </a:solidFill>
                <a:latin typeface="Cambria" pitchFamily="34" charset="0"/>
                <a:ea typeface="Cambria" pitchFamily="34" charset="-122"/>
                <a:cs typeface="Cambria" pitchFamily="34" charset="-120"/>
              </a:rPr>
              <a:t>96,9%</a:t>
            </a:r>
            <a:endParaRPr lang="en-US" sz="5400" dirty="0"/>
          </a:p>
        </p:txBody>
      </p:sp>
      <p:sp>
        <p:nvSpPr>
          <p:cNvPr id="8" name="Text 6"/>
          <p:cNvSpPr txBox="1"/>
          <p:nvPr/>
        </p:nvSpPr>
        <p:spPr>
          <a:xfrm>
            <a:off x="868680" y="2834640"/>
            <a:ext cx="2651760" cy="548640"/>
          </a:xfrm>
          <a:prstGeom prst="rect">
            <a:avLst/>
          </a:prstGeom>
          <a:noFill/>
          <a:ln/>
        </p:spPr>
        <p:txBody>
          <a:bodyPr wrap="square" lIns="0" tIns="0" rIns="0" bIns="0" rtlCol="0" anchor="ctr"/>
          <a:lstStyle/>
          <a:p>
            <a:pPr indent="0" marL="0">
              <a:buNone/>
            </a:pPr>
            <a:r>
              <a:rPr lang="en-US" sz="1400" dirty="0">
                <a:solidFill>
                  <a:srgbClr val="56676A"/>
                </a:solidFill>
              </a:rPr>
              <a:t>random split</a:t>
            </a:r>
            <a:endParaRPr lang="en-US" sz="1400" dirty="0"/>
          </a:p>
        </p:txBody>
      </p:sp>
      <p:sp>
        <p:nvSpPr>
          <p:cNvPr id="9" name="Text 7"/>
          <p:cNvSpPr txBox="1"/>
          <p:nvPr/>
        </p:nvSpPr>
        <p:spPr>
          <a:xfrm>
            <a:off x="3566160" y="1920240"/>
            <a:ext cx="2651760" cy="868680"/>
          </a:xfrm>
          <a:prstGeom prst="rect">
            <a:avLst/>
          </a:prstGeom>
          <a:noFill/>
          <a:ln/>
        </p:spPr>
        <p:txBody>
          <a:bodyPr wrap="square" lIns="0" tIns="0" rIns="0" bIns="0" rtlCol="0" anchor="b"/>
          <a:lstStyle/>
          <a:p>
            <a:pPr indent="0" marL="0">
              <a:buNone/>
            </a:pPr>
            <a:r>
              <a:rPr lang="en-US" sz="5400" b="1" dirty="0">
                <a:solidFill>
                  <a:schemeClr val="accent1"/>
                </a:solidFill>
                <a:latin typeface="Cambria" pitchFamily="34" charset="0"/>
                <a:ea typeface="Cambria" pitchFamily="34" charset="-122"/>
                <a:cs typeface="Cambria" pitchFamily="34" charset="-120"/>
              </a:rPr>
              <a:t>77,6%</a:t>
            </a:r>
            <a:endParaRPr lang="en-US" sz="5400" dirty="0"/>
          </a:p>
        </p:txBody>
      </p:sp>
      <p:sp>
        <p:nvSpPr>
          <p:cNvPr id="10" name="Text 8"/>
          <p:cNvSpPr txBox="1"/>
          <p:nvPr/>
        </p:nvSpPr>
        <p:spPr>
          <a:xfrm>
            <a:off x="3566160" y="2834640"/>
            <a:ext cx="2651760" cy="548640"/>
          </a:xfrm>
          <a:prstGeom prst="rect">
            <a:avLst/>
          </a:prstGeom>
          <a:noFill/>
          <a:ln/>
        </p:spPr>
        <p:txBody>
          <a:bodyPr wrap="square" lIns="0" tIns="0" rIns="0" bIns="0" rtlCol="0" anchor="ctr"/>
          <a:lstStyle/>
          <a:p>
            <a:pPr indent="0" marL="0">
              <a:buNone/>
            </a:pPr>
            <a:r>
              <a:rPr lang="en-US" sz="1400" dirty="0">
                <a:solidFill>
                  <a:srgbClr val="56676A"/>
                </a:solidFill>
              </a:rPr>
              <a:t>Leave-One-Session-Out</a:t>
            </a:r>
            <a:endParaRPr lang="en-US" sz="1400" dirty="0"/>
          </a:p>
        </p:txBody>
      </p:sp>
      <p:sp>
        <p:nvSpPr>
          <p:cNvPr id="11" name="Text 9"/>
          <p:cNvSpPr txBox="1"/>
          <p:nvPr/>
        </p:nvSpPr>
        <p:spPr>
          <a:xfrm>
            <a:off x="868680" y="3474720"/>
            <a:ext cx="2377440" cy="320040"/>
          </a:xfrm>
          <a:prstGeom prst="rect">
            <a:avLst/>
          </a:prstGeom>
          <a:noFill/>
          <a:ln/>
        </p:spPr>
        <p:txBody>
          <a:bodyPr wrap="square" lIns="0" tIns="0" rIns="0" bIns="0" rtlCol="0" anchor="ctr"/>
          <a:lstStyle/>
          <a:p>
            <a:pPr indent="0" marL="0">
              <a:buNone/>
            </a:pPr>
            <a:r>
              <a:rPr lang="en-US" sz="1300" i="1" dirty="0">
                <a:solidFill>
                  <a:schemeClr val="accent4"/>
                </a:solidFill>
              </a:rPr>
              <a:t>overestimate (data leakage)</a:t>
            </a:r>
            <a:endParaRPr lang="en-US" sz="1300" dirty="0"/>
          </a:p>
        </p:txBody>
      </p:sp>
      <p:sp>
        <p:nvSpPr>
          <p:cNvPr id="12" name="Text 10"/>
          <p:cNvSpPr txBox="1"/>
          <p:nvPr/>
        </p:nvSpPr>
        <p:spPr>
          <a:xfrm>
            <a:off x="3566160" y="3474720"/>
            <a:ext cx="2377440" cy="320040"/>
          </a:xfrm>
          <a:prstGeom prst="rect">
            <a:avLst/>
          </a:prstGeom>
          <a:noFill/>
          <a:ln/>
        </p:spPr>
        <p:txBody>
          <a:bodyPr wrap="square" lIns="0" tIns="0" rIns="0" bIns="0" rtlCol="0" anchor="ctr"/>
          <a:lstStyle/>
          <a:p>
            <a:pPr indent="0" marL="0">
              <a:buNone/>
            </a:pPr>
            <a:r>
              <a:rPr lang="en-US" sz="1300" i="1" dirty="0">
                <a:solidFill>
                  <a:schemeClr val="accent1"/>
                </a:solidFill>
              </a:rPr>
              <a:t>estimasi realistis</a:t>
            </a:r>
            <a:endParaRPr lang="en-US" sz="1300" dirty="0"/>
          </a:p>
        </p:txBody>
      </p:sp>
      <p:sp>
        <p:nvSpPr>
          <p:cNvPr id="13" name="Shape 11"/>
          <p:cNvSpPr/>
          <p:nvPr/>
        </p:nvSpPr>
        <p:spPr>
          <a:xfrm>
            <a:off x="6675120" y="1325880"/>
            <a:ext cx="4967935" cy="3108960"/>
          </a:xfrm>
          <a:prstGeom prst="roundRect">
            <a:avLst>
              <a:gd name="adj" fmla="val 3529"/>
            </a:avLst>
          </a:prstGeom>
          <a:solidFill>
            <a:schemeClr val="tx2"/>
          </a:solidFill>
          <a:ln w="12700">
            <a:solidFill>
              <a:schemeClr val="tx2"/>
            </a:solidFill>
            <a:prstDash val="solid"/>
          </a:ln>
        </p:spPr>
      </p:sp>
      <p:sp>
        <p:nvSpPr>
          <p:cNvPr id="14" name="Text 12"/>
          <p:cNvSpPr txBox="1"/>
          <p:nvPr/>
        </p:nvSpPr>
        <p:spPr>
          <a:xfrm>
            <a:off x="6949440" y="1508760"/>
            <a:ext cx="4419295"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PROSEDUR LEAVE-ONE-SESSION-OUT</a:t>
            </a:r>
            <a:endParaRPr lang="en-US" sz="1200" dirty="0"/>
          </a:p>
        </p:txBody>
      </p:sp>
      <p:sp>
        <p:nvSpPr>
          <p:cNvPr id="15" name="Text 13"/>
          <p:cNvSpPr txBox="1"/>
          <p:nvPr/>
        </p:nvSpPr>
        <p:spPr>
          <a:xfrm>
            <a:off x="6949440" y="1920240"/>
            <a:ext cx="4419295" cy="1280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1"/>
                </a:solidFill>
              </a:rPr>
              <a:t>Satu sesi dijadikan data uji</a:t>
            </a:r>
            <a:endParaRPr lang="en-US" sz="1500" dirty="0"/>
          </a:p>
          <a:p>
            <a:pPr marL="342900" indent="-342900">
              <a:spcAft>
                <a:spcPts val="600"/>
              </a:spcAft>
              <a:buSzPct val="100000"/>
              <a:buChar char="•"/>
            </a:pPr>
            <a:r>
              <a:rPr lang="en-US" sz="1500" dirty="0">
                <a:solidFill>
                  <a:schemeClr val="bg1"/>
                </a:solidFill>
              </a:rPr>
              <a:t>Model dilatih dengan 14 sesi lainnya</a:t>
            </a:r>
            <a:endParaRPr lang="en-US" sz="1500" dirty="0"/>
          </a:p>
          <a:p>
            <a:pPr marL="342900" indent="-342900">
              <a:spcAft>
                <a:spcPts val="600"/>
              </a:spcAft>
              <a:buSzPct val="100000"/>
              <a:buChar char="•"/>
            </a:pPr>
            <a:r>
              <a:rPr lang="en-US" sz="1500" dirty="0">
                <a:solidFill>
                  <a:schemeClr val="bg1"/>
                </a:solidFill>
              </a:rPr>
              <a:t>Diulang 15 kali hingga setiap sesi pernah diuji</a:t>
            </a:r>
            <a:endParaRPr lang="en-US" sz="1500" dirty="0"/>
          </a:p>
        </p:txBody>
      </p:sp>
      <p:sp>
        <p:nvSpPr>
          <p:cNvPr id="16" name="Text 14"/>
          <p:cNvSpPr txBox="1"/>
          <p:nvPr/>
        </p:nvSpPr>
        <p:spPr>
          <a:xfrm>
            <a:off x="6949440" y="3429000"/>
            <a:ext cx="4419295" cy="731520"/>
          </a:xfrm>
          <a:prstGeom prst="rect">
            <a:avLst/>
          </a:prstGeom>
          <a:noFill/>
          <a:ln/>
        </p:spPr>
        <p:txBody>
          <a:bodyPr wrap="square" lIns="0" tIns="0" rIns="0" bIns="0" rtlCol="0" anchor="ctr"/>
          <a:lstStyle/>
          <a:p>
            <a:pPr indent="0" marL="0">
              <a:buNone/>
            </a:pPr>
            <a:r>
              <a:rPr lang="en-US" sz="1300" dirty="0">
                <a:solidFill>
                  <a:srgbClr val="CADBD7"/>
                </a:solidFill>
              </a:rPr>
              <a:t>Sesuai kondisi penggunaan: alat diterapkan pada sampel ayam baru.</a:t>
            </a:r>
            <a:endParaRPr lang="en-US" sz="1300" dirty="0"/>
          </a:p>
        </p:txBody>
      </p:sp>
      <p:sp>
        <p:nvSpPr>
          <p:cNvPr id="17" name="Text 15"/>
          <p:cNvSpPr txBox="1"/>
          <p:nvPr/>
        </p:nvSpPr>
        <p:spPr>
          <a:xfrm>
            <a:off x="548640" y="4617720"/>
            <a:ext cx="11094415" cy="685800"/>
          </a:xfrm>
          <a:prstGeom prst="rect">
            <a:avLst/>
          </a:prstGeom>
          <a:noFill/>
          <a:ln/>
        </p:spPr>
        <p:txBody>
          <a:bodyPr wrap="square" lIns="0" tIns="0" rIns="0" bIns="0" rtlCol="0" anchor="t"/>
          <a:lstStyle/>
          <a:p>
            <a:pPr indent="0" marL="0">
              <a:buNone/>
            </a:pPr>
            <a:r>
              <a:rPr lang="en-US" sz="1500" b="1" dirty="0">
                <a:solidFill>
                  <a:schemeClr val="tx1"/>
                </a:solidFill>
              </a:rPr>
              <a:t>Alasan: </a:t>
            </a:r>
            <a:pPr indent="0" marL="0">
              <a:buNone/>
            </a:pPr>
            <a:r>
              <a:rPr lang="en-US" sz="1500" dirty="0">
                <a:solidFill>
                  <a:schemeClr val="tx1"/>
                </a:solidFill>
              </a:rPr>
              <a:t>segmen 5 menit yang berurutan sangat mirip. Pada random split, segmen dari sesi yang sama masuk ke data latih dan data uji sekaligus (data leakage).</a:t>
            </a:r>
            <a:endParaRPr lang="en-US" sz="1500" dirty="0"/>
          </a:p>
        </p:txBody>
      </p:sp>
      <p:sp>
        <p:nvSpPr>
          <p:cNvPr id="18" name="Shape 16"/>
          <p:cNvSpPr/>
          <p:nvPr/>
        </p:nvSpPr>
        <p:spPr>
          <a:xfrm>
            <a:off x="548640" y="5486400"/>
            <a:ext cx="11094415" cy="685800"/>
          </a:xfrm>
          <a:prstGeom prst="roundRect">
            <a:avLst>
              <a:gd name="adj" fmla="val 16000"/>
            </a:avLst>
          </a:prstGeom>
          <a:solidFill>
            <a:schemeClr val="tx2"/>
          </a:solidFill>
          <a:ln w="12700">
            <a:solidFill>
              <a:schemeClr val="tx2"/>
            </a:solidFill>
            <a:prstDash val="solid"/>
          </a:ln>
        </p:spPr>
      </p:sp>
      <p:sp>
        <p:nvSpPr>
          <p:cNvPr id="19" name="Text 17"/>
          <p:cNvSpPr txBox="1"/>
          <p:nvPr/>
        </p:nvSpPr>
        <p:spPr>
          <a:xfrm>
            <a:off x="868680" y="5486400"/>
            <a:ext cx="10454335" cy="685800"/>
          </a:xfrm>
          <a:prstGeom prst="rect">
            <a:avLst/>
          </a:prstGeom>
          <a:noFill/>
          <a:ln/>
        </p:spPr>
        <p:txBody>
          <a:bodyPr wrap="square" lIns="0" tIns="0" rIns="0" bIns="0" rtlCol="0" anchor="ctr"/>
          <a:lstStyle/>
          <a:p>
            <a:pPr indent="0" marL="0">
              <a:buNone/>
            </a:pPr>
            <a:r>
              <a:rPr lang="en-US" sz="1600" b="1" dirty="0">
                <a:solidFill>
                  <a:schemeClr val="accent2"/>
                </a:solidFill>
              </a:rPr>
              <a:t>Temuan serupa pada paper asli: </a:t>
            </a:r>
            <a:pPr indent="0" marL="0">
              <a:buNone/>
            </a:pPr>
            <a:r>
              <a:rPr lang="en-US" sz="1600" dirty="0">
                <a:solidFill>
                  <a:schemeClr val="bg1"/>
                </a:solidFill>
              </a:rPr>
              <a:t>Random Forest 100% dengan random split, tetapi 69% dengan pembagian non-acak.</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Ensemble Learning</a:t>
            </a:r>
            <a:endParaRPr lang="en-US" sz="3000" dirty="0"/>
          </a:p>
        </p:txBody>
      </p:sp>
      <p:sp>
        <p:nvSpPr>
          <p:cNvPr id="3" name="Shape 1"/>
          <p:cNvSpPr/>
          <p:nvPr/>
        </p:nvSpPr>
        <p:spPr>
          <a:xfrm>
            <a:off x="9814255" y="502920"/>
            <a:ext cx="182880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814255" y="502920"/>
            <a:ext cx="1828800" cy="411480"/>
          </a:xfrm>
          <a:prstGeom prst="rect">
            <a:avLst/>
          </a:prstGeom>
          <a:noFill/>
          <a:ln/>
        </p:spPr>
        <p:txBody>
          <a:bodyPr wrap="square" lIns="0" tIns="0" rIns="0" bIns="0" rtlCol="0" anchor="ctr"/>
          <a:lstStyle/>
          <a:p>
            <a:pPr algn="ctr" indent="0" marL="0">
              <a:buNone/>
            </a:pPr>
            <a:r>
              <a:rPr lang="en-US" sz="1200" b="1" dirty="0">
                <a:solidFill>
                  <a:schemeClr val="accent1"/>
                </a:solidFill>
              </a:rPr>
              <a:t>Pembicara: Michael</a:t>
            </a:r>
            <a:endParaRPr lang="en-US" sz="1200" dirty="0"/>
          </a:p>
        </p:txBody>
      </p:sp>
      <p:pic>
        <p:nvPicPr>
          <p:cNvPr id="5" name="Image 0" descr="/Users/angga0704/ets-ml2-kelompok/hasil/04_ensemble.png">    </p:cNvPr>
          <p:cNvPicPr>
            <a:picLocks noChangeAspect="1"/>
          </p:cNvPicPr>
          <p:nvPr/>
        </p:nvPicPr>
        <p:blipFill>
          <a:blip r:embed="rId1"/>
          <a:stretch>
            <a:fillRect/>
          </a:stretch>
        </p:blipFill>
        <p:spPr>
          <a:xfrm>
            <a:off x="548640" y="1237151"/>
            <a:ext cx="6949440" cy="4017938"/>
          </a:xfrm>
          <a:prstGeom prst="rect">
            <a:avLst/>
          </a:prstGeom>
        </p:spPr>
      </p:pic>
      <p:sp>
        <p:nvSpPr>
          <p:cNvPr id="6" name="Shape 3"/>
          <p:cNvSpPr/>
          <p:nvPr/>
        </p:nvSpPr>
        <p:spPr>
          <a:xfrm>
            <a:off x="7726680" y="1234440"/>
            <a:ext cx="3916375" cy="2331720"/>
          </a:xfrm>
          <a:prstGeom prst="roundRect">
            <a:avLst>
              <a:gd name="adj" fmla="val 4706"/>
            </a:avLst>
          </a:prstGeom>
          <a:solidFill>
            <a:schemeClr val="bg2"/>
          </a:solidFill>
          <a:ln w="12700">
            <a:solidFill>
              <a:schemeClr val="bg2"/>
            </a:solidFill>
            <a:prstDash val="solid"/>
          </a:ln>
        </p:spPr>
      </p:sp>
      <p:sp>
        <p:nvSpPr>
          <p:cNvPr id="7" name="Text 4"/>
          <p:cNvSpPr txBox="1"/>
          <p:nvPr/>
        </p:nvSpPr>
        <p:spPr>
          <a:xfrm>
            <a:off x="8001000" y="1371600"/>
            <a:ext cx="336773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JENIS ENSEMBLE</a:t>
            </a:r>
            <a:endParaRPr lang="en-US" sz="1200" dirty="0"/>
          </a:p>
        </p:txBody>
      </p:sp>
      <p:sp>
        <p:nvSpPr>
          <p:cNvPr id="8" name="Text 5"/>
          <p:cNvSpPr txBox="1"/>
          <p:nvPr/>
        </p:nvSpPr>
        <p:spPr>
          <a:xfrm>
            <a:off x="8001000" y="1737360"/>
            <a:ext cx="3367735" cy="1783080"/>
          </a:xfrm>
          <a:prstGeom prst="rect">
            <a:avLst/>
          </a:prstGeom>
          <a:noFill/>
          <a:ln/>
        </p:spPr>
        <p:txBody>
          <a:bodyPr wrap="square" lIns="0" tIns="0" rIns="0" bIns="0" rtlCol="0" anchor="t"/>
          <a:lstStyle/>
          <a:p>
            <a:pPr indent="0" marL="0">
              <a:spcAft>
                <a:spcPts val="500"/>
              </a:spcAft>
              <a:buNone/>
            </a:pPr>
            <a:r>
              <a:rPr lang="en-US" sz="1300" b="1" dirty="0">
                <a:solidFill>
                  <a:schemeClr val="tx1"/>
                </a:solidFill>
              </a:rPr>
              <a:t>Random Forest (bagging): </a:t>
            </a:r>
            <a:pPr indent="0" marL="0">
              <a:spcAft>
                <a:spcPts val="500"/>
              </a:spcAft>
              <a:buNone/>
            </a:pPr>
            <a:r>
              <a:rPr lang="en-US" sz="1300" dirty="0">
                <a:solidFill>
                  <a:schemeClr val="tx1"/>
                </a:solidFill>
              </a:rPr>
              <a:t>300 pohon, lalu voting</a:t>
            </a:r>
            <a:endParaRPr lang="en-US" sz="1300" dirty="0"/>
          </a:p>
          <a:p>
            <a:pPr indent="0" marL="0">
              <a:spcAft>
                <a:spcPts val="500"/>
              </a:spcAft>
              <a:buNone/>
            </a:pPr>
            <a:r>
              <a:rPr lang="en-US" sz="1300" b="1" dirty="0">
                <a:solidFill>
                  <a:schemeClr val="tx1"/>
                </a:solidFill>
              </a:rPr>
              <a:t>XGBoost (boosting): </a:t>
            </a:r>
            <a:pPr indent="0" marL="0">
              <a:spcAft>
                <a:spcPts val="500"/>
              </a:spcAft>
              <a:buNone/>
            </a:pPr>
            <a:r>
              <a:rPr lang="en-US" sz="1300" dirty="0">
                <a:solidFill>
                  <a:schemeClr val="tx1"/>
                </a:solidFill>
              </a:rPr>
              <a:t>pohon dibuat berurutan, tiap pohon memperbaiki kesalahan pohon sebelumnya</a:t>
            </a:r>
            <a:endParaRPr lang="en-US" sz="1300" dirty="0"/>
          </a:p>
          <a:p>
            <a:pPr indent="0" marL="0">
              <a:spcAft>
                <a:spcPts val="500"/>
              </a:spcAft>
              <a:buNone/>
            </a:pPr>
            <a:r>
              <a:rPr lang="en-US" sz="1300" b="1" dirty="0">
                <a:solidFill>
                  <a:schemeClr val="tx1"/>
                </a:solidFill>
              </a:rPr>
              <a:t>Soft Voting: </a:t>
            </a:r>
            <a:pPr indent="0" marL="0">
              <a:spcAft>
                <a:spcPts val="500"/>
              </a:spcAft>
              <a:buNone/>
            </a:pPr>
            <a:r>
              <a:rPr lang="en-US" sz="1300" dirty="0">
                <a:solidFill>
                  <a:schemeClr val="tx1"/>
                </a:solidFill>
              </a:rPr>
              <a:t>rata-rata probabilitas dari 3 model berbeda</a:t>
            </a:r>
            <a:endParaRPr lang="en-US" sz="1300" dirty="0"/>
          </a:p>
        </p:txBody>
      </p:sp>
      <p:sp>
        <p:nvSpPr>
          <p:cNvPr id="9" name="Shape 6"/>
          <p:cNvSpPr/>
          <p:nvPr/>
        </p:nvSpPr>
        <p:spPr>
          <a:xfrm>
            <a:off x="7726680" y="3703320"/>
            <a:ext cx="3916375" cy="1600200"/>
          </a:xfrm>
          <a:prstGeom prst="roundRect">
            <a:avLst>
              <a:gd name="adj" fmla="val 6857"/>
            </a:avLst>
          </a:prstGeom>
          <a:solidFill>
            <a:schemeClr val="tx2"/>
          </a:solidFill>
          <a:ln w="12700">
            <a:solidFill>
              <a:schemeClr val="tx2"/>
            </a:solidFill>
            <a:prstDash val="solid"/>
          </a:ln>
        </p:spPr>
      </p:sp>
      <p:sp>
        <p:nvSpPr>
          <p:cNvPr id="10" name="Text 7"/>
          <p:cNvSpPr txBox="1"/>
          <p:nvPr/>
        </p:nvSpPr>
        <p:spPr>
          <a:xfrm>
            <a:off x="8001000" y="3794760"/>
            <a:ext cx="3367735" cy="141732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0,782 vs 0,713</a:t>
            </a:r>
            <a:endParaRPr lang="en-US" sz="1300" dirty="0"/>
          </a:p>
          <a:p>
            <a:pPr indent="0" marL="0">
              <a:buNone/>
            </a:pPr>
            <a:r>
              <a:rPr lang="en-US" sz="1300" dirty="0">
                <a:solidFill>
                  <a:schemeClr val="bg1"/>
                </a:solidFill>
              </a:rPr>
              <a:t>Random Forest vs Decision Tree. Kedalaman pohon sama (6); perbedaannya hanya jumlah pohon.</a:t>
            </a:r>
            <a:endParaRPr lang="en-US" sz="1300" dirty="0"/>
          </a:p>
        </p:txBody>
      </p:sp>
      <p:sp>
        <p:nvSpPr>
          <p:cNvPr id="11" name="Shape 8"/>
          <p:cNvSpPr/>
          <p:nvPr/>
        </p:nvSpPr>
        <p:spPr>
          <a:xfrm>
            <a:off x="548640" y="5486400"/>
            <a:ext cx="11094415" cy="685800"/>
          </a:xfrm>
          <a:prstGeom prst="roundRect">
            <a:avLst>
              <a:gd name="adj" fmla="val 16000"/>
            </a:avLst>
          </a:prstGeom>
          <a:solidFill>
            <a:schemeClr val="tx2"/>
          </a:solidFill>
          <a:ln w="12700">
            <a:solidFill>
              <a:schemeClr val="tx2"/>
            </a:solidFill>
            <a:prstDash val="solid"/>
          </a:ln>
        </p:spPr>
      </p:sp>
      <p:sp>
        <p:nvSpPr>
          <p:cNvPr id="12" name="Text 9"/>
          <p:cNvSpPr txBox="1"/>
          <p:nvPr/>
        </p:nvSpPr>
        <p:spPr>
          <a:xfrm>
            <a:off x="868680" y="5486400"/>
            <a:ext cx="10454335" cy="685800"/>
          </a:xfrm>
          <a:prstGeom prst="rect">
            <a:avLst/>
          </a:prstGeom>
          <a:noFill/>
          <a:ln/>
        </p:spPr>
        <p:txBody>
          <a:bodyPr wrap="square" lIns="0" tIns="0" rIns="0" bIns="0" rtlCol="0" anchor="ctr"/>
          <a:lstStyle/>
          <a:p>
            <a:pPr indent="0" marL="0">
              <a:buNone/>
            </a:pPr>
            <a:r>
              <a:rPr lang="en-US" sz="1600" b="1" dirty="0">
                <a:solidFill>
                  <a:schemeClr val="accent2"/>
                </a:solidFill>
              </a:rPr>
              <a:t>Rata-rata F1-macro: </a:t>
            </a:r>
            <a:pPr indent="0" marL="0">
              <a:buNone/>
            </a:pPr>
            <a:r>
              <a:rPr lang="en-US" sz="1600" dirty="0">
                <a:solidFill>
                  <a:schemeClr val="bg1"/>
                </a:solidFill>
              </a:rPr>
              <a:t>ensemble 0,768 vs model tunggal 0,726. Terbaik: Random Forest 0,782 (akurasi 77,6%).</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Data Augmentation</a:t>
            </a:r>
            <a:endParaRPr lang="en-US" sz="3000" dirty="0"/>
          </a:p>
        </p:txBody>
      </p:sp>
      <p:sp>
        <p:nvSpPr>
          <p:cNvPr id="3" name="Shape 1"/>
          <p:cNvSpPr/>
          <p:nvPr/>
        </p:nvSpPr>
        <p:spPr>
          <a:xfrm>
            <a:off x="9814255" y="502920"/>
            <a:ext cx="182880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814255" y="502920"/>
            <a:ext cx="1828800" cy="411480"/>
          </a:xfrm>
          <a:prstGeom prst="rect">
            <a:avLst/>
          </a:prstGeom>
          <a:noFill/>
          <a:ln/>
        </p:spPr>
        <p:txBody>
          <a:bodyPr wrap="square" lIns="0" tIns="0" rIns="0" bIns="0" rtlCol="0" anchor="ctr"/>
          <a:lstStyle/>
          <a:p>
            <a:pPr algn="ctr" indent="0" marL="0">
              <a:buNone/>
            </a:pPr>
            <a:r>
              <a:rPr lang="en-US" sz="1200" b="1" dirty="0">
                <a:solidFill>
                  <a:schemeClr val="accent1"/>
                </a:solidFill>
              </a:rPr>
              <a:t>Pembicara: Michael</a:t>
            </a:r>
            <a:endParaRPr lang="en-US" sz="1200" dirty="0"/>
          </a:p>
        </p:txBody>
      </p:sp>
      <p:sp>
        <p:nvSpPr>
          <p:cNvPr id="5" name="Shape 3"/>
          <p:cNvSpPr/>
          <p:nvPr/>
        </p:nvSpPr>
        <p:spPr>
          <a:xfrm>
            <a:off x="548640" y="1234440"/>
            <a:ext cx="5120640" cy="4069080"/>
          </a:xfrm>
          <a:prstGeom prst="roundRect">
            <a:avLst>
              <a:gd name="adj" fmla="val 2697"/>
            </a:avLst>
          </a:prstGeom>
          <a:solidFill>
            <a:schemeClr val="bg2"/>
          </a:solidFill>
          <a:ln w="12700">
            <a:solidFill>
              <a:schemeClr val="bg2"/>
            </a:solidFill>
            <a:prstDash val="solid"/>
          </a:ln>
        </p:spPr>
      </p:sp>
      <p:sp>
        <p:nvSpPr>
          <p:cNvPr id="6" name="Text 4"/>
          <p:cNvSpPr txBox="1"/>
          <p:nvPr/>
        </p:nvSpPr>
        <p:spPr>
          <a:xfrm>
            <a:off x="822960" y="1417320"/>
            <a:ext cx="4572000" cy="374904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Tujuan</a:t>
            </a:r>
            <a:endParaRPr lang="en-US" sz="1400" dirty="0"/>
          </a:p>
          <a:p>
            <a:pPr marL="342900" indent="-342900">
              <a:spcAft>
                <a:spcPts val="600"/>
              </a:spcAft>
              <a:buSzPct val="100000"/>
              <a:buChar char="•"/>
            </a:pPr>
            <a:r>
              <a:rPr lang="en-US" sz="1400" dirty="0">
                <a:solidFill>
                  <a:schemeClr val="tx1"/>
                </a:solidFill>
              </a:rPr>
              <a:t>Data hanya 15 sesi; sensor pada alat lain dapat berbeda sensitivitas dan noise-nya.</a:t>
            </a:r>
            <a:endParaRPr lang="en-US" sz="1400" dirty="0"/>
          </a:p>
          <a:p>
            <a:pPr indent="0" marL="0">
              <a:spcAft>
                <a:spcPts val="600"/>
              </a:spcAft>
              <a:buNone/>
            </a:pPr>
            <a:r>
              <a:rPr lang="en-US" sz="1500" b="1" dirty="0">
                <a:solidFill>
                  <a:schemeClr val="accent1"/>
                </a:solidFill>
              </a:rPr>
              <a:t>Metode</a:t>
            </a:r>
            <a:endParaRPr lang="en-US" sz="1400" dirty="0"/>
          </a:p>
          <a:p>
            <a:pPr marL="342900" indent="-342900">
              <a:spcAft>
                <a:spcPts val="600"/>
              </a:spcAft>
              <a:buSzPct val="100000"/>
              <a:buChar char="•"/>
            </a:pPr>
            <a:r>
              <a:rPr lang="en-US" sz="1400" dirty="0">
                <a:solidFill>
                  <a:schemeClr val="tx1"/>
                </a:solidFill>
              </a:rPr>
              <a:t>Gaussian noise jittering (σ = 5% simpangan baku)</a:t>
            </a:r>
            <a:endParaRPr lang="en-US" sz="1400" dirty="0"/>
          </a:p>
          <a:p>
            <a:pPr marL="342900" indent="-342900">
              <a:spcAft>
                <a:spcPts val="600"/>
              </a:spcAft>
              <a:buSzPct val="100000"/>
              <a:buChar char="•"/>
            </a:pPr>
            <a:r>
              <a:rPr lang="en-US" sz="1400" dirty="0">
                <a:solidFill>
                  <a:schemeClr val="tx1"/>
                </a:solidFill>
              </a:rPr>
              <a:t>Simulasi variasi sensitivitas sensor (faktor ±30% per sesi)</a:t>
            </a:r>
            <a:endParaRPr lang="en-US" sz="1400" dirty="0"/>
          </a:p>
          <a:p>
            <a:pPr marL="342900" indent="-342900">
              <a:spcAft>
                <a:spcPts val="600"/>
              </a:spcAft>
              <a:buSzPct val="100000"/>
              <a:buChar char="•"/>
            </a:pPr>
            <a:r>
              <a:rPr lang="en-US" sz="1400" dirty="0">
                <a:solidFill>
                  <a:schemeClr val="tx1"/>
                </a:solidFill>
              </a:rPr>
              <a:t>2 salinan sintetis per sesi, hanya pada data latih</a:t>
            </a:r>
            <a:endParaRPr lang="en-US" sz="1400" dirty="0"/>
          </a:p>
        </p:txBody>
      </p:sp>
      <p:pic>
        <p:nvPicPr>
          <p:cNvPr id="7" name="Image 0" descr="/Users/angga0704/ets-ml2-kelompok/hasil/07_augmentasi.png">    </p:cNvPr>
          <p:cNvPicPr>
            <a:picLocks noChangeAspect="1"/>
          </p:cNvPicPr>
          <p:nvPr/>
        </p:nvPicPr>
        <p:blipFill>
          <a:blip r:embed="rId1"/>
          <a:stretch>
            <a:fillRect/>
          </a:stretch>
        </p:blipFill>
        <p:spPr>
          <a:xfrm>
            <a:off x="5852160" y="1521970"/>
            <a:ext cx="5790895" cy="3448300"/>
          </a:xfrm>
          <a:prstGeom prst="rect">
            <a:avLst/>
          </a:prstGeom>
        </p:spPr>
      </p:pic>
      <p:sp>
        <p:nvSpPr>
          <p:cNvPr id="8" name="Shape 5"/>
          <p:cNvSpPr/>
          <p:nvPr/>
        </p:nvSpPr>
        <p:spPr>
          <a:xfrm>
            <a:off x="548640" y="5486400"/>
            <a:ext cx="11094415" cy="685800"/>
          </a:xfrm>
          <a:prstGeom prst="roundRect">
            <a:avLst>
              <a:gd name="adj" fmla="val 16000"/>
            </a:avLst>
          </a:prstGeom>
          <a:solidFill>
            <a:schemeClr val="tx2"/>
          </a:solidFill>
          <a:ln w="12700">
            <a:solidFill>
              <a:schemeClr val="tx2"/>
            </a:solidFill>
            <a:prstDash val="solid"/>
          </a:ln>
        </p:spPr>
      </p:sp>
      <p:sp>
        <p:nvSpPr>
          <p:cNvPr id="9" name="Text 6"/>
          <p:cNvSpPr txBox="1"/>
          <p:nvPr/>
        </p:nvSpPr>
        <p:spPr>
          <a:xfrm>
            <a:off x="868680" y="5486400"/>
            <a:ext cx="10454335" cy="685800"/>
          </a:xfrm>
          <a:prstGeom prst="rect">
            <a:avLst/>
          </a:prstGeom>
          <a:noFill/>
          <a:ln/>
        </p:spPr>
        <p:txBody>
          <a:bodyPr wrap="square" lIns="0" tIns="0" rIns="0" bIns="0" rtlCol="0" anchor="ctr"/>
          <a:lstStyle/>
          <a:p>
            <a:pPr indent="0" marL="0">
              <a:buNone/>
            </a:pPr>
            <a:r>
              <a:rPr lang="en-US" sz="1600" b="1" dirty="0">
                <a:solidFill>
                  <a:schemeClr val="accent2"/>
                </a:solidFill>
              </a:rPr>
              <a:t>Hasil: </a:t>
            </a:r>
            <a:pPr indent="0" marL="0">
              <a:buNone/>
            </a:pPr>
            <a:r>
              <a:rPr lang="en-US" sz="1600" dirty="0">
                <a:solidFill>
                  <a:schemeClr val="bg1"/>
                </a:solidFill>
              </a:rPr>
              <a:t>performa tidak meningkat (Random Forest: jitter -0,009, sensitivitas -0,015). Variasi sintetis belum mewakili variasi nyata antar sesi.</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Reinforcement Learning: Agen Keputusan</a:t>
            </a:r>
            <a:endParaRPr lang="en-US" sz="3000" dirty="0"/>
          </a:p>
        </p:txBody>
      </p:sp>
      <p:sp>
        <p:nvSpPr>
          <p:cNvPr id="3" name="Shape 1"/>
          <p:cNvSpPr/>
          <p:nvPr/>
        </p:nvSpPr>
        <p:spPr>
          <a:xfrm>
            <a:off x="9814255" y="502920"/>
            <a:ext cx="182880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814255" y="502920"/>
            <a:ext cx="1828800" cy="411480"/>
          </a:xfrm>
          <a:prstGeom prst="rect">
            <a:avLst/>
          </a:prstGeom>
          <a:noFill/>
          <a:ln/>
        </p:spPr>
        <p:txBody>
          <a:bodyPr wrap="square" lIns="0" tIns="0" rIns="0" bIns="0" rtlCol="0" anchor="ctr"/>
          <a:lstStyle/>
          <a:p>
            <a:pPr algn="ctr" indent="0" marL="0">
              <a:buNone/>
            </a:pPr>
            <a:r>
              <a:rPr lang="en-US" sz="1200" b="1" dirty="0">
                <a:solidFill>
                  <a:schemeClr val="accent1"/>
                </a:solidFill>
              </a:rPr>
              <a:t>Pembicara: Rijal</a:t>
            </a:r>
            <a:endParaRPr lang="en-US" sz="1200" dirty="0"/>
          </a:p>
        </p:txBody>
      </p:sp>
      <p:sp>
        <p:nvSpPr>
          <p:cNvPr id="5" name="Shape 3"/>
          <p:cNvSpPr/>
          <p:nvPr/>
        </p:nvSpPr>
        <p:spPr>
          <a:xfrm>
            <a:off x="548640" y="1234440"/>
            <a:ext cx="5760720" cy="4069080"/>
          </a:xfrm>
          <a:prstGeom prst="roundRect">
            <a:avLst>
              <a:gd name="adj" fmla="val 2697"/>
            </a:avLst>
          </a:prstGeom>
          <a:solidFill>
            <a:schemeClr val="bg2"/>
          </a:solidFill>
          <a:ln w="12700">
            <a:solidFill>
              <a:schemeClr val="bg2"/>
            </a:solidFill>
            <a:prstDash val="solid"/>
          </a:ln>
        </p:spPr>
      </p:sp>
      <p:sp>
        <p:nvSpPr>
          <p:cNvPr id="6" name="Text 4"/>
          <p:cNvSpPr txBox="1"/>
          <p:nvPr/>
        </p:nvSpPr>
        <p:spPr>
          <a:xfrm>
            <a:off x="822960" y="1417320"/>
            <a:ext cx="521208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KOMPONEN RL</a:t>
            </a:r>
            <a:endParaRPr lang="en-US" sz="1200" dirty="0"/>
          </a:p>
        </p:txBody>
      </p:sp>
      <p:sp>
        <p:nvSpPr>
          <p:cNvPr id="7" name="Text 5"/>
          <p:cNvSpPr txBox="1"/>
          <p:nvPr/>
        </p:nvSpPr>
        <p:spPr>
          <a:xfrm>
            <a:off x="822960" y="1828800"/>
            <a:ext cx="1188720" cy="731520"/>
          </a:xfrm>
          <a:prstGeom prst="rect">
            <a:avLst/>
          </a:prstGeom>
          <a:noFill/>
          <a:ln/>
        </p:spPr>
        <p:txBody>
          <a:bodyPr wrap="square" lIns="0" tIns="0" rIns="0" bIns="0" rtlCol="0" anchor="t"/>
          <a:lstStyle/>
          <a:p>
            <a:pPr indent="0" marL="0">
              <a:buNone/>
            </a:pPr>
            <a:r>
              <a:rPr lang="en-US" sz="1500" b="1" dirty="0">
                <a:solidFill>
                  <a:schemeClr val="tx2"/>
                </a:solidFill>
              </a:rPr>
              <a:t>State</a:t>
            </a:r>
            <a:endParaRPr lang="en-US" sz="1500" dirty="0"/>
          </a:p>
        </p:txBody>
      </p:sp>
      <p:sp>
        <p:nvSpPr>
          <p:cNvPr id="8" name="Text 6"/>
          <p:cNvSpPr txBox="1"/>
          <p:nvPr/>
        </p:nvSpPr>
        <p:spPr>
          <a:xfrm>
            <a:off x="2057400" y="1828800"/>
            <a:ext cx="3977640" cy="731520"/>
          </a:xfrm>
          <a:prstGeom prst="rect">
            <a:avLst/>
          </a:prstGeom>
          <a:noFill/>
          <a:ln/>
        </p:spPr>
        <p:txBody>
          <a:bodyPr wrap="square" lIns="0" tIns="0" rIns="0" bIns="0" rtlCol="0" anchor="t"/>
          <a:lstStyle/>
          <a:p>
            <a:pPr indent="0" marL="0">
              <a:buNone/>
            </a:pPr>
            <a:r>
              <a:rPr lang="en-US" sz="1400" dirty="0">
                <a:solidFill>
                  <a:schemeClr val="tx1"/>
                </a:solidFill>
              </a:rPr>
              <a:t>prediksi Random Forest × keyakinan model: yakin (≥ 0,7) / ragu → 6 state</a:t>
            </a:r>
            <a:endParaRPr lang="en-US" sz="1400" dirty="0"/>
          </a:p>
        </p:txBody>
      </p:sp>
      <p:sp>
        <p:nvSpPr>
          <p:cNvPr id="9" name="Text 7"/>
          <p:cNvSpPr txBox="1"/>
          <p:nvPr/>
        </p:nvSpPr>
        <p:spPr>
          <a:xfrm>
            <a:off x="822960" y="2670048"/>
            <a:ext cx="1188720" cy="731520"/>
          </a:xfrm>
          <a:prstGeom prst="rect">
            <a:avLst/>
          </a:prstGeom>
          <a:noFill/>
          <a:ln/>
        </p:spPr>
        <p:txBody>
          <a:bodyPr wrap="square" lIns="0" tIns="0" rIns="0" bIns="0" rtlCol="0" anchor="t"/>
          <a:lstStyle/>
          <a:p>
            <a:pPr indent="0" marL="0">
              <a:buNone/>
            </a:pPr>
            <a:r>
              <a:rPr lang="en-US" sz="1500" b="1" dirty="0">
                <a:solidFill>
                  <a:schemeClr val="tx2"/>
                </a:solidFill>
              </a:rPr>
              <a:t>Aksi</a:t>
            </a:r>
            <a:endParaRPr lang="en-US" sz="1500" dirty="0"/>
          </a:p>
        </p:txBody>
      </p:sp>
      <p:sp>
        <p:nvSpPr>
          <p:cNvPr id="10" name="Text 8"/>
          <p:cNvSpPr txBox="1"/>
          <p:nvPr/>
        </p:nvSpPr>
        <p:spPr>
          <a:xfrm>
            <a:off x="2057400" y="2670048"/>
            <a:ext cx="3977640" cy="731520"/>
          </a:xfrm>
          <a:prstGeom prst="rect">
            <a:avLst/>
          </a:prstGeom>
          <a:noFill/>
          <a:ln/>
        </p:spPr>
        <p:txBody>
          <a:bodyPr wrap="square" lIns="0" tIns="0" rIns="0" bIns="0" rtlCol="0" anchor="t"/>
          <a:lstStyle/>
          <a:p>
            <a:pPr indent="0" marL="0">
              <a:buNone/>
            </a:pPr>
            <a:r>
              <a:rPr lang="en-US" sz="1400" dirty="0">
                <a:solidFill>
                  <a:schemeClr val="tx1"/>
                </a:solidFill>
              </a:rPr>
              <a:t>Jual · Cek manual · Buang</a:t>
            </a:r>
            <a:endParaRPr lang="en-US" sz="1400" dirty="0"/>
          </a:p>
        </p:txBody>
      </p:sp>
      <p:sp>
        <p:nvSpPr>
          <p:cNvPr id="11" name="Text 9"/>
          <p:cNvSpPr txBox="1"/>
          <p:nvPr/>
        </p:nvSpPr>
        <p:spPr>
          <a:xfrm>
            <a:off x="822960" y="3511296"/>
            <a:ext cx="1188720" cy="731520"/>
          </a:xfrm>
          <a:prstGeom prst="rect">
            <a:avLst/>
          </a:prstGeom>
          <a:noFill/>
          <a:ln/>
        </p:spPr>
        <p:txBody>
          <a:bodyPr wrap="square" lIns="0" tIns="0" rIns="0" bIns="0" rtlCol="0" anchor="t"/>
          <a:lstStyle/>
          <a:p>
            <a:pPr indent="0" marL="0">
              <a:buNone/>
            </a:pPr>
            <a:r>
              <a:rPr lang="en-US" sz="1500" b="1" dirty="0">
                <a:solidFill>
                  <a:schemeClr val="tx2"/>
                </a:solidFill>
              </a:rPr>
              <a:t>Reward</a:t>
            </a:r>
            <a:endParaRPr lang="en-US" sz="1500" dirty="0"/>
          </a:p>
        </p:txBody>
      </p:sp>
      <p:sp>
        <p:nvSpPr>
          <p:cNvPr id="12" name="Text 10"/>
          <p:cNvSpPr txBox="1"/>
          <p:nvPr/>
        </p:nvSpPr>
        <p:spPr>
          <a:xfrm>
            <a:off x="2057400" y="3511296"/>
            <a:ext cx="3977640" cy="731520"/>
          </a:xfrm>
          <a:prstGeom prst="rect">
            <a:avLst/>
          </a:prstGeom>
          <a:noFill/>
          <a:ln/>
        </p:spPr>
        <p:txBody>
          <a:bodyPr wrap="square" lIns="0" tIns="0" rIns="0" bIns="0" rtlCol="0" anchor="t"/>
          <a:lstStyle/>
          <a:p>
            <a:pPr indent="0" marL="0">
              <a:buNone/>
            </a:pPr>
            <a:r>
              <a:rPr lang="en-US" sz="1400" dirty="0">
                <a:solidFill>
                  <a:schemeClr val="tx1"/>
                </a:solidFill>
              </a:rPr>
              <a:t>nilai dari tabel di kanan (asumsi berbasis risiko)</a:t>
            </a:r>
            <a:endParaRPr lang="en-US" sz="1400" dirty="0"/>
          </a:p>
        </p:txBody>
      </p:sp>
      <p:sp>
        <p:nvSpPr>
          <p:cNvPr id="13" name="Text 11"/>
          <p:cNvSpPr txBox="1"/>
          <p:nvPr/>
        </p:nvSpPr>
        <p:spPr>
          <a:xfrm>
            <a:off x="822960" y="4352544"/>
            <a:ext cx="1188720" cy="731520"/>
          </a:xfrm>
          <a:prstGeom prst="rect">
            <a:avLst/>
          </a:prstGeom>
          <a:noFill/>
          <a:ln/>
        </p:spPr>
        <p:txBody>
          <a:bodyPr wrap="square" lIns="0" tIns="0" rIns="0" bIns="0" rtlCol="0" anchor="t"/>
          <a:lstStyle/>
          <a:p>
            <a:pPr indent="0" marL="0">
              <a:buNone/>
            </a:pPr>
            <a:r>
              <a:rPr lang="en-US" sz="1500" b="1" dirty="0">
                <a:solidFill>
                  <a:schemeClr val="tx2"/>
                </a:solidFill>
              </a:rPr>
              <a:t>Metode</a:t>
            </a:r>
            <a:endParaRPr lang="en-US" sz="1500" dirty="0"/>
          </a:p>
        </p:txBody>
      </p:sp>
      <p:sp>
        <p:nvSpPr>
          <p:cNvPr id="14" name="Text 12"/>
          <p:cNvSpPr txBox="1"/>
          <p:nvPr/>
        </p:nvSpPr>
        <p:spPr>
          <a:xfrm>
            <a:off x="2057400" y="4352544"/>
            <a:ext cx="3977640" cy="731520"/>
          </a:xfrm>
          <a:prstGeom prst="rect">
            <a:avLst/>
          </a:prstGeom>
          <a:noFill/>
          <a:ln/>
        </p:spPr>
        <p:txBody>
          <a:bodyPr wrap="square" lIns="0" tIns="0" rIns="0" bIns="0" rtlCol="0" anchor="t"/>
          <a:lstStyle/>
          <a:p>
            <a:pPr indent="0" marL="0">
              <a:buNone/>
            </a:pPr>
            <a:r>
              <a:rPr lang="en-US" sz="1400" dirty="0">
                <a:solidFill>
                  <a:schemeClr val="tx1"/>
                </a:solidFill>
              </a:rPr>
              <a:t>ε-greedy (contextual bandit): 90% exploitation, 10% exploration; nilai aksi = rata-rata reward</a:t>
            </a:r>
            <a:endParaRPr lang="en-US" sz="1400" dirty="0"/>
          </a:p>
        </p:txBody>
      </p:sp>
      <p:sp>
        <p:nvSpPr>
          <p:cNvPr id="15" name="Text 13"/>
          <p:cNvSpPr txBox="1"/>
          <p:nvPr/>
        </p:nvSpPr>
        <p:spPr>
          <a:xfrm>
            <a:off x="6583680" y="1280160"/>
            <a:ext cx="505937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TABEL REWARD</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583680" y="1645920"/>
          <a:ext cx="5059375" cy="914400"/>
        </p:xfrm>
        <a:graphic>
          <a:graphicData uri="http://schemas.openxmlformats.org/drawingml/2006/table">
            <a:tbl>
              <a:tblPr/>
              <a:tblGrid>
                <a:gridCol w="1922563"/>
                <a:gridCol w="1568406"/>
                <a:gridCol w="1568406"/>
              </a:tblGrid>
              <a:tr h="384048">
                <a:tc>
                  <a:txBody>
                    <a:bodyPr/>
                    <a:lstStyle/>
                    <a:p>
                      <a:pPr algn="ctr" indent="0" marL="0">
                        <a:buNone/>
                      </a:pPr>
                      <a:r>
                        <a:rPr lang="en-US" sz="1300" b="1" dirty="0">
                          <a:solidFill>
                            <a:schemeClr val="bg1"/>
                          </a:solidFill>
                        </a:rPr>
                        <a:t>Aksi</a:t>
                      </a:r>
                      <a:endParaRPr lang="en-US" sz="1300" dirty="0"/>
                    </a:p>
                  </a:txBody>
                  <a:tcPr marL="45720" marR="45720" marT="45720" marB="45720"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Ayam layak</a:t>
                      </a:r>
                      <a:endParaRPr lang="en-US" sz="1300" dirty="0"/>
                    </a:p>
                  </a:txBody>
                  <a:tcPr marL="45720" marR="45720" marT="45720" marB="45720"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Ayam busuk</a:t>
                      </a:r>
                      <a:endParaRPr lang="en-US" sz="1300" dirty="0"/>
                    </a:p>
                  </a:txBody>
                  <a:tcPr marL="45720" marR="45720" marT="45720" marB="45720"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tx2"/>
                    </a:solidFill>
                  </a:tcPr>
                </a:tc>
              </a:tr>
              <a:tr h="384048">
                <a:tc>
                  <a:txBody>
                    <a:bodyPr/>
                    <a:lstStyle/>
                    <a:p>
                      <a:pPr algn="ctr" indent="0" marL="0">
                        <a:buNone/>
                      </a:pPr>
                      <a:r>
                        <a:rPr lang="en-US" sz="1400" b="1" dirty="0">
                          <a:solidFill>
                            <a:schemeClr val="tx1"/>
                          </a:solidFill>
                        </a:rPr>
                        <a:t>Jual</a:t>
                      </a:r>
                      <a:endParaRPr lang="en-US" sz="1400" dirty="0"/>
                    </a:p>
                  </a:txBody>
                  <a:tcPr marL="45720" marR="45720" marT="45720" marB="45720"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tcPr>
                </a:tc>
                <a:tc>
                  <a:txBody>
                    <a:bodyPr/>
                    <a:lstStyle/>
                    <a:p>
                      <a:pPr algn="ctr" indent="0" marL="0">
                        <a:buNone/>
                      </a:pPr>
                      <a:r>
                        <a:rPr lang="en-US" sz="1400" dirty="0">
                          <a:solidFill>
                            <a:schemeClr val="tx1"/>
                          </a:solidFill>
                        </a:rPr>
                        <a:t>+1</a:t>
                      </a:r>
                      <a:endParaRPr lang="en-US" sz="1400" dirty="0"/>
                    </a:p>
                  </a:txBody>
                  <a:tcPr marL="45720" marR="45720" marT="45720" marB="45720"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tcPr>
                </a:tc>
                <a:tc>
                  <a:txBody>
                    <a:bodyPr/>
                    <a:lstStyle/>
                    <a:p>
                      <a:pPr algn="ctr" indent="0" marL="0">
                        <a:buNone/>
                      </a:pPr>
                      <a:r>
                        <a:rPr lang="en-US" sz="1400" b="1" dirty="0">
                          <a:solidFill>
                            <a:srgbClr val="C4553B"/>
                          </a:solidFill>
                        </a:rPr>
                        <a:t>−5</a:t>
                      </a:r>
                      <a:endParaRPr lang="en-US" sz="1400" dirty="0"/>
                    </a:p>
                  </a:txBody>
                  <a:tcPr marL="45720" marR="45720" marT="45720" marB="45720"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tcPr>
                </a:tc>
              </a:tr>
              <a:tr h="384048">
                <a:tc>
                  <a:txBody>
                    <a:bodyPr/>
                    <a:lstStyle/>
                    <a:p>
                      <a:pPr algn="ctr" indent="0" marL="0">
                        <a:buNone/>
                      </a:pPr>
                      <a:r>
                        <a:rPr lang="en-US" sz="1400" b="1" dirty="0">
                          <a:solidFill>
                            <a:schemeClr val="tx1"/>
                          </a:solidFill>
                        </a:rPr>
                        <a:t>Cek manual</a:t>
                      </a:r>
                      <a:endParaRPr lang="en-US" sz="1400" dirty="0"/>
                    </a:p>
                  </a:txBody>
                  <a:tcPr marL="45720" marR="45720" marT="45720" marB="45720"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tcPr>
                </a:tc>
                <a:tc>
                  <a:txBody>
                    <a:bodyPr/>
                    <a:lstStyle/>
                    <a:p>
                      <a:pPr algn="ctr" indent="0" marL="0">
                        <a:buNone/>
                      </a:pPr>
                      <a:r>
                        <a:rPr lang="en-US" sz="1400" dirty="0">
                          <a:solidFill>
                            <a:schemeClr val="tx1"/>
                          </a:solidFill>
                        </a:rPr>
                        <a:t>+0,5</a:t>
                      </a:r>
                      <a:endParaRPr lang="en-US" sz="1400" dirty="0"/>
                    </a:p>
                  </a:txBody>
                  <a:tcPr marL="45720" marR="45720" marT="45720" marB="45720"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tcPr>
                </a:tc>
                <a:tc>
                  <a:txBody>
                    <a:bodyPr/>
                    <a:lstStyle/>
                    <a:p>
                      <a:pPr algn="ctr" indent="0" marL="0">
                        <a:buNone/>
                      </a:pPr>
                      <a:r>
                        <a:rPr lang="en-US" sz="1400" dirty="0">
                          <a:solidFill>
                            <a:schemeClr val="tx1"/>
                          </a:solidFill>
                        </a:rPr>
                        <a:t>+0,5</a:t>
                      </a:r>
                      <a:endParaRPr lang="en-US" sz="1400" dirty="0"/>
                    </a:p>
                  </a:txBody>
                  <a:tcPr marL="45720" marR="45720" marT="45720" marB="45720"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tcPr>
                </a:tc>
              </a:tr>
              <a:tr h="384048">
                <a:tc>
                  <a:txBody>
                    <a:bodyPr/>
                    <a:lstStyle/>
                    <a:p>
                      <a:pPr algn="ctr" indent="0" marL="0">
                        <a:buNone/>
                      </a:pPr>
                      <a:r>
                        <a:rPr lang="en-US" sz="1400" b="1" dirty="0">
                          <a:solidFill>
                            <a:schemeClr val="tx1"/>
                          </a:solidFill>
                        </a:rPr>
                        <a:t>Buang</a:t>
                      </a:r>
                      <a:endParaRPr lang="en-US" sz="1400" dirty="0"/>
                    </a:p>
                  </a:txBody>
                  <a:tcPr marL="45720" marR="45720" marT="45720" marB="45720"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tcPr>
                </a:tc>
                <a:tc>
                  <a:txBody>
                    <a:bodyPr/>
                    <a:lstStyle/>
                    <a:p>
                      <a:pPr algn="ctr" indent="0" marL="0">
                        <a:buNone/>
                      </a:pPr>
                      <a:r>
                        <a:rPr lang="en-US" sz="1400" dirty="0">
                          <a:solidFill>
                            <a:schemeClr val="tx1"/>
                          </a:solidFill>
                        </a:rPr>
                        <a:t>−1</a:t>
                      </a:r>
                      <a:endParaRPr lang="en-US" sz="1400" dirty="0"/>
                    </a:p>
                  </a:txBody>
                  <a:tcPr marL="45720" marR="45720" marT="45720" marB="45720"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tcPr>
                </a:tc>
                <a:tc>
                  <a:txBody>
                    <a:bodyPr/>
                    <a:lstStyle/>
                    <a:p>
                      <a:pPr algn="ctr" indent="0" marL="0">
                        <a:buNone/>
                      </a:pPr>
                      <a:r>
                        <a:rPr lang="en-US" sz="1400" dirty="0">
                          <a:solidFill>
                            <a:schemeClr val="tx1"/>
                          </a:solidFill>
                        </a:rPr>
                        <a:t>+1</a:t>
                      </a:r>
                      <a:endParaRPr lang="en-US" sz="1400" dirty="0"/>
                    </a:p>
                  </a:txBody>
                  <a:tcPr marL="45720" marR="45720" marT="45720" marB="45720"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tcPr>
                </a:tc>
              </a:tr>
            </a:tbl>
          </a:graphicData>
        </a:graphic>
      </p:graphicFrame>
      <p:sp>
        <p:nvSpPr>
          <p:cNvPr id="17" name="Text 14"/>
          <p:cNvSpPr txBox="1"/>
          <p:nvPr/>
        </p:nvSpPr>
        <p:spPr>
          <a:xfrm>
            <a:off x="6583680" y="3429000"/>
            <a:ext cx="505937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KEBIJAKAN HASIL PEMBELAJARAN</a:t>
            </a:r>
            <a:endParaRPr lang="en-US" sz="1200" dirty="0"/>
          </a:p>
        </p:txBody>
      </p:sp>
      <p:sp>
        <p:nvSpPr>
          <p:cNvPr id="18" name="Text 15"/>
          <p:cNvSpPr txBox="1"/>
          <p:nvPr/>
        </p:nvSpPr>
        <p:spPr>
          <a:xfrm>
            <a:off x="6583680" y="3794760"/>
            <a:ext cx="5059375" cy="1463040"/>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Prediksi Fresh → </a:t>
            </a:r>
            <a:pPr indent="0" marL="0">
              <a:spcAft>
                <a:spcPts val="300"/>
              </a:spcAft>
              <a:buNone/>
            </a:pPr>
            <a:r>
              <a:rPr lang="en-US" sz="1400" b="1" dirty="0">
                <a:solidFill>
                  <a:schemeClr val="accent1"/>
                </a:solidFill>
              </a:rPr>
              <a:t>Jual</a:t>
            </a:r>
            <a:endParaRPr lang="en-US" sz="1400" dirty="0"/>
          </a:p>
          <a:p>
            <a:pPr indent="0" marL="0">
              <a:spcAft>
                <a:spcPts val="300"/>
              </a:spcAft>
              <a:buNone/>
            </a:pPr>
            <a:r>
              <a:rPr lang="en-US" sz="1400" dirty="0">
                <a:solidFill>
                  <a:schemeClr val="tx1"/>
                </a:solidFill>
              </a:rPr>
              <a:t>Prediksi Semi-fresh → </a:t>
            </a:r>
            <a:pPr indent="0" marL="0">
              <a:spcAft>
                <a:spcPts val="300"/>
              </a:spcAft>
              <a:buNone/>
            </a:pPr>
            <a:r>
              <a:rPr lang="en-US" sz="1400" b="1" dirty="0">
                <a:solidFill>
                  <a:schemeClr val="accent2"/>
                </a:solidFill>
              </a:rPr>
              <a:t>Cek manual</a:t>
            </a:r>
            <a:endParaRPr lang="en-US" sz="1400" dirty="0"/>
          </a:p>
          <a:p>
            <a:pPr indent="0" marL="0">
              <a:spcAft>
                <a:spcPts val="300"/>
              </a:spcAft>
              <a:buNone/>
            </a:pPr>
            <a:r>
              <a:rPr lang="en-US" sz="1400" dirty="0">
                <a:solidFill>
                  <a:schemeClr val="tx1"/>
                </a:solidFill>
              </a:rPr>
              <a:t>Spoiled &amp; model yakin → </a:t>
            </a:r>
            <a:pPr indent="0" marL="0">
              <a:spcAft>
                <a:spcPts val="300"/>
              </a:spcAft>
              <a:buNone/>
            </a:pPr>
            <a:r>
              <a:rPr lang="en-US" sz="1400" b="1" dirty="0">
                <a:solidFill>
                  <a:schemeClr val="accent4"/>
                </a:solidFill>
              </a:rPr>
              <a:t>Buang</a:t>
            </a:r>
            <a:endParaRPr lang="en-US" sz="1400" dirty="0"/>
          </a:p>
          <a:p>
            <a:pPr indent="0" marL="0">
              <a:spcAft>
                <a:spcPts val="300"/>
              </a:spcAft>
              <a:buNone/>
            </a:pPr>
            <a:r>
              <a:rPr lang="en-US" sz="1400" dirty="0">
                <a:solidFill>
                  <a:schemeClr val="tx1"/>
                </a:solidFill>
              </a:rPr>
              <a:t>Spoiled &amp; model ragu → </a:t>
            </a:r>
            <a:pPr indent="0" marL="0">
              <a:spcAft>
                <a:spcPts val="300"/>
              </a:spcAft>
              <a:buNone/>
            </a:pPr>
            <a:r>
              <a:rPr lang="en-US" sz="1400" b="1" dirty="0">
                <a:solidFill>
                  <a:schemeClr val="accent2"/>
                </a:solidFill>
              </a:rPr>
              <a:t>Cek manual</a:t>
            </a:r>
            <a:endParaRPr lang="en-US" sz="1400" dirty="0"/>
          </a:p>
        </p:txBody>
      </p:sp>
      <p:sp>
        <p:nvSpPr>
          <p:cNvPr id="19" name="Shape 16"/>
          <p:cNvSpPr/>
          <p:nvPr/>
        </p:nvSpPr>
        <p:spPr>
          <a:xfrm>
            <a:off x="548640" y="5486400"/>
            <a:ext cx="11094415" cy="685800"/>
          </a:xfrm>
          <a:prstGeom prst="roundRect">
            <a:avLst>
              <a:gd name="adj" fmla="val 16000"/>
            </a:avLst>
          </a:prstGeom>
          <a:solidFill>
            <a:schemeClr val="tx2"/>
          </a:solidFill>
          <a:ln w="12700">
            <a:solidFill>
              <a:schemeClr val="tx2"/>
            </a:solidFill>
            <a:prstDash val="solid"/>
          </a:ln>
        </p:spPr>
      </p:sp>
      <p:sp>
        <p:nvSpPr>
          <p:cNvPr id="20" name="Text 17"/>
          <p:cNvSpPr txBox="1"/>
          <p:nvPr/>
        </p:nvSpPr>
        <p:spPr>
          <a:xfrm>
            <a:off x="868680" y="5486400"/>
            <a:ext cx="10454335" cy="685800"/>
          </a:xfrm>
          <a:prstGeom prst="rect">
            <a:avLst/>
          </a:prstGeom>
          <a:noFill/>
          <a:ln/>
        </p:spPr>
        <p:txBody>
          <a:bodyPr wrap="square" lIns="0" tIns="0" rIns="0" bIns="0" rtlCol="0" anchor="ctr"/>
          <a:lstStyle/>
          <a:p>
            <a:pPr indent="0" marL="0">
              <a:buNone/>
            </a:pPr>
            <a:r>
              <a:rPr lang="en-US" sz="1600" b="1" dirty="0">
                <a:solidFill>
                  <a:schemeClr val="accent2"/>
                </a:solidFill>
              </a:rPr>
              <a:t>Tujuan sistem: </a:t>
            </a:r>
            <a:pPr indent="0" marL="0">
              <a:buNone/>
            </a:pPr>
            <a:r>
              <a:rPr lang="en-US" sz="1600" dirty="0">
                <a:solidFill>
                  <a:schemeClr val="bg1"/>
                </a:solidFill>
              </a:rPr>
              <a:t>tidak hanya mengklasifikasikan, tetapi mengambil keputusan yang aman dan efisien.</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Penambahan Iterasi dan Data</a:t>
            </a:r>
            <a:endParaRPr lang="en-US" sz="3000" dirty="0"/>
          </a:p>
        </p:txBody>
      </p:sp>
      <p:sp>
        <p:nvSpPr>
          <p:cNvPr id="3" name="Shape 1"/>
          <p:cNvSpPr/>
          <p:nvPr/>
        </p:nvSpPr>
        <p:spPr>
          <a:xfrm>
            <a:off x="9814255" y="502920"/>
            <a:ext cx="182880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814255" y="502920"/>
            <a:ext cx="1828800" cy="411480"/>
          </a:xfrm>
          <a:prstGeom prst="rect">
            <a:avLst/>
          </a:prstGeom>
          <a:noFill/>
          <a:ln/>
        </p:spPr>
        <p:txBody>
          <a:bodyPr wrap="square" lIns="0" tIns="0" rIns="0" bIns="0" rtlCol="0" anchor="ctr"/>
          <a:lstStyle/>
          <a:p>
            <a:pPr algn="ctr" indent="0" marL="0">
              <a:buNone/>
            </a:pPr>
            <a:r>
              <a:rPr lang="en-US" sz="1200" b="1" dirty="0">
                <a:solidFill>
                  <a:schemeClr val="accent1"/>
                </a:solidFill>
              </a:rPr>
              <a:t>Pembicara: Rijal</a:t>
            </a:r>
            <a:endParaRPr lang="en-US" sz="1200" dirty="0"/>
          </a:p>
        </p:txBody>
      </p:sp>
      <p:pic>
        <p:nvPicPr>
          <p:cNvPr id="5" name="Image 0" descr="/Users/angga0704/ets-ml2-kelompok/hasil/08_rl_kurva.png">    </p:cNvPr>
          <p:cNvPicPr>
            <a:picLocks noChangeAspect="1"/>
          </p:cNvPicPr>
          <p:nvPr/>
        </p:nvPicPr>
        <p:blipFill>
          <a:blip r:embed="rId1"/>
          <a:stretch>
            <a:fillRect/>
          </a:stretch>
        </p:blipFill>
        <p:spPr>
          <a:xfrm>
            <a:off x="548640" y="1336113"/>
            <a:ext cx="5396332" cy="3134214"/>
          </a:xfrm>
          <a:prstGeom prst="rect">
            <a:avLst/>
          </a:prstGeom>
        </p:spPr>
      </p:pic>
      <p:pic>
        <p:nvPicPr>
          <p:cNvPr id="6" name="Image 1" descr="/Users/angga0704/ets-ml2-kelompok/hasil/09_tambah_sesi.png">    </p:cNvPr>
          <p:cNvPicPr>
            <a:picLocks noChangeAspect="1"/>
          </p:cNvPicPr>
          <p:nvPr/>
        </p:nvPicPr>
        <p:blipFill>
          <a:blip r:embed="rId2"/>
          <a:stretch>
            <a:fillRect/>
          </a:stretch>
        </p:blipFill>
        <p:spPr>
          <a:xfrm>
            <a:off x="6246724" y="1207043"/>
            <a:ext cx="5396332" cy="3392354"/>
          </a:xfrm>
          <a:prstGeom prst="rect">
            <a:avLst/>
          </a:prstGeom>
        </p:spPr>
      </p:pic>
      <p:sp>
        <p:nvSpPr>
          <p:cNvPr id="7" name="Shape 3"/>
          <p:cNvSpPr/>
          <p:nvPr/>
        </p:nvSpPr>
        <p:spPr>
          <a:xfrm>
            <a:off x="548640" y="4754880"/>
            <a:ext cx="5396332" cy="1280160"/>
          </a:xfrm>
          <a:prstGeom prst="roundRect">
            <a:avLst>
              <a:gd name="adj" fmla="val 8571"/>
            </a:avLst>
          </a:prstGeom>
          <a:solidFill>
            <a:schemeClr val="tx2"/>
          </a:solidFill>
          <a:ln w="12700">
            <a:solidFill>
              <a:schemeClr val="tx2"/>
            </a:solidFill>
            <a:prstDash val="solid"/>
          </a:ln>
        </p:spPr>
      </p:sp>
      <p:sp>
        <p:nvSpPr>
          <p:cNvPr id="8" name="Text 4"/>
          <p:cNvSpPr txBox="1"/>
          <p:nvPr/>
        </p:nvSpPr>
        <p:spPr>
          <a:xfrm>
            <a:off x="822960" y="4754880"/>
            <a:ext cx="4847692" cy="1280160"/>
          </a:xfrm>
          <a:prstGeom prst="rect">
            <a:avLst/>
          </a:prstGeom>
          <a:noFill/>
          <a:ln/>
        </p:spPr>
        <p:txBody>
          <a:bodyPr wrap="square" lIns="0" tIns="0" rIns="0" bIns="0" rtlCol="0" anchor="ctr"/>
          <a:lstStyle/>
          <a:p>
            <a:pPr indent="0" marL="0">
              <a:buNone/>
            </a:pPr>
            <a:r>
              <a:rPr lang="en-US" sz="1400" b="1" dirty="0">
                <a:solidFill>
                  <a:schemeClr val="accent2"/>
                </a:solidFill>
              </a:rPr>
              <a:t>Penambahan iterasi: </a:t>
            </a:r>
            <a:pPr indent="0" marL="0">
              <a:buNone/>
            </a:pPr>
            <a:r>
              <a:rPr lang="en-US" sz="1400" dirty="0">
                <a:solidFill>
                  <a:schemeClr val="bg1"/>
                </a:solidFill>
              </a:rPr>
              <a:t>reward agen -0,80 → 0,61. Lebih baik dari "selalu ikuti prediksi model" (0,44) dan "selalu cek manual" (0,50).</a:t>
            </a:r>
            <a:endParaRPr lang="en-US" sz="1400" dirty="0"/>
          </a:p>
        </p:txBody>
      </p:sp>
      <p:sp>
        <p:nvSpPr>
          <p:cNvPr id="9" name="Shape 5"/>
          <p:cNvSpPr/>
          <p:nvPr/>
        </p:nvSpPr>
        <p:spPr>
          <a:xfrm>
            <a:off x="6246724" y="4754880"/>
            <a:ext cx="5396332" cy="1280160"/>
          </a:xfrm>
          <a:prstGeom prst="roundRect">
            <a:avLst>
              <a:gd name="adj" fmla="val 8571"/>
            </a:avLst>
          </a:prstGeom>
          <a:solidFill>
            <a:schemeClr val="tx2"/>
          </a:solidFill>
          <a:ln w="12700">
            <a:solidFill>
              <a:schemeClr val="tx2"/>
            </a:solidFill>
            <a:prstDash val="solid"/>
          </a:ln>
        </p:spPr>
      </p:sp>
      <p:sp>
        <p:nvSpPr>
          <p:cNvPr id="10" name="Text 6"/>
          <p:cNvSpPr txBox="1"/>
          <p:nvPr/>
        </p:nvSpPr>
        <p:spPr>
          <a:xfrm>
            <a:off x="6521044" y="4754880"/>
            <a:ext cx="4847692" cy="1280160"/>
          </a:xfrm>
          <a:prstGeom prst="rect">
            <a:avLst/>
          </a:prstGeom>
          <a:noFill/>
          <a:ln/>
        </p:spPr>
        <p:txBody>
          <a:bodyPr wrap="square" lIns="0" tIns="0" rIns="0" bIns="0" rtlCol="0" anchor="ctr"/>
          <a:lstStyle/>
          <a:p>
            <a:pPr indent="0" marL="0">
              <a:buNone/>
            </a:pPr>
            <a:r>
              <a:rPr lang="en-US" sz="1400" b="1" dirty="0">
                <a:solidFill>
                  <a:schemeClr val="accent2"/>
                </a:solidFill>
              </a:rPr>
              <a:t>Penambahan data: </a:t>
            </a:r>
            <a:pPr indent="0" marL="0">
              <a:buNone/>
            </a:pPr>
            <a:r>
              <a:rPr lang="en-US" sz="1400" dirty="0">
                <a:solidFill>
                  <a:schemeClr val="bg1"/>
                </a:solidFill>
              </a:rPr>
              <a:t>F1-macro 0,58 (1 sesi) → 0,75 (14 sesi). Data asli lebih efektif daripada augmentasi sintetis.</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Hasil dan Analisis</a:t>
            </a:r>
            <a:endParaRPr lang="en-US" sz="3000" dirty="0"/>
          </a:p>
        </p:txBody>
      </p:sp>
      <p:sp>
        <p:nvSpPr>
          <p:cNvPr id="3" name="Shape 1"/>
          <p:cNvSpPr/>
          <p:nvPr/>
        </p:nvSpPr>
        <p:spPr>
          <a:xfrm>
            <a:off x="9814255" y="502920"/>
            <a:ext cx="182880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814255" y="502920"/>
            <a:ext cx="1828800" cy="411480"/>
          </a:xfrm>
          <a:prstGeom prst="rect">
            <a:avLst/>
          </a:prstGeom>
          <a:noFill/>
          <a:ln/>
        </p:spPr>
        <p:txBody>
          <a:bodyPr wrap="square" lIns="0" tIns="0" rIns="0" bIns="0" rtlCol="0" anchor="ctr"/>
          <a:lstStyle/>
          <a:p>
            <a:pPr algn="ctr" indent="0" marL="0">
              <a:buNone/>
            </a:pPr>
            <a:r>
              <a:rPr lang="en-US" sz="1200" b="1" dirty="0">
                <a:solidFill>
                  <a:schemeClr val="accent1"/>
                </a:solidFill>
              </a:rPr>
              <a:t>Pembicara: Rijal</a:t>
            </a:r>
            <a:endParaRPr lang="en-US" sz="1200" dirty="0"/>
          </a:p>
        </p:txBody>
      </p:sp>
      <p:sp>
        <p:nvSpPr>
          <p:cNvPr id="5" name="Shape 3"/>
          <p:cNvSpPr/>
          <p:nvPr/>
        </p:nvSpPr>
        <p:spPr>
          <a:xfrm>
            <a:off x="548640" y="1234440"/>
            <a:ext cx="5410048" cy="2331720"/>
          </a:xfrm>
          <a:prstGeom prst="roundRect">
            <a:avLst>
              <a:gd name="adj" fmla="val 4706"/>
            </a:avLst>
          </a:prstGeom>
          <a:solidFill>
            <a:schemeClr val="bg2"/>
          </a:solidFill>
          <a:ln w="12700">
            <a:solidFill>
              <a:schemeClr val="bg2"/>
            </a:solidFill>
            <a:prstDash val="solid"/>
          </a:ln>
        </p:spPr>
      </p:sp>
      <p:sp>
        <p:nvSpPr>
          <p:cNvPr id="6" name="Text 4"/>
          <p:cNvSpPr txBox="1"/>
          <p:nvPr/>
        </p:nvSpPr>
        <p:spPr>
          <a:xfrm>
            <a:off x="822960" y="1399032"/>
            <a:ext cx="4861408" cy="365760"/>
          </a:xfrm>
          <a:prstGeom prst="rect">
            <a:avLst/>
          </a:prstGeom>
          <a:noFill/>
          <a:ln/>
        </p:spPr>
        <p:txBody>
          <a:bodyPr wrap="square" lIns="0" tIns="0" rIns="0" bIns="0" rtlCol="0" anchor="ctr"/>
          <a:lstStyle/>
          <a:p>
            <a:pPr indent="0" marL="0">
              <a:buNone/>
            </a:pPr>
            <a:r>
              <a:rPr lang="en-US" sz="1800" b="1" dirty="0">
                <a:solidFill>
                  <a:schemeClr val="accent1"/>
                </a:solidFill>
              </a:rPr>
              <a:t>Batasan</a:t>
            </a:r>
            <a:endParaRPr lang="en-US" sz="1800" dirty="0"/>
          </a:p>
        </p:txBody>
      </p:sp>
      <p:sp>
        <p:nvSpPr>
          <p:cNvPr id="7" name="Text 5"/>
          <p:cNvSpPr txBox="1"/>
          <p:nvPr/>
        </p:nvSpPr>
        <p:spPr>
          <a:xfrm>
            <a:off x="822960" y="1856232"/>
            <a:ext cx="4861408" cy="155448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rPr>
              <a:t>Hanya 15 sesi; performa antar sesi bervariasi</a:t>
            </a:r>
            <a:endParaRPr lang="en-US" sz="1500" dirty="0"/>
          </a:p>
          <a:p>
            <a:pPr marL="342900" indent="-342900">
              <a:spcAft>
                <a:spcPts val="500"/>
              </a:spcAft>
              <a:buSzPct val="100000"/>
              <a:buChar char="•"/>
            </a:pPr>
            <a:r>
              <a:rPr lang="en-US" sz="1500" dirty="0">
                <a:solidFill>
                  <a:schemeClr val="tx1"/>
                </a:solidFill>
              </a:rPr>
              <a:t>Label berdasarkan lama penyimpanan, bukan uji laboratorium</a:t>
            </a:r>
            <a:endParaRPr lang="en-US" sz="1500" dirty="0"/>
          </a:p>
          <a:p>
            <a:pPr marL="342900" indent="-342900">
              <a:spcAft>
                <a:spcPts val="500"/>
              </a:spcAft>
              <a:buSzPct val="100000"/>
              <a:buChar char="•"/>
            </a:pPr>
            <a:r>
              <a:rPr lang="en-US" sz="1500" dirty="0">
                <a:solidFill>
                  <a:schemeClr val="tx1"/>
                </a:solidFill>
              </a:rPr>
              <a:t>Nilai reward ditetapkan berdasarkan asumsi</a:t>
            </a:r>
            <a:endParaRPr lang="en-US" sz="1500" dirty="0"/>
          </a:p>
        </p:txBody>
      </p:sp>
      <p:sp>
        <p:nvSpPr>
          <p:cNvPr id="8" name="Shape 6"/>
          <p:cNvSpPr/>
          <p:nvPr/>
        </p:nvSpPr>
        <p:spPr>
          <a:xfrm>
            <a:off x="6233008" y="1234440"/>
            <a:ext cx="5410048" cy="2331720"/>
          </a:xfrm>
          <a:prstGeom prst="roundRect">
            <a:avLst>
              <a:gd name="adj" fmla="val 4706"/>
            </a:avLst>
          </a:prstGeom>
          <a:solidFill>
            <a:schemeClr val="bg2"/>
          </a:solidFill>
          <a:ln w="12700">
            <a:solidFill>
              <a:schemeClr val="bg2"/>
            </a:solidFill>
            <a:prstDash val="solid"/>
          </a:ln>
        </p:spPr>
      </p:sp>
      <p:sp>
        <p:nvSpPr>
          <p:cNvPr id="9" name="Text 7"/>
          <p:cNvSpPr txBox="1"/>
          <p:nvPr/>
        </p:nvSpPr>
        <p:spPr>
          <a:xfrm>
            <a:off x="6507328" y="1399032"/>
            <a:ext cx="4861408" cy="365760"/>
          </a:xfrm>
          <a:prstGeom prst="rect">
            <a:avLst/>
          </a:prstGeom>
          <a:noFill/>
          <a:ln/>
        </p:spPr>
        <p:txBody>
          <a:bodyPr wrap="square" lIns="0" tIns="0" rIns="0" bIns="0" rtlCol="0" anchor="ctr"/>
          <a:lstStyle/>
          <a:p>
            <a:pPr indent="0" marL="0">
              <a:buNone/>
            </a:pPr>
            <a:r>
              <a:rPr lang="en-US" sz="1800" b="1" dirty="0">
                <a:solidFill>
                  <a:schemeClr val="accent1"/>
                </a:solidFill>
              </a:rPr>
              <a:t>Trade-off</a:t>
            </a:r>
            <a:endParaRPr lang="en-US" sz="1800" dirty="0"/>
          </a:p>
        </p:txBody>
      </p:sp>
      <p:sp>
        <p:nvSpPr>
          <p:cNvPr id="10" name="Text 8"/>
          <p:cNvSpPr txBox="1"/>
          <p:nvPr/>
        </p:nvSpPr>
        <p:spPr>
          <a:xfrm>
            <a:off x="6507328" y="1856232"/>
            <a:ext cx="4861408" cy="155448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rPr>
              <a:t>Cek manual lebih aman, tetapi membutuhkan biaya</a:t>
            </a:r>
            <a:endParaRPr lang="en-US" sz="1500" dirty="0"/>
          </a:p>
          <a:p>
            <a:pPr marL="342900" indent="-342900">
              <a:spcAft>
                <a:spcPts val="500"/>
              </a:spcAft>
              <a:buSzPct val="100000"/>
              <a:buChar char="•"/>
            </a:pPr>
            <a:r>
              <a:rPr lang="en-US" sz="1500" dirty="0">
                <a:solidFill>
                  <a:schemeClr val="tx1"/>
                </a:solidFill>
              </a:rPr>
              <a:t>Ambang keyakinan lebih tinggi → lebih banyak cek manual</a:t>
            </a:r>
            <a:endParaRPr lang="en-US" sz="1500" dirty="0"/>
          </a:p>
          <a:p>
            <a:pPr marL="342900" indent="-342900">
              <a:spcAft>
                <a:spcPts val="500"/>
              </a:spcAft>
              <a:buSzPct val="100000"/>
              <a:buChar char="•"/>
            </a:pPr>
            <a:r>
              <a:rPr lang="en-US" sz="1500" dirty="0">
                <a:solidFill>
                  <a:schemeClr val="tx1"/>
                </a:solidFill>
              </a:rPr>
              <a:t>Ensemble lebih akurat, tetapi lebih sulit diinterpretasikan</a:t>
            </a:r>
            <a:endParaRPr lang="en-US" sz="1500" dirty="0"/>
          </a:p>
        </p:txBody>
      </p:sp>
      <p:sp>
        <p:nvSpPr>
          <p:cNvPr id="11" name="Shape 9"/>
          <p:cNvSpPr/>
          <p:nvPr/>
        </p:nvSpPr>
        <p:spPr>
          <a:xfrm>
            <a:off x="548640" y="3794760"/>
            <a:ext cx="5410048" cy="2331720"/>
          </a:xfrm>
          <a:prstGeom prst="roundRect">
            <a:avLst>
              <a:gd name="adj" fmla="val 4706"/>
            </a:avLst>
          </a:prstGeom>
          <a:solidFill>
            <a:schemeClr val="bg2"/>
          </a:solidFill>
          <a:ln w="12700">
            <a:solidFill>
              <a:schemeClr val="bg2"/>
            </a:solidFill>
            <a:prstDash val="solid"/>
          </a:ln>
        </p:spPr>
      </p:sp>
      <p:sp>
        <p:nvSpPr>
          <p:cNvPr id="12" name="Text 10"/>
          <p:cNvSpPr txBox="1"/>
          <p:nvPr/>
        </p:nvSpPr>
        <p:spPr>
          <a:xfrm>
            <a:off x="822960" y="3959352"/>
            <a:ext cx="4861408" cy="365760"/>
          </a:xfrm>
          <a:prstGeom prst="rect">
            <a:avLst/>
          </a:prstGeom>
          <a:noFill/>
          <a:ln/>
        </p:spPr>
        <p:txBody>
          <a:bodyPr wrap="square" lIns="0" tIns="0" rIns="0" bIns="0" rtlCol="0" anchor="ctr"/>
          <a:lstStyle/>
          <a:p>
            <a:pPr indent="0" marL="0">
              <a:buNone/>
            </a:pPr>
            <a:r>
              <a:rPr lang="en-US" sz="1800" b="1" dirty="0">
                <a:solidFill>
                  <a:schemeClr val="accent1"/>
                </a:solidFill>
              </a:rPr>
              <a:t>Sumber galat</a:t>
            </a:r>
            <a:endParaRPr lang="en-US" sz="1800" dirty="0"/>
          </a:p>
        </p:txBody>
      </p:sp>
      <p:sp>
        <p:nvSpPr>
          <p:cNvPr id="13" name="Text 11"/>
          <p:cNvSpPr txBox="1"/>
          <p:nvPr/>
        </p:nvSpPr>
        <p:spPr>
          <a:xfrm>
            <a:off x="822960" y="4416552"/>
            <a:ext cx="4861408" cy="155448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rPr>
              <a:t>Semi-fresh paling sulit (recall 74%), di antara dua kelas</a:t>
            </a:r>
            <a:endParaRPr lang="en-US" sz="1500" dirty="0"/>
          </a:p>
          <a:p>
            <a:pPr marL="342900" indent="-342900">
              <a:spcAft>
                <a:spcPts val="500"/>
              </a:spcAft>
              <a:buSzPct val="100000"/>
              <a:buChar char="•"/>
            </a:pPr>
            <a:r>
              <a:rPr lang="en-US" sz="1500" dirty="0">
                <a:solidFill>
                  <a:schemeClr val="tx1"/>
                </a:solidFill>
              </a:rPr>
              <a:t>Level gas antar sesi sangat berbeda (puncak MQ-135 119–677)</a:t>
            </a:r>
            <a:endParaRPr lang="en-US" sz="1500" dirty="0"/>
          </a:p>
          <a:p>
            <a:pPr marL="342900" indent="-342900">
              <a:spcAft>
                <a:spcPts val="500"/>
              </a:spcAft>
              <a:buSzPct val="100000"/>
              <a:buChar char="•"/>
            </a:pPr>
            <a:r>
              <a:rPr lang="en-US" sz="1500" dirty="0">
                <a:solidFill>
                  <a:schemeClr val="tx1"/>
                </a:solidFill>
              </a:rPr>
              <a:t>Akurasi sesi terburuk 55,3%</a:t>
            </a:r>
            <a:endParaRPr lang="en-US" sz="1500" dirty="0"/>
          </a:p>
        </p:txBody>
      </p:sp>
      <p:sp>
        <p:nvSpPr>
          <p:cNvPr id="14" name="Shape 12"/>
          <p:cNvSpPr/>
          <p:nvPr/>
        </p:nvSpPr>
        <p:spPr>
          <a:xfrm>
            <a:off x="6233008" y="3794760"/>
            <a:ext cx="5410048" cy="2331720"/>
          </a:xfrm>
          <a:prstGeom prst="roundRect">
            <a:avLst>
              <a:gd name="adj" fmla="val 4706"/>
            </a:avLst>
          </a:prstGeom>
          <a:solidFill>
            <a:schemeClr val="bg2"/>
          </a:solidFill>
          <a:ln w="12700">
            <a:solidFill>
              <a:schemeClr val="bg2"/>
            </a:solidFill>
            <a:prstDash val="solid"/>
          </a:ln>
        </p:spPr>
      </p:sp>
      <p:sp>
        <p:nvSpPr>
          <p:cNvPr id="15" name="Text 13"/>
          <p:cNvSpPr txBox="1"/>
          <p:nvPr/>
        </p:nvSpPr>
        <p:spPr>
          <a:xfrm>
            <a:off x="6507328" y="3959352"/>
            <a:ext cx="4861408" cy="365760"/>
          </a:xfrm>
          <a:prstGeom prst="rect">
            <a:avLst/>
          </a:prstGeom>
          <a:noFill/>
          <a:ln/>
        </p:spPr>
        <p:txBody>
          <a:bodyPr wrap="square" lIns="0" tIns="0" rIns="0" bIns="0" rtlCol="0" anchor="ctr"/>
          <a:lstStyle/>
          <a:p>
            <a:pPr indent="0" marL="0">
              <a:buNone/>
            </a:pPr>
            <a:r>
              <a:rPr lang="en-US" sz="1800" b="1" dirty="0">
                <a:solidFill>
                  <a:schemeClr val="accent1"/>
                </a:solidFill>
              </a:rPr>
              <a:t>Celah pengembangan</a:t>
            </a:r>
            <a:endParaRPr lang="en-US" sz="1800" dirty="0"/>
          </a:p>
        </p:txBody>
      </p:sp>
      <p:sp>
        <p:nvSpPr>
          <p:cNvPr id="16" name="Text 14"/>
          <p:cNvSpPr txBox="1"/>
          <p:nvPr/>
        </p:nvSpPr>
        <p:spPr>
          <a:xfrm>
            <a:off x="6507328" y="4416552"/>
            <a:ext cx="4861408" cy="155448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rPr>
              <a:t>Penerapan pada 16 batch data skripsi (MQ-135 + DHT22)</a:t>
            </a:r>
            <a:endParaRPr lang="en-US" sz="1500" dirty="0"/>
          </a:p>
          <a:p>
            <a:pPr marL="342900" indent="-342900">
              <a:spcAft>
                <a:spcPts val="500"/>
              </a:spcAft>
              <a:buSzPct val="100000"/>
              <a:buChar char="•"/>
            </a:pPr>
            <a:r>
              <a:rPr lang="en-US" sz="1500" dirty="0">
                <a:solidFill>
                  <a:schemeClr val="tx1"/>
                </a:solidFill>
              </a:rPr>
              <a:t>Label dari uji laboratorium (TVB-N, Total Plate Count)</a:t>
            </a:r>
            <a:endParaRPr lang="en-US" sz="1500" dirty="0"/>
          </a:p>
          <a:p>
            <a:pPr marL="342900" indent="-342900">
              <a:spcAft>
                <a:spcPts val="500"/>
              </a:spcAft>
              <a:buSzPct val="100000"/>
              <a:buChar char="•"/>
            </a:pPr>
            <a:r>
              <a:rPr lang="en-US" sz="1500" dirty="0">
                <a:solidFill>
                  <a:schemeClr val="tx1"/>
                </a:solidFill>
              </a:rPr>
              <a:t>Sensor paling berpengaruh: MQ-7, MQ-3; MQ-135 peringkat ke-4</a:t>
            </a:r>
            <a:endParaRPr lang="en-US" sz="15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548640"/>
            <a:ext cx="7315200" cy="82296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Simpulan</a:t>
            </a:r>
            <a:endParaRPr lang="en-US" sz="4000" dirty="0"/>
          </a:p>
        </p:txBody>
      </p:sp>
      <p:sp>
        <p:nvSpPr>
          <p:cNvPr id="3" name="Shape 1"/>
          <p:cNvSpPr/>
          <p:nvPr/>
        </p:nvSpPr>
        <p:spPr>
          <a:xfrm>
            <a:off x="548640" y="1737360"/>
            <a:ext cx="502920" cy="502920"/>
          </a:xfrm>
          <a:prstGeom prst="ellipse">
            <a:avLst/>
          </a:prstGeom>
          <a:solidFill>
            <a:schemeClr val="accent2"/>
          </a:solidFill>
          <a:ln w="12700">
            <a:solidFill>
              <a:schemeClr val="accent2"/>
            </a:solidFill>
            <a:prstDash val="solid"/>
          </a:ln>
        </p:spPr>
      </p:sp>
      <p:sp>
        <p:nvSpPr>
          <p:cNvPr id="4" name="Text 2"/>
          <p:cNvSpPr txBox="1"/>
          <p:nvPr/>
        </p:nvSpPr>
        <p:spPr>
          <a:xfrm>
            <a:off x="548640" y="1737360"/>
            <a:ext cx="502920" cy="502920"/>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5" name="Text 3"/>
          <p:cNvSpPr txBox="1"/>
          <p:nvPr/>
        </p:nvSpPr>
        <p:spPr>
          <a:xfrm>
            <a:off x="1325880" y="1691640"/>
            <a:ext cx="6400800" cy="411480"/>
          </a:xfrm>
          <a:prstGeom prst="rect">
            <a:avLst/>
          </a:prstGeom>
          <a:noFill/>
          <a:ln/>
        </p:spPr>
        <p:txBody>
          <a:bodyPr wrap="square" lIns="0" tIns="0" rIns="0" bIns="0" rtlCol="0" anchor="ctr"/>
          <a:lstStyle/>
          <a:p>
            <a:pPr indent="0" marL="0">
              <a:buNone/>
            </a:pPr>
            <a:r>
              <a:rPr lang="en-US" sz="1900" b="1" dirty="0">
                <a:solidFill>
                  <a:schemeClr val="bg1"/>
                </a:solidFill>
              </a:rPr>
              <a:t>Skema validasi menentukan keandalan hasil</a:t>
            </a:r>
            <a:endParaRPr lang="en-US" sz="1900" dirty="0"/>
          </a:p>
        </p:txBody>
      </p:sp>
      <p:sp>
        <p:nvSpPr>
          <p:cNvPr id="6" name="Text 4"/>
          <p:cNvSpPr txBox="1"/>
          <p:nvPr/>
        </p:nvSpPr>
        <p:spPr>
          <a:xfrm>
            <a:off x="1325880" y="2103120"/>
            <a:ext cx="6400800" cy="365760"/>
          </a:xfrm>
          <a:prstGeom prst="rect">
            <a:avLst/>
          </a:prstGeom>
          <a:noFill/>
          <a:ln/>
        </p:spPr>
        <p:txBody>
          <a:bodyPr wrap="square" lIns="0" tIns="0" rIns="0" bIns="0" rtlCol="0" anchor="ctr"/>
          <a:lstStyle/>
          <a:p>
            <a:pPr indent="0" marL="0">
              <a:buNone/>
            </a:pPr>
            <a:r>
              <a:rPr lang="en-US" sz="1400" dirty="0">
                <a:solidFill>
                  <a:srgbClr val="CADBD7"/>
                </a:solidFill>
              </a:rPr>
              <a:t>random split 96,9% (data leakage) vs LOSO 77,6% (realistis)</a:t>
            </a:r>
            <a:endParaRPr lang="en-US" sz="1400" dirty="0"/>
          </a:p>
        </p:txBody>
      </p:sp>
      <p:sp>
        <p:nvSpPr>
          <p:cNvPr id="7" name="Shape 5"/>
          <p:cNvSpPr/>
          <p:nvPr/>
        </p:nvSpPr>
        <p:spPr>
          <a:xfrm>
            <a:off x="548640" y="2743200"/>
            <a:ext cx="502920" cy="502920"/>
          </a:xfrm>
          <a:prstGeom prst="ellipse">
            <a:avLst/>
          </a:prstGeom>
          <a:solidFill>
            <a:schemeClr val="accent2"/>
          </a:solidFill>
          <a:ln w="12700">
            <a:solidFill>
              <a:schemeClr val="accent2"/>
            </a:solidFill>
            <a:prstDash val="solid"/>
          </a:ln>
        </p:spPr>
      </p:sp>
      <p:sp>
        <p:nvSpPr>
          <p:cNvPr id="8" name="Text 6"/>
          <p:cNvSpPr txBox="1"/>
          <p:nvPr/>
        </p:nvSpPr>
        <p:spPr>
          <a:xfrm>
            <a:off x="548640" y="2743200"/>
            <a:ext cx="502920" cy="502920"/>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9" name="Text 7"/>
          <p:cNvSpPr txBox="1"/>
          <p:nvPr/>
        </p:nvSpPr>
        <p:spPr>
          <a:xfrm>
            <a:off x="1325880" y="2697480"/>
            <a:ext cx="6400800" cy="411480"/>
          </a:xfrm>
          <a:prstGeom prst="rect">
            <a:avLst/>
          </a:prstGeom>
          <a:noFill/>
          <a:ln/>
        </p:spPr>
        <p:txBody>
          <a:bodyPr wrap="square" lIns="0" tIns="0" rIns="0" bIns="0" rtlCol="0" anchor="ctr"/>
          <a:lstStyle/>
          <a:p>
            <a:pPr indent="0" marL="0">
              <a:buNone/>
            </a:pPr>
            <a:r>
              <a:rPr lang="en-US" sz="1900" b="1" dirty="0">
                <a:solidFill>
                  <a:schemeClr val="bg1"/>
                </a:solidFill>
              </a:rPr>
              <a:t>Data wrangling memberi peningkatan terbesar</a:t>
            </a:r>
            <a:endParaRPr lang="en-US" sz="1900" dirty="0"/>
          </a:p>
        </p:txBody>
      </p:sp>
      <p:sp>
        <p:nvSpPr>
          <p:cNvPr id="10" name="Text 8"/>
          <p:cNvSpPr txBox="1"/>
          <p:nvPr/>
        </p:nvSpPr>
        <p:spPr>
          <a:xfrm>
            <a:off x="1325880" y="3108960"/>
            <a:ext cx="6400800" cy="365760"/>
          </a:xfrm>
          <a:prstGeom prst="rect">
            <a:avLst/>
          </a:prstGeom>
          <a:noFill/>
          <a:ln/>
        </p:spPr>
        <p:txBody>
          <a:bodyPr wrap="square" lIns="0" tIns="0" rIns="0" bIns="0" rtlCol="0" anchor="ctr"/>
          <a:lstStyle/>
          <a:p>
            <a:pPr indent="0" marL="0">
              <a:buNone/>
            </a:pPr>
            <a:r>
              <a:rPr lang="en-US" sz="1400" dirty="0">
                <a:solidFill>
                  <a:srgbClr val="CADBD7"/>
                </a:solidFill>
              </a:rPr>
              <a:t>fitur relatif terhadap baseline: F1-macro 0,681 → 0,782</a:t>
            </a:r>
            <a:endParaRPr lang="en-US" sz="1400" dirty="0"/>
          </a:p>
        </p:txBody>
      </p:sp>
      <p:sp>
        <p:nvSpPr>
          <p:cNvPr id="11" name="Shape 9"/>
          <p:cNvSpPr/>
          <p:nvPr/>
        </p:nvSpPr>
        <p:spPr>
          <a:xfrm>
            <a:off x="548640" y="3749040"/>
            <a:ext cx="502920" cy="502920"/>
          </a:xfrm>
          <a:prstGeom prst="ellipse">
            <a:avLst/>
          </a:prstGeom>
          <a:solidFill>
            <a:schemeClr val="accent2"/>
          </a:solidFill>
          <a:ln w="12700">
            <a:solidFill>
              <a:schemeClr val="accent2"/>
            </a:solidFill>
            <a:prstDash val="solid"/>
          </a:ln>
        </p:spPr>
      </p:sp>
      <p:sp>
        <p:nvSpPr>
          <p:cNvPr id="12" name="Text 10"/>
          <p:cNvSpPr txBox="1"/>
          <p:nvPr/>
        </p:nvSpPr>
        <p:spPr>
          <a:xfrm>
            <a:off x="548640" y="3749040"/>
            <a:ext cx="502920" cy="502920"/>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3" name="Text 11"/>
          <p:cNvSpPr txBox="1"/>
          <p:nvPr/>
        </p:nvSpPr>
        <p:spPr>
          <a:xfrm>
            <a:off x="1325880" y="3703320"/>
            <a:ext cx="6400800" cy="411480"/>
          </a:xfrm>
          <a:prstGeom prst="rect">
            <a:avLst/>
          </a:prstGeom>
          <a:noFill/>
          <a:ln/>
        </p:spPr>
        <p:txBody>
          <a:bodyPr wrap="square" lIns="0" tIns="0" rIns="0" bIns="0" rtlCol="0" anchor="ctr"/>
          <a:lstStyle/>
          <a:p>
            <a:pPr indent="0" marL="0">
              <a:buNone/>
            </a:pPr>
            <a:r>
              <a:rPr lang="en-US" sz="1900" b="1" dirty="0">
                <a:solidFill>
                  <a:schemeClr val="bg1"/>
                </a:solidFill>
              </a:rPr>
              <a:t>Ensemble learning mengungguli model tunggal</a:t>
            </a:r>
            <a:endParaRPr lang="en-US" sz="1900" dirty="0"/>
          </a:p>
        </p:txBody>
      </p:sp>
      <p:sp>
        <p:nvSpPr>
          <p:cNvPr id="14" name="Text 12"/>
          <p:cNvSpPr txBox="1"/>
          <p:nvPr/>
        </p:nvSpPr>
        <p:spPr>
          <a:xfrm>
            <a:off x="1325880" y="4114800"/>
            <a:ext cx="6400800" cy="365760"/>
          </a:xfrm>
          <a:prstGeom prst="rect">
            <a:avLst/>
          </a:prstGeom>
          <a:noFill/>
          <a:ln/>
        </p:spPr>
        <p:txBody>
          <a:bodyPr wrap="square" lIns="0" tIns="0" rIns="0" bIns="0" rtlCol="0" anchor="ctr"/>
          <a:lstStyle/>
          <a:p>
            <a:pPr indent="0" marL="0">
              <a:buNone/>
            </a:pPr>
            <a:r>
              <a:rPr lang="en-US" sz="1400" dirty="0">
                <a:solidFill>
                  <a:srgbClr val="CADBD7"/>
                </a:solidFill>
              </a:rPr>
              <a:t>Random Forest 0,782 vs KNN 0,736</a:t>
            </a:r>
            <a:endParaRPr lang="en-US" sz="1400" dirty="0"/>
          </a:p>
        </p:txBody>
      </p:sp>
      <p:sp>
        <p:nvSpPr>
          <p:cNvPr id="15" name="Shape 13"/>
          <p:cNvSpPr/>
          <p:nvPr/>
        </p:nvSpPr>
        <p:spPr>
          <a:xfrm>
            <a:off x="548640" y="4754880"/>
            <a:ext cx="502920" cy="502920"/>
          </a:xfrm>
          <a:prstGeom prst="ellipse">
            <a:avLst/>
          </a:prstGeom>
          <a:solidFill>
            <a:schemeClr val="accent2"/>
          </a:solidFill>
          <a:ln w="12700">
            <a:solidFill>
              <a:schemeClr val="accent2"/>
            </a:solidFill>
            <a:prstDash val="solid"/>
          </a:ln>
        </p:spPr>
      </p:sp>
      <p:sp>
        <p:nvSpPr>
          <p:cNvPr id="16" name="Text 14"/>
          <p:cNvSpPr txBox="1"/>
          <p:nvPr/>
        </p:nvSpPr>
        <p:spPr>
          <a:xfrm>
            <a:off x="548640" y="4754880"/>
            <a:ext cx="502920" cy="502920"/>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17" name="Text 15"/>
          <p:cNvSpPr txBox="1"/>
          <p:nvPr/>
        </p:nvSpPr>
        <p:spPr>
          <a:xfrm>
            <a:off x="1325880" y="4709160"/>
            <a:ext cx="6400800" cy="411480"/>
          </a:xfrm>
          <a:prstGeom prst="rect">
            <a:avLst/>
          </a:prstGeom>
          <a:noFill/>
          <a:ln/>
        </p:spPr>
        <p:txBody>
          <a:bodyPr wrap="square" lIns="0" tIns="0" rIns="0" bIns="0" rtlCol="0" anchor="ctr"/>
          <a:lstStyle/>
          <a:p>
            <a:pPr indent="0" marL="0">
              <a:buNone/>
            </a:pPr>
            <a:r>
              <a:rPr lang="en-US" sz="1900" b="1" dirty="0">
                <a:solidFill>
                  <a:schemeClr val="bg1"/>
                </a:solidFill>
              </a:rPr>
              <a:t>Reinforcement learning: keputusan lebih aman</a:t>
            </a:r>
            <a:endParaRPr lang="en-US" sz="1900" dirty="0"/>
          </a:p>
        </p:txBody>
      </p:sp>
      <p:sp>
        <p:nvSpPr>
          <p:cNvPr id="18" name="Text 16"/>
          <p:cNvSpPr txBox="1"/>
          <p:nvPr/>
        </p:nvSpPr>
        <p:spPr>
          <a:xfrm>
            <a:off x="1325880" y="5120640"/>
            <a:ext cx="6400800" cy="365760"/>
          </a:xfrm>
          <a:prstGeom prst="rect">
            <a:avLst/>
          </a:prstGeom>
          <a:noFill/>
          <a:ln/>
        </p:spPr>
        <p:txBody>
          <a:bodyPr wrap="square" lIns="0" tIns="0" rIns="0" bIns="0" rtlCol="0" anchor="ctr"/>
          <a:lstStyle/>
          <a:p>
            <a:pPr indent="0" marL="0">
              <a:buNone/>
            </a:pPr>
            <a:r>
              <a:rPr lang="en-US" sz="1400" dirty="0">
                <a:solidFill>
                  <a:srgbClr val="CADBD7"/>
                </a:solidFill>
              </a:rPr>
              <a:t>reward 0,61 vs 0,44; ayam busuk terjual 254 → 0</a:t>
            </a:r>
            <a:endParaRPr lang="en-US" sz="1400" dirty="0"/>
          </a:p>
        </p:txBody>
      </p:sp>
      <p:sp>
        <p:nvSpPr>
          <p:cNvPr id="19" name="Shape 17"/>
          <p:cNvSpPr/>
          <p:nvPr/>
        </p:nvSpPr>
        <p:spPr>
          <a:xfrm>
            <a:off x="7863840" y="1691640"/>
            <a:ext cx="3779215" cy="3886200"/>
          </a:xfrm>
          <a:prstGeom prst="roundRect">
            <a:avLst>
              <a:gd name="adj" fmla="val 2903"/>
            </a:avLst>
          </a:prstGeom>
          <a:solidFill>
            <a:srgbClr val="15494A"/>
          </a:solidFill>
          <a:ln w="12700">
            <a:solidFill>
              <a:srgbClr val="15494A"/>
            </a:solidFill>
            <a:prstDash val="solid"/>
          </a:ln>
        </p:spPr>
      </p:sp>
      <p:sp>
        <p:nvSpPr>
          <p:cNvPr id="20" name="Text 18"/>
          <p:cNvSpPr txBox="1"/>
          <p:nvPr/>
        </p:nvSpPr>
        <p:spPr>
          <a:xfrm>
            <a:off x="8138160" y="1920240"/>
            <a:ext cx="3230575" cy="3474720"/>
          </a:xfrm>
          <a:prstGeom prst="rect">
            <a:avLst/>
          </a:prstGeom>
          <a:noFill/>
          <a:ln/>
        </p:spPr>
        <p:txBody>
          <a:bodyPr wrap="square" lIns="0" tIns="0" rIns="0" bIns="0" rtlCol="0" anchor="t"/>
          <a:lstStyle/>
          <a:p>
            <a:pPr indent="0" marL="0">
              <a:spcAft>
                <a:spcPts val="400"/>
              </a:spcAft>
              <a:buNone/>
            </a:pPr>
            <a:r>
              <a:rPr lang="en-US" sz="2800" b="1" dirty="0">
                <a:solidFill>
                  <a:schemeClr val="accent2"/>
                </a:solidFill>
                <a:latin typeface="Cambria" pitchFamily="34" charset="0"/>
                <a:ea typeface="Cambria" pitchFamily="34" charset="-122"/>
                <a:cs typeface="Cambria" pitchFamily="34" charset="-120"/>
              </a:rPr>
              <a:t>Terima kasih</a:t>
            </a:r>
            <a:endParaRPr lang="en-US" sz="1300" dirty="0"/>
          </a:p>
          <a:p>
            <a:pPr indent="0" marL="0">
              <a:spcAft>
                <a:spcPts val="400"/>
              </a:spcAft>
              <a:buNone/>
            </a:pPr>
            <a:r>
              <a:rPr lang="en-US" sz="800" dirty="0">
                <a:solidFill>
                  <a:schemeClr val="bg1"/>
                </a:solidFill>
              </a:rPr>
              <a:t> </a:t>
            </a:r>
            <a:endParaRPr lang="en-US" sz="1300" dirty="0"/>
          </a:p>
          <a:p>
            <a:pPr indent="0" marL="0">
              <a:spcAft>
                <a:spcPts val="400"/>
              </a:spcAft>
              <a:buNone/>
            </a:pPr>
            <a:r>
              <a:rPr lang="en-US" sz="1300" dirty="0">
                <a:solidFill>
                  <a:srgbClr val="CADBD7"/>
                </a:solidFill>
              </a:rPr>
              <a:t>Kode (GitHub):</a:t>
            </a:r>
            <a:endParaRPr lang="en-US" sz="1300" dirty="0"/>
          </a:p>
          <a:p>
            <a:pPr indent="0" marL="0">
              <a:spcAft>
                <a:spcPts val="400"/>
              </a:spcAft>
              <a:buNone/>
            </a:pPr>
            <a:r>
              <a:rPr lang="en-US" sz="1300" b="1" dirty="0">
                <a:solidFill>
                  <a:schemeClr val="bg1"/>
                </a:solidFill>
              </a:rPr>
              <a:t>github.com/MuhammadErlanggaKurniawan</a:t>
            </a:r>
            <a:endParaRPr lang="en-US" sz="1300" dirty="0"/>
          </a:p>
          <a:p>
            <a:pPr indent="0" marL="0">
              <a:spcAft>
                <a:spcPts val="400"/>
              </a:spcAft>
              <a:buNone/>
            </a:pPr>
            <a:r>
              <a:rPr lang="en-US" sz="1300" b="1" dirty="0">
                <a:solidFill>
                  <a:schemeClr val="bg1"/>
                </a:solidFill>
              </a:rPr>
              <a:t>/ets-ml2-kelompok</a:t>
            </a:r>
            <a:endParaRPr lang="en-US" sz="1300" dirty="0"/>
          </a:p>
          <a:p>
            <a:pPr indent="0" marL="0">
              <a:spcAft>
                <a:spcPts val="400"/>
              </a:spcAft>
              <a:buNone/>
            </a:pPr>
            <a:r>
              <a:rPr lang="en-US" sz="800" dirty="0">
                <a:solidFill>
                  <a:schemeClr val="bg1"/>
                </a:solidFill>
              </a:rPr>
              <a:t> </a:t>
            </a:r>
            <a:endParaRPr lang="en-US" sz="1300" dirty="0"/>
          </a:p>
          <a:p>
            <a:pPr indent="0" marL="0">
              <a:spcAft>
                <a:spcPts val="400"/>
              </a:spcAft>
              <a:buNone/>
            </a:pPr>
            <a:r>
              <a:rPr lang="en-US" sz="1300" dirty="0">
                <a:solidFill>
                  <a:srgbClr val="CADBD7"/>
                </a:solidFill>
              </a:rPr>
              <a:t>Notebook (11 bagian):</a:t>
            </a:r>
            <a:endParaRPr lang="en-US" sz="1300" dirty="0"/>
          </a:p>
          <a:p>
            <a:pPr indent="0" marL="0">
              <a:spcAft>
                <a:spcPts val="400"/>
              </a:spcAft>
              <a:buNone/>
            </a:pPr>
            <a:r>
              <a:rPr lang="en-US" sz="1300" b="1" dirty="0">
                <a:solidFill>
                  <a:schemeClr val="bg1"/>
                </a:solidFill>
              </a:rPr>
              <a:t>ETS_ML2_Kesegaran_Ayam.ipynb</a:t>
            </a:r>
            <a:endParaRPr lang="en-US" sz="13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BD7"/>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Daftar Pustaka</a:t>
            </a:r>
            <a:endParaRPr lang="en-US" sz="3000" dirty="0"/>
          </a:p>
        </p:txBody>
      </p:sp>
      <p:sp>
        <p:nvSpPr>
          <p:cNvPr id="3" name="Text 1"/>
          <p:cNvSpPr txBox="1"/>
          <p:nvPr/>
        </p:nvSpPr>
        <p:spPr>
          <a:xfrm>
            <a:off x="548640" y="1234440"/>
            <a:ext cx="11094415" cy="4937760"/>
          </a:xfrm>
          <a:prstGeom prst="rect">
            <a:avLst/>
          </a:prstGeom>
          <a:noFill/>
          <a:ln/>
        </p:spPr>
        <p:txBody>
          <a:bodyPr wrap="square" lIns="0" tIns="0" rIns="0" bIns="0" rtlCol="0" anchor="t"/>
          <a:lstStyle/>
          <a:p>
            <a:pPr indent="0" marL="0">
              <a:spcAft>
                <a:spcPts val="800"/>
              </a:spcAft>
              <a:buNone/>
            </a:pPr>
            <a:r>
              <a:rPr lang="en-US" sz="1400" dirty="0">
                <a:solidFill>
                  <a:schemeClr val="tx1"/>
                </a:solidFill>
              </a:rPr>
              <a:t>Anwar, H., &amp; Anwar, T. (2025). Quality assessment of chicken using machine learning and electronic nose. Sensing and Bio-Sensing Research, 47, 100739. https://doi.org/10.1016/j.sbsr.2025.100739</a:t>
            </a:r>
            <a:endParaRPr lang="en-US" sz="1400" dirty="0"/>
          </a:p>
          <a:p>
            <a:pPr indent="0" marL="0">
              <a:spcAft>
                <a:spcPts val="800"/>
              </a:spcAft>
              <a:buNone/>
            </a:pPr>
            <a:r>
              <a:rPr lang="en-US" sz="1400" dirty="0">
                <a:solidFill>
                  <a:schemeClr val="tx1"/>
                </a:solidFill>
              </a:rPr>
              <a:t>Breiman, L. (2001). Random forests. Machine Learning, 45, 5–32.</a:t>
            </a:r>
            <a:endParaRPr lang="en-US" sz="1400" dirty="0"/>
          </a:p>
          <a:p>
            <a:pPr indent="0" marL="0">
              <a:spcAft>
                <a:spcPts val="800"/>
              </a:spcAft>
              <a:buNone/>
            </a:pPr>
            <a:r>
              <a:rPr lang="en-US" sz="1400" dirty="0">
                <a:solidFill>
                  <a:schemeClr val="tx1"/>
                </a:solidFill>
              </a:rPr>
              <a:t>Chen, T., &amp; Guestrin, C. (2016). XGBoost: A scalable tree boosting system. Proceedings of KDD.</a:t>
            </a:r>
            <a:endParaRPr lang="en-US" sz="1400" dirty="0"/>
          </a:p>
          <a:p>
            <a:pPr indent="0" marL="0">
              <a:spcAft>
                <a:spcPts val="800"/>
              </a:spcAft>
              <a:buNone/>
            </a:pPr>
            <a:r>
              <a:rPr lang="en-US" sz="1400" dirty="0">
                <a:solidFill>
                  <a:schemeClr val="tx1"/>
                </a:solidFill>
              </a:rPr>
              <a:t>Sutton, R. S., &amp; Barto, A. G. (2018). Reinforcement learning: An introduction (2nd ed.). MIT Press.</a:t>
            </a:r>
            <a:endParaRPr lang="en-US" sz="1400" dirty="0"/>
          </a:p>
          <a:p>
            <a:pPr indent="0" marL="0">
              <a:spcAft>
                <a:spcPts val="800"/>
              </a:spcAft>
              <a:buNone/>
            </a:pPr>
            <a:r>
              <a:rPr lang="en-US" sz="1400" dirty="0">
                <a:solidFill>
                  <a:schemeClr val="tx1"/>
                </a:solidFill>
              </a:rPr>
              <a:t>Materi kuliah Machine Learning II: Ensemble_Learning.pptx, reinforcement.pptx (github.com/jendralhxr/machinelearning).</a:t>
            </a:r>
            <a:endParaRPr lang="en-US" sz="1400" dirty="0"/>
          </a:p>
          <a:p>
            <a:pPr indent="0" marL="0">
              <a:spcAft>
                <a:spcPts val="800"/>
              </a:spcAft>
              <a:buNone/>
            </a:pPr>
            <a:r>
              <a:rPr lang="en-US" sz="1400" dirty="0">
                <a:solidFill>
                  <a:schemeClr val="tx1"/>
                </a:solidFill>
              </a:rPr>
              <a:t>Data dan kode penulis: github.com/talhaanwarch/chicken_assessment_e-nose (commit e7e3ca6).</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ETS ML2">
  <a:themeElements>
    <a:clrScheme name="ETS ML2">
      <a:dk1>
        <a:srgbClr val="16262B"/>
      </a:dk1>
      <a:lt1>
        <a:srgbClr val="FFFFFF"/>
      </a:lt1>
      <a:dk2>
        <a:srgbClr val="0F3D3E"/>
      </a:dk2>
      <a:lt2>
        <a:srgbClr val="EEF4F2"/>
      </a:lt2>
      <a:accent1>
        <a:srgbClr val="0F5257"/>
      </a:accent1>
      <a:accent2>
        <a:srgbClr val="E3A33B"/>
      </a:accent2>
      <a:accent3>
        <a:srgbClr val="9AA5A6"/>
      </a:accent3>
      <a:accent4>
        <a:srgbClr val="C4553B"/>
      </a:accent4>
      <a:accent5>
        <a:srgbClr val="6C8F7D"/>
      </a:accent5>
      <a:accent6>
        <a:srgbClr val="2E6F95"/>
      </a:accent6>
      <a:hlink>
        <a:srgbClr val="2E6F95"/>
      </a:hlink>
      <a:folHlink>
        <a:srgbClr val="6C8F7D"/>
      </a:folHlink>
    </a:clrScheme>
    <a:fontScheme name="ETS ML2">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Klasifikasi Kesegaran Daging Ayam Berbasis Ensemble dan Reinforcement Learning</dc:title>
  <dc:subject>PptxGenJS Presentation</dc:subject>
  <dc:creator>Kelompok ETS ML II</dc:creator>
  <cp:lastModifiedBy>Kelompok ETS ML II</cp:lastModifiedBy>
  <cp:revision>1</cp:revision>
  <dcterms:created xsi:type="dcterms:W3CDTF">2026-10-22T00:52:05Z</dcterms:created>
  <dcterms:modified xsi:type="dcterms:W3CDTF">2026-10-22T00:52:05Z</dcterms:modified>
</cp:coreProperties>
</file>