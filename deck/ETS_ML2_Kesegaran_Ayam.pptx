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rlangga: pendahuluan, data, wrangling" id="{e1720fcd-e2df-1091-6bf9-e497b32e37ba}">
          <p14:sldIdLst>
            <p14:sldId id="256"/>
            <p14:sldId id="257"/>
            <p14:sldId id="258"/>
            <p14:sldId id="259"/>
            <p14:sldId id="260"/>
          </p14:sldIdLst>
        </p14:section>
        <p14:section name="Michael: validasi dan ensemble" id="{2218d084-24e6-06e9-f8b5-a7279077faad}">
          <p14:sldIdLst>
            <p14:sldId id="261"/>
            <p14:sldId id="262"/>
            <p14:sldId id="263"/>
            <p14:sldId id="264"/>
            <p14:sldId id="265"/>
          </p14:sldIdLst>
        </p14:section>
        <p14:section name="Rijal: reinforcement learning, analisis" id="{c2d41bcd-29eb-cf9c-e569-6d744bf2bd02}">
          <p14:sldIdLst>
            <p14:sldId id="266"/>
            <p14:sldId id="267"/>
            <p14:sldId id="268"/>
            <p14:sldId id="269"/>
            <p14:sldId id="270"/>
            <p14:sldId id="271"/>
          </p14:sldIdLst>
        </p14:section>
        <p14:section name="Erlangga: pengembangan dan simpulan" id="{9384b845-ca34-b47c-f001-2ec2c1530c8b}">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Selamat pagi. Kami dari kelompok yang beranggotakan Muhammad Erlangga Kurniawan, Michael Valencio Erasmo Bagas Ganendra, dan Rijal Apuila Khufi. Kami akan mempresentasikan proyek berjudul Klasifikasi Kesegaran Daging Ayam Berbasis Ensemble dan Reinforcement Learning, dengan studi kasus data electronic 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Presentasi kami terdiri dari tujuh bagian: latar belakang, data wrangling dan augmentation, ensemble learning, reinforcement learning, hasil dan analisis, celah pengembangan, dan simpulan. Saya menyampaikan latar belakang dan pengolahan data. Michael menyampaikan skema validasi dan ensemble learning. Rijal menyampaikan reinforcement learning serta hasil dan analisis. Terakhir, saya menutup dengan celah pengembangan dan 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Daging ayam mudah mengalami pembusukan selama penyimpanan karena aktivitas mikroba. Pembusukan menghasilkan senyawa volatil seperti amonia. Uji laboratorium memang akurat, tetapi lama, mahal, dan merusak sampel. Karena itu kami menggunakan electronic nose, yaitu rangkaian sensor gas seri MQ yang cepat, murah, dan tidak merusak sampel. Topik ini merupakan irisan skripsi anggota kelompok: skripsi saya tentang kesegaran makanan dengan sensor MQ-135, Rijal tentang mutu produk unggas, dan Michael tentang XGBoost. Dataset yang kami gunakan berasal dari Anwar dan Anwar tahun 2025, berisi 218.318 baris dari 15 sesi rekaman. Tabel di kanan menunjukkan parameternya: enam sensor gas MQ, kelembapan, lama penyimpanan, dan sesi rekaman. Targetnya tiga kelas kesegaran: Fresh, Semi-fresh, dan Spoiled.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Mengapa tidak cukup memakai aturan ambang tetap, misalnya jika nilai MQ-135 di atas angka tertentu maka ayam dianggap busuk? Grafik di kanan menunjukkan bacaan MQ-135 setiap sesi. Polanya sama-sama naik, tetapi levelnya sangat berbeda: puncaknya berkisar 119 sampai 677. Satu nilai ambang tidak akan berlaku untuk semua sampel. Selain itu, jenis kesalahan punya konsekuensi berbeda. False negative, yaitu ayam busuk diprediksi layak, berisiko bagi kesehatan konsumen. False positive, yaitu ayam layak diprediksi busuk, menimbulkan kerugian ekonomi. Label kelas dibuat dari lama penyimpanan mengikuti paper asli. Hasilnya 3.468 sampel dengan distribusi kelas yang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Data wrangling adalah proses membersihkan dan mengubah data mentah menjadi format yang siap dianalisis. Ada lima tahap. Pertama, integritas file diverifikasi dengan SHA-256. Kedua, bacaan sensor dirata-ratakan per 5 menit, sehingga 218.318 baris menjadi 3.828 segmen. Ketiga, dua jam pertama dihapus karena sensor masih dalam masa warm-up, sehingga tersisa 3.468 segmen. Keempat, kami membuat 19 fitur: log-level gas, proporsi relatif antar sensor, perubahan terhadap baseline jam pertama yang analog dengan Rs per R0, dan kelembapan. Kelima, variabel waktu tidak dijadikan fitur karena label dibuat dari waktu; jika dipakai akan terjadi data leakage. Untuk data augmentation, kami menguji dua teknik: Gaussian noise jittering dan simulasi variasi sensitivitas sensor. Augmentasi hanya diterapkan pada data latih. SMOTE tidak digunakan karena distribusi kelas sudah seimbang. Selanjutnya Michael akan menjelaskan skema validasi dan hasilnya.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Terima kasih. Sebelum membandingkan model, kami menentukan skema validasi. Segmen yang berurutan dalam satu sesi isinya sangat mirip. Jika data dibagi secara acak, segmen dari sesi yang sama masuk ke data latih dan data uji sekaligus, sehingga akurasinya terlalu tinggi. Dengan random split, Random Forest mencapai 96,9%. Dengan Leave-One-Session-Out, akurasinya 77,6%. Pada LOSO, satu sesi dijadikan data uji, model dilatih dengan 14 sesi lainnya, dan proses ini diulang 15 kali. Skema ini sesuai kondisi nyata, karena alat akan dipakai untuk sampel ayam baru. Paper aslinya juga menemukan hal serupa: 100 persen dengan random split dan 69 persen dengan pembagian non-acak. Seluruh hasil berikutnya menggunakan LOSO.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Tabel atas menunjukkan efek rekayasa fitur pada Random Forest. Dengan rata-rata mentah, F1-macro 0,681. Setelah ditambah log-level dan proporsi relatif, menjadi 0,711. Setelah ditambah perubahan terhadap baseline, menjadi 0,782. Jadi tahap wrangling memberi peningkatan terbesar, yaitu 0,101. Tabel bawah menunjukkan efek augmentasi. Pada Random Forest, jitter menurunkan skor 0,009 dan variasi sensitivitas menurunkan 0,015. Pada Decision Tree hasilnya campuran. Kesimpulannya, augmentasi sintetis belum mewakili variasi nyata antar sesi, sehingga tidak meningkatkan performa.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Ensemble learning adalah metode yang menggabungkan beberapa model untuk menghasilkan prediksi yang lebih akurat dan stabil dibandingkan model tunggal. Model tunggal cenderung mengalami overfitting dan sensitif terhadap noise. Kami membandingkan tiga model tunggal, yaitu Logistic Regression, KNN, dan Decision Tree, dengan tiga model ensemble. Random Forest menggunakan teknik bagging dengan 300 pohon. XGBoost menggunakan boosting, yaitu pohon dibangun berurutan dan setiap pohon memperbaiki kesalahan pohon sebelumnya. Soft Voting merata-ratakan probabilitas dari Logistic Regression, Random Forest, dan XGBoost. Seluruh hyperparameter ditetapkan sejak awal dan tidak di-tuning menggunakan data 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Tabel ini menunjukkan hasil enam model dengan validasi LOSO. Ketiga model ensemble berada di atas seluruh model tunggal. Rata-rata F1-macro ensemble 0,768, sedangkan model tunggal 0,726. Model terbaik adalah Random Forest dengan akurasi 77,6% dan F1-macro 0,782. Perbandingan paling adil adalah Random Forest dengan Decision Tree, karena kedalaman pohonnya sama: 0,782 berbanding 0,713. Untuk mendeteksi ayam busuk, XGBoost memiliki recall Spoiled tertinggi, yaitu 84,2%.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[Michael] Ini confusion matrix Random Forest. Tidak ada sampel Fresh yang diprediksi Spoiled, dan sebaliknya. Kesalahan terkonsentrasi pada kelas Semi-fresh, dengan recall 74,1%, karena kelas ini berada di antara dua kelas lainnya. Pada eksperimen lanjutan di notebook saya, Extra Trees dengan 500 pohon mencapai F1-macro 0,787, setara dengan Random Forest. Penambahan pohon di atas 300 juga tidak lagi meningkatkan performa. Selanjutnya Rijal akan menjelaskan reinforcement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Terima kasih. Reinforcement learning adalah pendekatan di mana agen belajar mengambil keputusan melalui trial and error. Setiap aksi menghasilkan reward atau penalti, dan agen berusaha memaksimalkan total reward. Tujuan sistem kami tidak hanya mengklasifikasikan, tetapi juga memutuskan tindakan: jual, cek manual, atau buang. Metode yang kami gunakan adalah contextual multi-armed bandit dengan strategi epsilon-greedy. Sembilan puluh persen agen memilih aksi dengan nilai tertinggi, dan sepuluh persen memilih aksi acak untuk eksplorasi. Nilai setiap aksi diperbarui dengan rata-rata reward yang diterima. Agen dilatih 3.000 iterasi pada 12 sesi dan dievaluasi pada 3 sesi lainnya.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Komponen agen kami sebagai berikut. State adalah prediksi Random Forest yang dikombinasikan dengan tingkat keyakinan model: yakin jika probabilitasnya minimal 0,7, dan ragu jika di bawahnya. Jadi ada enam state. Aksinya tiga: jual, cek manual, dan buang. Reward ditetapkan berdasarkan risiko. Menjual ayam layak bernilai plus satu, sedangkan menjual ayam busuk diberi penalti minus lima karena berisiko bagi konsumen. Cek manual selalu bernilai plus 0,5 karena aman tetapi membutuhkan biaya. Membuang ayam layak bernilai minus satu, dan membuang ayam busuk bernilai plus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Tabel ini menunjukkan rata-rata reward setiap aksi di setiap state, yaitu nilai yang dipelajari agen melalui trial and error. Untuk prediksi Fresh, jual selalu bernilai plus satu, sehingga agen memilih jual. Yang menarik adalah Semi-fresh dengan keyakinan tinggi: 10,8% di antaranya sebenarnya Spoiled, sehingga rata-rata reward jual turun menjadi 0,35, lebih rendah dari cek manual 0,50. Agen menemukan sendiri bahwa Semi-fresh lebih aman dicek terlebih dahulu. Untuk Spoiled yang yakin, agen memilih buang. Untuk Spoiled yang ragu, 42,2% sebenarnya masih layak, sehingga agen memilih cek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Kebijakan agen kami bandingkan dengan kebijakan lain pada sesi uji. Agen memperoleh rata-rata reward 0,61, lebih tinggi dari selalu mengikuti prediksi model yang hanya 0,44 dan selalu cek manual 0,50. Jika kebijakan agen diterapkan pada seluruh data, tidak ada ayam busuk yang terjual, dibandingkan 254 jika hanya mengikuti prediksi model. Konsekuensinya, 47,2% kasus memerlukan cek manual dan 104 ayam layak terbuang.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Rubrik reinforcement menanyakan bagaimana tambahan iterasi dan data meningkatkan performa. Grafik kiri menunjukkan penambahan iterasi: reward agen naik dari −0,80 pada iterasi pertama menjadi 0,53 setelah 100 iterasi, lalu stabil di 0,61. Grafik kanan menunjukkan penambahan data: F1-macro Random Forest naik dari 0,58 dengan satu sesi latih menjadi 0,75 dengan 14 sesi latih. Penambahan data asli terbukti lebih efektif daripada augmentasi sintetis.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[Rijal] Dari seluruh hasil, ada empat poin analisis. Batasan: dataset hanya 15 sesi, label berasal dari lama penyimpanan, dan nilai reward merupakan asumsi. Sumber galat: kesalahan terbanyak pada kelas Semi-fresh. Sesi 9 dan 1 paling sulit karena puncak MQ-135-nya sangat rendah, 206 dan 119, jauh di bawah median 535, sehingga model memprediksi kondisinya lebih segar dari sebenarnya. Trade-off: agen menekan ayam busuk terjual menjadi nol, dengan konsekuensi 47,2% kasus perlu cek manual. Pada eksperimen saya, jika penalti diturunkan menjadi minus dua, agen mulai menjual Semi-fresh dan 71 ayam busuk terjual. Insight: random split melebih-lebihkan akurasi, rekayasa fitur lebih berpengaruh daripada pemilihan model, data asli lebih efektif daripada augmentasi, dan sensor paling berpengaruh adalah MQ-7 dan MQ-3. Selanjutnya Erlangga akan menutup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Terima kasih Rijal. Terdapat beberapa celah pengembangan. Pertama, menambah jumlah sesi dan variasi kondisi penyimpanan. Kedua, menggunakan label dari uji laboratorium seperti TVB-N atau Total Plate Count. Ketiga, menerapkan pipeline ini pada 16 batch data skripsi saya yang menggunakan sensor MQ-135 dan DHT22. Keempat, mengembangkan reinforcement learning multi-step, misalnya Q-learning, untuk menjadwalkan pemeriksaan selama penyimpanan. Kelima, menggunakan deep learning sekuensial seperti 1D-CNN atau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Sebagai simpulan. Pertama, skema validasi menentukan keandalan hasil: LOSO memberi estimasi yang realistis sebesar 77,6%, sedangkan random split terdampak data leakage. Kedua, data wrangling memberi peningkatan terbesar: fitur relatif terhadap baseline menaikkan F1-macro dari 0,681 menjadi 0,782, sedangkan augmentasi sintetis tidak meningkatkan performa. Ketiga, ensemble learning mengungguli model tunggal, dengan Random Forest sebagai model terbaik. Keempat, reinforcement learning menghasilkan keputusan yang lebih aman: reward naik seiring iterasi, ayam busuk yang terjual turun dari 254 menjadi nol, dan penambahan sesi latih menaikkan performa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Referensi yang kami gunakan tercantum pada slide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[Erlangga] Demikian presentasi dari kelompok kami. Seluruh kode dan notebook dapat diakses di GitHub. Terima kasih, kami persilakan Bapak/Ibu dan teman-teman untuk bertanya.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3D3E"/>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7A8A8C"/>
                </a:solidFill>
              </a:rPr>
              <a:t>ETS Machine Learning II · Klasifikasi Kesegaran Daging Ayam</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777240"/>
            <a:ext cx="8229600" cy="274320"/>
          </a:xfrm>
          <a:prstGeom prst="rect">
            <a:avLst/>
          </a:prstGeom>
          <a:noFill/>
          <a:ln/>
        </p:spPr>
        <p:txBody>
          <a:bodyPr wrap="square" lIns="0" tIns="0" rIns="0" bIns="0" rtlCol="0" anchor="ctr"/>
          <a:lstStyle/>
          <a:p>
            <a:pPr indent="0" marL="0">
              <a:buNone/>
            </a:pPr>
            <a:r>
              <a:rPr lang="en-US" sz="1200" b="1" spc="200" kern="0" dirty="0">
                <a:solidFill>
                  <a:srgbClr val="E3A33B"/>
                </a:solidFill>
              </a:rPr>
              <a:t>MACHINE LEARNING II · EVALUASI TENGAH SEMESTER</a:t>
            </a:r>
            <a:endParaRPr lang="en-US" sz="1200" dirty="0"/>
          </a:p>
        </p:txBody>
      </p:sp>
      <p:sp>
        <p:nvSpPr>
          <p:cNvPr id="3" name="Text 1"/>
          <p:cNvSpPr txBox="1"/>
          <p:nvPr/>
        </p:nvSpPr>
        <p:spPr>
          <a:xfrm>
            <a:off x="548640" y="1188720"/>
            <a:ext cx="10972800" cy="210312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KLASIFIKASI KESEGARAN DAGING AYAM</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BERBASIS ENSEMBLE DAN</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REINFORCEMENT LEARNING</a:t>
            </a:r>
            <a:endParaRPr lang="en-US" sz="3800" dirty="0"/>
          </a:p>
        </p:txBody>
      </p:sp>
      <p:sp>
        <p:nvSpPr>
          <p:cNvPr id="4" name="Text 2"/>
          <p:cNvSpPr txBox="1"/>
          <p:nvPr/>
        </p:nvSpPr>
        <p:spPr>
          <a:xfrm>
            <a:off x="548640" y="3429000"/>
            <a:ext cx="10058400" cy="457200"/>
          </a:xfrm>
          <a:prstGeom prst="rect">
            <a:avLst/>
          </a:prstGeom>
          <a:noFill/>
          <a:ln/>
        </p:spPr>
        <p:txBody>
          <a:bodyPr wrap="square" lIns="0" tIns="0" rIns="0" bIns="0" rtlCol="0" anchor="ctr"/>
          <a:lstStyle/>
          <a:p>
            <a:pPr indent="0" marL="0">
              <a:buNone/>
            </a:pPr>
            <a:r>
              <a:rPr lang="en-US" sz="2000" i="1" dirty="0">
                <a:solidFill>
                  <a:srgbClr val="CADBD7"/>
                </a:solidFill>
              </a:rPr>
              <a:t>Studi kasus data electronic nose (sensor gas seri MQ)</a:t>
            </a:r>
            <a:endParaRPr lang="en-US" sz="2000" dirty="0"/>
          </a:p>
        </p:txBody>
      </p:sp>
      <p:sp>
        <p:nvSpPr>
          <p:cNvPr id="5" name="Text 3"/>
          <p:cNvSpPr txBox="1"/>
          <p:nvPr/>
        </p:nvSpPr>
        <p:spPr>
          <a:xfrm>
            <a:off x="548640" y="4160520"/>
            <a:ext cx="7315200" cy="1463040"/>
          </a:xfrm>
          <a:prstGeom prst="rect">
            <a:avLst/>
          </a:prstGeom>
          <a:noFill/>
          <a:ln/>
        </p:spPr>
        <p:txBody>
          <a:bodyPr wrap="square" lIns="0" tIns="0" rIns="0" bIns="0" rtlCol="0" anchor="ctr"/>
          <a:lstStyle/>
          <a:p>
            <a:pPr indent="0" marL="0">
              <a:spcAft>
                <a:spcPts val="300"/>
              </a:spcAft>
              <a:buNone/>
            </a:pPr>
            <a:r>
              <a:rPr lang="en-US" sz="1500" b="1" dirty="0">
                <a:solidFill>
                  <a:srgbClr val="E3A33B"/>
                </a:solidFill>
              </a:rPr>
              <a:t>Disusun oleh:</a:t>
            </a:r>
            <a:endParaRPr lang="en-US" sz="1500" dirty="0"/>
          </a:p>
          <a:p>
            <a:pPr indent="0" marL="0">
              <a:spcAft>
                <a:spcPts val="300"/>
              </a:spcAft>
              <a:buNone/>
            </a:pPr>
            <a:r>
              <a:rPr lang="en-US" sz="1500" dirty="0">
                <a:solidFill>
                  <a:srgbClr val="FFFFFF"/>
                </a:solidFill>
              </a:rPr>
              <a:t>Muhammad Erlangga Kurniawan (23083010045)</a:t>
            </a:r>
            <a:endParaRPr lang="en-US" sz="1500" dirty="0"/>
          </a:p>
          <a:p>
            <a:pPr indent="0" marL="0">
              <a:spcAft>
                <a:spcPts val="300"/>
              </a:spcAft>
              <a:buNone/>
            </a:pPr>
            <a:r>
              <a:rPr lang="en-US" sz="1500" dirty="0">
                <a:solidFill>
                  <a:srgbClr val="FFFFFF"/>
                </a:solidFill>
              </a:rPr>
              <a:t>Michael Valencio Erasmo Bagas Ganendra (23083010042)</a:t>
            </a:r>
            <a:endParaRPr lang="en-US" sz="1500" dirty="0"/>
          </a:p>
          <a:p>
            <a:pPr indent="0" marL="0">
              <a:spcAft>
                <a:spcPts val="300"/>
              </a:spcAft>
              <a:buNone/>
            </a:pPr>
            <a:r>
              <a:rPr lang="en-US" sz="1500" dirty="0">
                <a:solidFill>
                  <a:srgbClr val="FFFFFF"/>
                </a:solidFill>
              </a:rPr>
              <a:t>Rijal Apuila Khufi (23083010033)</a:t>
            </a:r>
            <a:endParaRPr lang="en-US" sz="1500" dirty="0"/>
          </a:p>
        </p:txBody>
      </p:sp>
      <p:sp>
        <p:nvSpPr>
          <p:cNvPr id="6" name="Shape 4"/>
          <p:cNvSpPr/>
          <p:nvPr/>
        </p:nvSpPr>
        <p:spPr>
          <a:xfrm>
            <a:off x="548640" y="5852160"/>
            <a:ext cx="11094415" cy="0"/>
          </a:xfrm>
          <a:prstGeom prst="line">
            <a:avLst/>
          </a:prstGeom>
          <a:noFill/>
          <a:ln w="12700">
            <a:solidFill>
              <a:srgbClr val="3E6466"/>
            </a:solidFill>
            <a:prstDash val="solid"/>
          </a:ln>
        </p:spPr>
      </p:sp>
      <p:sp>
        <p:nvSpPr>
          <p:cNvPr id="7" name="Text 5"/>
          <p:cNvSpPr txBox="1"/>
          <p:nvPr/>
        </p:nvSpPr>
        <p:spPr>
          <a:xfrm>
            <a:off x="548640" y="5989320"/>
            <a:ext cx="7315200" cy="320040"/>
          </a:xfrm>
          <a:prstGeom prst="rect">
            <a:avLst/>
          </a:prstGeom>
          <a:noFill/>
          <a:ln/>
        </p:spPr>
        <p:txBody>
          <a:bodyPr wrap="square" lIns="0" tIns="0" rIns="0" bIns="0" rtlCol="0" anchor="ctr"/>
          <a:lstStyle/>
          <a:p>
            <a:pPr indent="0" marL="0">
              <a:buNone/>
            </a:pPr>
            <a:r>
              <a:rPr lang="en-US" sz="1200" dirty="0">
                <a:solidFill>
                  <a:srgbClr val="9FB8B3"/>
                </a:solidFill>
              </a:rPr>
              <a:t>Program Studi Sains Data · UPN "Veteran" Jawa Timur</a:t>
            </a:r>
            <a:endParaRPr lang="en-US" sz="1200" dirty="0"/>
          </a:p>
        </p:txBody>
      </p:sp>
      <p:sp>
        <p:nvSpPr>
          <p:cNvPr id="8" name="Text 6"/>
          <p:cNvSpPr txBox="1"/>
          <p:nvPr/>
        </p:nvSpPr>
        <p:spPr>
          <a:xfrm>
            <a:off x="8899855" y="5989320"/>
            <a:ext cx="2743200" cy="320040"/>
          </a:xfrm>
          <a:prstGeom prst="rect">
            <a:avLst/>
          </a:prstGeom>
          <a:noFill/>
          <a:ln/>
        </p:spPr>
        <p:txBody>
          <a:bodyPr wrap="square" lIns="0" tIns="0" rIns="0" bIns="0" rtlCol="0" anchor="ctr"/>
          <a:lstStyle/>
          <a:p>
            <a:pPr algn="r" indent="0" marL="0">
              <a:buNone/>
            </a:pPr>
            <a:r>
              <a:rPr lang="en-US" sz="1200" dirty="0">
                <a:solidFill>
                  <a:srgbClr val="9FB8B3"/>
                </a:solidFill>
              </a:rPr>
              <a:t>Oktober 2026</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0F3D3E"/>
          </a:solidFill>
          <a:ln w="12700">
            <a:solidFill>
              <a:srgbClr val="0F3D3E"/>
            </a:solidFill>
            <a:prstDash val="solid"/>
          </a:ln>
        </p:spPr>
      </p:sp>
      <p:sp>
        <p:nvSpPr>
          <p:cNvPr id="3" name="Text 1"/>
          <p:cNvSpPr txBox="1"/>
          <p:nvPr/>
        </p:nvSpPr>
        <p:spPr>
          <a:xfrm>
            <a:off x="548640" y="4206240"/>
            <a:ext cx="3474720" cy="2011680"/>
          </a:xfrm>
          <a:prstGeom prst="rect">
            <a:avLst/>
          </a:prstGeom>
          <a:noFill/>
          <a:ln/>
        </p:spPr>
        <p:txBody>
          <a:bodyPr wrap="square" lIns="0" tIns="0" rIns="0" bIns="0" rtlCol="0" anchor="b"/>
          <a:lstStyle/>
          <a:p>
            <a:pPr indent="0" marL="0">
              <a:buNone/>
            </a:pPr>
            <a:r>
              <a:rPr lang="en-US" sz="5400" b="1" dirty="0">
                <a:solidFill>
                  <a:srgbClr val="FFFFFF"/>
                </a:solidFill>
                <a:latin typeface="Cambria" pitchFamily="34" charset="0"/>
                <a:ea typeface="Cambria" pitchFamily="34" charset="-122"/>
                <a:cs typeface="Cambria" pitchFamily="34" charset="-120"/>
              </a:rPr>
              <a:t>Daftar</a:t>
            </a:r>
            <a:endParaRPr lang="en-US" sz="5400" dirty="0"/>
          </a:p>
          <a:p>
            <a:pPr indent="0" marL="0">
              <a:buNone/>
            </a:pPr>
            <a:r>
              <a:rPr lang="en-US" sz="5400" b="1" dirty="0">
                <a:solidFill>
                  <a:srgbClr val="FFFFFF"/>
                </a:solidFill>
                <a:latin typeface="Cambria" pitchFamily="34" charset="0"/>
                <a:ea typeface="Cambria" pitchFamily="34" charset="-122"/>
                <a:cs typeface="Cambria" pitchFamily="34" charset="-120"/>
              </a:rPr>
              <a:t>Isi</a:t>
            </a:r>
            <a:endParaRPr lang="en-US" sz="5400" dirty="0"/>
          </a:p>
        </p:txBody>
      </p:sp>
      <p:sp>
        <p:nvSpPr>
          <p:cNvPr id="4" name="Shape 2"/>
          <p:cNvSpPr/>
          <p:nvPr/>
        </p:nvSpPr>
        <p:spPr>
          <a:xfrm>
            <a:off x="5120640" y="685800"/>
            <a:ext cx="548640" cy="548640"/>
          </a:xfrm>
          <a:prstGeom prst="rect">
            <a:avLst/>
          </a:prstGeom>
          <a:solidFill>
            <a:srgbClr val="0F3D3E"/>
          </a:solidFill>
          <a:ln w="12700">
            <a:solidFill>
              <a:srgbClr val="0F3D3E"/>
            </a:solidFill>
            <a:prstDash val="solid"/>
          </a:ln>
        </p:spPr>
      </p:sp>
      <p:sp>
        <p:nvSpPr>
          <p:cNvPr id="5" name="Text 3"/>
          <p:cNvSpPr txBox="1"/>
          <p:nvPr/>
        </p:nvSpPr>
        <p:spPr>
          <a:xfrm>
            <a:off x="5120640" y="6858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5943600" y="685800"/>
            <a:ext cx="5669280" cy="548640"/>
          </a:xfrm>
          <a:prstGeom prst="rect">
            <a:avLst/>
          </a:prstGeom>
          <a:noFill/>
          <a:ln/>
        </p:spPr>
        <p:txBody>
          <a:bodyPr wrap="square" lIns="0" tIns="0" rIns="0" bIns="0" rtlCol="0" anchor="ctr"/>
          <a:lstStyle/>
          <a:p>
            <a:pPr indent="0" marL="0">
              <a:buNone/>
            </a:pPr>
            <a:r>
              <a:rPr lang="en-US" sz="2200" dirty="0">
                <a:solidFill>
                  <a:srgbClr val="16262B"/>
                </a:solidFill>
              </a:rPr>
              <a:t>Latar Belakang</a:t>
            </a:r>
            <a:endParaRPr lang="en-US" sz="2200" dirty="0"/>
          </a:p>
        </p:txBody>
      </p:sp>
      <p:sp>
        <p:nvSpPr>
          <p:cNvPr id="7" name="Shape 5"/>
          <p:cNvSpPr/>
          <p:nvPr/>
        </p:nvSpPr>
        <p:spPr>
          <a:xfrm>
            <a:off x="5120640" y="1472184"/>
            <a:ext cx="548640" cy="548640"/>
          </a:xfrm>
          <a:prstGeom prst="rect">
            <a:avLst/>
          </a:prstGeom>
          <a:solidFill>
            <a:srgbClr val="0F3D3E"/>
          </a:solidFill>
          <a:ln w="12700">
            <a:solidFill>
              <a:srgbClr val="0F3D3E"/>
            </a:solidFill>
            <a:prstDash val="solid"/>
          </a:ln>
        </p:spPr>
      </p:sp>
      <p:sp>
        <p:nvSpPr>
          <p:cNvPr id="8" name="Text 6"/>
          <p:cNvSpPr txBox="1"/>
          <p:nvPr/>
        </p:nvSpPr>
        <p:spPr>
          <a:xfrm>
            <a:off x="5120640" y="1472184"/>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txBox="1"/>
          <p:nvPr/>
        </p:nvSpPr>
        <p:spPr>
          <a:xfrm>
            <a:off x="5943600" y="1472184"/>
            <a:ext cx="5669280" cy="548640"/>
          </a:xfrm>
          <a:prstGeom prst="rect">
            <a:avLst/>
          </a:prstGeom>
          <a:noFill/>
          <a:ln/>
        </p:spPr>
        <p:txBody>
          <a:bodyPr wrap="square" lIns="0" tIns="0" rIns="0" bIns="0" rtlCol="0" anchor="ctr"/>
          <a:lstStyle/>
          <a:p>
            <a:pPr indent="0" marL="0">
              <a:buNone/>
            </a:pPr>
            <a:r>
              <a:rPr lang="en-US" sz="2200" dirty="0">
                <a:solidFill>
                  <a:srgbClr val="16262B"/>
                </a:solidFill>
              </a:rPr>
              <a:t>Data Wrangling &amp; Augmentation</a:t>
            </a:r>
            <a:endParaRPr lang="en-US" sz="2200" dirty="0"/>
          </a:p>
        </p:txBody>
      </p:sp>
      <p:sp>
        <p:nvSpPr>
          <p:cNvPr id="10" name="Shape 8"/>
          <p:cNvSpPr/>
          <p:nvPr/>
        </p:nvSpPr>
        <p:spPr>
          <a:xfrm>
            <a:off x="5120640" y="2258568"/>
            <a:ext cx="548640" cy="548640"/>
          </a:xfrm>
          <a:prstGeom prst="rect">
            <a:avLst/>
          </a:prstGeom>
          <a:solidFill>
            <a:srgbClr val="0F3D3E"/>
          </a:solidFill>
          <a:ln w="12700">
            <a:solidFill>
              <a:srgbClr val="0F3D3E"/>
            </a:solidFill>
            <a:prstDash val="solid"/>
          </a:ln>
        </p:spPr>
      </p:sp>
      <p:sp>
        <p:nvSpPr>
          <p:cNvPr id="11" name="Text 9"/>
          <p:cNvSpPr txBox="1"/>
          <p:nvPr/>
        </p:nvSpPr>
        <p:spPr>
          <a:xfrm>
            <a:off x="5120640" y="225856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ext 10"/>
          <p:cNvSpPr txBox="1"/>
          <p:nvPr/>
        </p:nvSpPr>
        <p:spPr>
          <a:xfrm>
            <a:off x="5943600" y="2258568"/>
            <a:ext cx="5669280" cy="548640"/>
          </a:xfrm>
          <a:prstGeom prst="rect">
            <a:avLst/>
          </a:prstGeom>
          <a:noFill/>
          <a:ln/>
        </p:spPr>
        <p:txBody>
          <a:bodyPr wrap="square" lIns="0" tIns="0" rIns="0" bIns="0" rtlCol="0" anchor="ctr"/>
          <a:lstStyle/>
          <a:p>
            <a:pPr indent="0" marL="0">
              <a:buNone/>
            </a:pPr>
            <a:r>
              <a:rPr lang="en-US" sz="2200" dirty="0">
                <a:solidFill>
                  <a:srgbClr val="16262B"/>
                </a:solidFill>
              </a:rPr>
              <a:t>Ensemble Learning</a:t>
            </a:r>
            <a:endParaRPr lang="en-US" sz="2200" dirty="0"/>
          </a:p>
        </p:txBody>
      </p:sp>
      <p:sp>
        <p:nvSpPr>
          <p:cNvPr id="13" name="Shape 11"/>
          <p:cNvSpPr/>
          <p:nvPr/>
        </p:nvSpPr>
        <p:spPr>
          <a:xfrm>
            <a:off x="5120640" y="3044952"/>
            <a:ext cx="548640" cy="548640"/>
          </a:xfrm>
          <a:prstGeom prst="rect">
            <a:avLst/>
          </a:prstGeom>
          <a:solidFill>
            <a:srgbClr val="0F3D3E"/>
          </a:solidFill>
          <a:ln w="12700">
            <a:solidFill>
              <a:srgbClr val="0F3D3E"/>
            </a:solidFill>
            <a:prstDash val="solid"/>
          </a:ln>
        </p:spPr>
      </p:sp>
      <p:sp>
        <p:nvSpPr>
          <p:cNvPr id="14" name="Text 12"/>
          <p:cNvSpPr txBox="1"/>
          <p:nvPr/>
        </p:nvSpPr>
        <p:spPr>
          <a:xfrm>
            <a:off x="5120640" y="3044952"/>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5" name="Text 13"/>
          <p:cNvSpPr txBox="1"/>
          <p:nvPr/>
        </p:nvSpPr>
        <p:spPr>
          <a:xfrm>
            <a:off x="5943600" y="3044952"/>
            <a:ext cx="5669280" cy="548640"/>
          </a:xfrm>
          <a:prstGeom prst="rect">
            <a:avLst/>
          </a:prstGeom>
          <a:noFill/>
          <a:ln/>
        </p:spPr>
        <p:txBody>
          <a:bodyPr wrap="square" lIns="0" tIns="0" rIns="0" bIns="0" rtlCol="0" anchor="ctr"/>
          <a:lstStyle/>
          <a:p>
            <a:pPr indent="0" marL="0">
              <a:buNone/>
            </a:pPr>
            <a:r>
              <a:rPr lang="en-US" sz="2200" dirty="0">
                <a:solidFill>
                  <a:srgbClr val="16262B"/>
                </a:solidFill>
              </a:rPr>
              <a:t>Reinforcement Learning</a:t>
            </a:r>
            <a:endParaRPr lang="en-US" sz="2200" dirty="0"/>
          </a:p>
        </p:txBody>
      </p:sp>
      <p:sp>
        <p:nvSpPr>
          <p:cNvPr id="16" name="Shape 14"/>
          <p:cNvSpPr/>
          <p:nvPr/>
        </p:nvSpPr>
        <p:spPr>
          <a:xfrm>
            <a:off x="5120640" y="3831336"/>
            <a:ext cx="548640" cy="548640"/>
          </a:xfrm>
          <a:prstGeom prst="rect">
            <a:avLst/>
          </a:prstGeom>
          <a:solidFill>
            <a:srgbClr val="0F3D3E"/>
          </a:solidFill>
          <a:ln w="12700">
            <a:solidFill>
              <a:srgbClr val="0F3D3E"/>
            </a:solidFill>
            <a:prstDash val="solid"/>
          </a:ln>
        </p:spPr>
      </p:sp>
      <p:sp>
        <p:nvSpPr>
          <p:cNvPr id="17" name="Text 15"/>
          <p:cNvSpPr txBox="1"/>
          <p:nvPr/>
        </p:nvSpPr>
        <p:spPr>
          <a:xfrm>
            <a:off x="5120640" y="3831336"/>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18" name="Text 16"/>
          <p:cNvSpPr txBox="1"/>
          <p:nvPr/>
        </p:nvSpPr>
        <p:spPr>
          <a:xfrm>
            <a:off x="5943600" y="3831336"/>
            <a:ext cx="5669280" cy="548640"/>
          </a:xfrm>
          <a:prstGeom prst="rect">
            <a:avLst/>
          </a:prstGeom>
          <a:noFill/>
          <a:ln/>
        </p:spPr>
        <p:txBody>
          <a:bodyPr wrap="square" lIns="0" tIns="0" rIns="0" bIns="0" rtlCol="0" anchor="ctr"/>
          <a:lstStyle/>
          <a:p>
            <a:pPr indent="0" marL="0">
              <a:buNone/>
            </a:pPr>
            <a:r>
              <a:rPr lang="en-US" sz="2200" dirty="0">
                <a:solidFill>
                  <a:srgbClr val="16262B"/>
                </a:solidFill>
              </a:rPr>
              <a:t>Hasil dan Analisis</a:t>
            </a:r>
            <a:endParaRPr lang="en-US" sz="2200" dirty="0"/>
          </a:p>
        </p:txBody>
      </p:sp>
      <p:sp>
        <p:nvSpPr>
          <p:cNvPr id="19" name="Shape 17"/>
          <p:cNvSpPr/>
          <p:nvPr/>
        </p:nvSpPr>
        <p:spPr>
          <a:xfrm>
            <a:off x="5120640" y="4617720"/>
            <a:ext cx="548640" cy="548640"/>
          </a:xfrm>
          <a:prstGeom prst="rect">
            <a:avLst/>
          </a:prstGeom>
          <a:solidFill>
            <a:srgbClr val="0F3D3E"/>
          </a:solidFill>
          <a:ln w="12700">
            <a:solidFill>
              <a:srgbClr val="0F3D3E"/>
            </a:solidFill>
            <a:prstDash val="solid"/>
          </a:ln>
        </p:spPr>
      </p:sp>
      <p:sp>
        <p:nvSpPr>
          <p:cNvPr id="20" name="Text 18"/>
          <p:cNvSpPr txBox="1"/>
          <p:nvPr/>
        </p:nvSpPr>
        <p:spPr>
          <a:xfrm>
            <a:off x="5120640" y="46177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21" name="Text 19"/>
          <p:cNvSpPr txBox="1"/>
          <p:nvPr/>
        </p:nvSpPr>
        <p:spPr>
          <a:xfrm>
            <a:off x="5943600" y="4617720"/>
            <a:ext cx="5669280" cy="548640"/>
          </a:xfrm>
          <a:prstGeom prst="rect">
            <a:avLst/>
          </a:prstGeom>
          <a:noFill/>
          <a:ln/>
        </p:spPr>
        <p:txBody>
          <a:bodyPr wrap="square" lIns="0" tIns="0" rIns="0" bIns="0" rtlCol="0" anchor="ctr"/>
          <a:lstStyle/>
          <a:p>
            <a:pPr indent="0" marL="0">
              <a:buNone/>
            </a:pPr>
            <a:r>
              <a:rPr lang="en-US" sz="2200" dirty="0">
                <a:solidFill>
                  <a:srgbClr val="16262B"/>
                </a:solidFill>
              </a:rPr>
              <a:t>Celah Pengembangan</a:t>
            </a:r>
            <a:endParaRPr lang="en-US" sz="2200" dirty="0"/>
          </a:p>
        </p:txBody>
      </p:sp>
      <p:sp>
        <p:nvSpPr>
          <p:cNvPr id="22" name="Shape 20"/>
          <p:cNvSpPr/>
          <p:nvPr/>
        </p:nvSpPr>
        <p:spPr>
          <a:xfrm>
            <a:off x="5120640" y="5404104"/>
            <a:ext cx="548640" cy="548640"/>
          </a:xfrm>
          <a:prstGeom prst="rect">
            <a:avLst/>
          </a:prstGeom>
          <a:solidFill>
            <a:srgbClr val="0F3D3E"/>
          </a:solidFill>
          <a:ln w="12700">
            <a:solidFill>
              <a:srgbClr val="0F3D3E"/>
            </a:solidFill>
            <a:prstDash val="solid"/>
          </a:ln>
        </p:spPr>
      </p:sp>
      <p:sp>
        <p:nvSpPr>
          <p:cNvPr id="23" name="Text 21"/>
          <p:cNvSpPr txBox="1"/>
          <p:nvPr/>
        </p:nvSpPr>
        <p:spPr>
          <a:xfrm>
            <a:off x="5120640" y="5404104"/>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7</a:t>
            </a:r>
            <a:endParaRPr lang="en-US" sz="2000" dirty="0"/>
          </a:p>
        </p:txBody>
      </p:sp>
      <p:sp>
        <p:nvSpPr>
          <p:cNvPr id="24" name="Text 22"/>
          <p:cNvSpPr txBox="1"/>
          <p:nvPr/>
        </p:nvSpPr>
        <p:spPr>
          <a:xfrm>
            <a:off x="5943600" y="5404104"/>
            <a:ext cx="5669280" cy="548640"/>
          </a:xfrm>
          <a:prstGeom prst="rect">
            <a:avLst/>
          </a:prstGeom>
          <a:noFill/>
          <a:ln/>
        </p:spPr>
        <p:txBody>
          <a:bodyPr wrap="square" lIns="0" tIns="0" rIns="0" bIns="0" rtlCol="0" anchor="ctr"/>
          <a:lstStyle/>
          <a:p>
            <a:pPr indent="0" marL="0">
              <a:buNone/>
            </a:pPr>
            <a:r>
              <a:rPr lang="en-US" sz="2200" dirty="0">
                <a:solidFill>
                  <a:srgbClr val="16262B"/>
                </a:solidFill>
              </a:rPr>
              <a:t>Simpulan</a:t>
            </a:r>
            <a:endParaRPr lang="en-US" sz="2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Latar Belakang</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Erlangga</a:t>
            </a:r>
            <a:endParaRPr lang="en-US" sz="1200" dirty="0"/>
          </a:p>
        </p:txBody>
      </p:sp>
      <p:sp>
        <p:nvSpPr>
          <p:cNvPr id="5" name="Text 3"/>
          <p:cNvSpPr txBox="1"/>
          <p:nvPr/>
        </p:nvSpPr>
        <p:spPr>
          <a:xfrm>
            <a:off x="548640" y="1280160"/>
            <a:ext cx="4892040" cy="2148840"/>
          </a:xfrm>
          <a:prstGeom prst="rect">
            <a:avLst/>
          </a:prstGeom>
          <a:noFill/>
          <a:ln/>
        </p:spPr>
        <p:txBody>
          <a:bodyPr wrap="square" lIns="0" tIns="0" rIns="0" bIns="0" rtlCol="0" anchor="t"/>
          <a:lstStyle/>
          <a:p>
            <a:pPr algn="just" indent="0" marL="0">
              <a:buNone/>
            </a:pPr>
            <a:r>
              <a:rPr lang="en-US" sz="1450" dirty="0">
                <a:solidFill>
                  <a:srgbClr val="16262B"/>
                </a:solidFill>
              </a:rPr>
              <a:t>Daging ayam mudah mengalami pembusukan (spoilage) akibat aktivitas mikroba selama penyimpanan. Proses ini menghasilkan senyawa volatil seperti amonia (NH₃) dan senyawa organik volatil (VOC).</a:t>
            </a:r>
            <a:endParaRPr lang="en-US" sz="1450" dirty="0"/>
          </a:p>
          <a:p>
            <a:pPr algn="just" indent="0" marL="0">
              <a:buNone/>
            </a:pPr>
            <a:r>
              <a:rPr lang="en-US" sz="600" dirty="0">
                <a:solidFill>
                  <a:srgbClr val="16262B"/>
                </a:solidFill>
              </a:rPr>
              <a:t> </a:t>
            </a:r>
            <a:endParaRPr lang="en-US" sz="1450" dirty="0"/>
          </a:p>
          <a:p>
            <a:pPr algn="just" indent="0" marL="0">
              <a:buNone/>
            </a:pPr>
            <a:r>
              <a:rPr lang="en-US" sz="1450" dirty="0">
                <a:solidFill>
                  <a:srgbClr val="16262B"/>
                </a:solidFill>
              </a:rPr>
              <a:t>Uji laboratorium (TVB-N, Total Plate Count) akurat, tetapi lama, mahal, dan merusak sampel. </a:t>
            </a:r>
            <a:pPr algn="just" indent="0" marL="0">
              <a:buNone/>
            </a:pPr>
            <a:r>
              <a:rPr lang="en-US" sz="1450" b="1" dirty="0">
                <a:solidFill>
                  <a:srgbClr val="16262B"/>
                </a:solidFill>
              </a:rPr>
              <a:t>Electronic nose (e-nose)</a:t>
            </a:r>
            <a:pPr algn="just" indent="0" marL="0">
              <a:buNone/>
            </a:pPr>
            <a:r>
              <a:rPr lang="en-US" sz="1450" dirty="0">
                <a:solidFill>
                  <a:srgbClr val="16262B"/>
                </a:solidFill>
              </a:rPr>
              <a:t>, yaitu rangkaian sensor gas seri MQ, menjadi alternatif yang cepat, murah, dan non-destruktif.</a:t>
            </a:r>
            <a:endParaRPr lang="en-US" sz="1450" dirty="0"/>
          </a:p>
        </p:txBody>
      </p:sp>
      <p:sp>
        <p:nvSpPr>
          <p:cNvPr id="6" name="Shape 4"/>
          <p:cNvSpPr/>
          <p:nvPr/>
        </p:nvSpPr>
        <p:spPr>
          <a:xfrm>
            <a:off x="548640" y="3611880"/>
            <a:ext cx="4892040" cy="2194560"/>
          </a:xfrm>
          <a:prstGeom prst="roundRect">
            <a:avLst>
              <a:gd name="adj" fmla="val 5000"/>
            </a:avLst>
          </a:prstGeom>
          <a:solidFill>
            <a:srgbClr val="EEF4F2"/>
          </a:solidFill>
          <a:ln w="12700">
            <a:solidFill>
              <a:srgbClr val="EEF4F2"/>
            </a:solidFill>
            <a:prstDash val="solid"/>
          </a:ln>
        </p:spPr>
      </p:sp>
      <p:sp>
        <p:nvSpPr>
          <p:cNvPr id="7" name="Text 5"/>
          <p:cNvSpPr txBox="1"/>
          <p:nvPr/>
        </p:nvSpPr>
        <p:spPr>
          <a:xfrm>
            <a:off x="822960" y="3767328"/>
            <a:ext cx="4343400" cy="274320"/>
          </a:xfrm>
          <a:prstGeom prst="rect">
            <a:avLst/>
          </a:prstGeom>
          <a:noFill/>
          <a:ln/>
        </p:spPr>
        <p:txBody>
          <a:bodyPr wrap="square" lIns="0" tIns="0" rIns="0" bIns="0" rtlCol="0" anchor="ctr"/>
          <a:lstStyle/>
          <a:p>
            <a:pPr indent="0" marL="0">
              <a:buNone/>
            </a:pPr>
            <a:r>
              <a:rPr lang="en-US" sz="1200" b="1" spc="200" kern="0" dirty="0">
                <a:solidFill>
                  <a:srgbClr val="0F5257"/>
                </a:solidFill>
              </a:rPr>
              <a:t>IRISAN SKRIPSI ANGGOTA</a:t>
            </a:r>
            <a:endParaRPr lang="en-US" sz="1200" dirty="0"/>
          </a:p>
        </p:txBody>
      </p:sp>
      <p:sp>
        <p:nvSpPr>
          <p:cNvPr id="8" name="Text 6"/>
          <p:cNvSpPr txBox="1"/>
          <p:nvPr/>
        </p:nvSpPr>
        <p:spPr>
          <a:xfrm>
            <a:off x="822960" y="4114800"/>
            <a:ext cx="4343400" cy="1600200"/>
          </a:xfrm>
          <a:prstGeom prst="rect">
            <a:avLst/>
          </a:prstGeom>
          <a:noFill/>
          <a:ln/>
        </p:spPr>
        <p:txBody>
          <a:bodyPr wrap="square" lIns="0" tIns="0" rIns="0" bIns="0" rtlCol="0" anchor="t"/>
          <a:lstStyle/>
          <a:p>
            <a:pPr indent="0" marL="0">
              <a:spcAft>
                <a:spcPts val="200"/>
              </a:spcAft>
              <a:buNone/>
            </a:pPr>
            <a:r>
              <a:rPr lang="en-US" sz="1250" b="1" dirty="0">
                <a:solidFill>
                  <a:srgbClr val="0F5257"/>
                </a:solidFill>
              </a:rPr>
              <a:t>Muhammad Erlangga Kurniawan</a:t>
            </a:r>
            <a:endParaRPr lang="en-US" sz="1250" dirty="0"/>
          </a:p>
          <a:p>
            <a:pPr indent="0" marL="0">
              <a:spcAft>
                <a:spcPts val="200"/>
              </a:spcAft>
              <a:buNone/>
            </a:pPr>
            <a:r>
              <a:rPr lang="en-US" sz="1250" dirty="0">
                <a:solidFill>
                  <a:srgbClr val="16262B"/>
                </a:solidFill>
              </a:rPr>
              <a:t>kesegaran makanan dengan sensor MQ-135</a:t>
            </a:r>
            <a:endParaRPr lang="en-US" sz="1250" dirty="0"/>
          </a:p>
          <a:p>
            <a:pPr indent="0" marL="0">
              <a:spcAft>
                <a:spcPts val="200"/>
              </a:spcAft>
              <a:buNone/>
            </a:pPr>
            <a:r>
              <a:rPr lang="en-US" sz="1250" b="1" dirty="0">
                <a:solidFill>
                  <a:srgbClr val="0F5257"/>
                </a:solidFill>
              </a:rPr>
              <a:t>Rijal Apuila Khufi</a:t>
            </a:r>
            <a:endParaRPr lang="en-US" sz="1250" dirty="0"/>
          </a:p>
          <a:p>
            <a:pPr indent="0" marL="0">
              <a:spcAft>
                <a:spcPts val="200"/>
              </a:spcAft>
              <a:buNone/>
            </a:pPr>
            <a:r>
              <a:rPr lang="en-US" sz="1250" dirty="0">
                <a:solidFill>
                  <a:srgbClr val="16262B"/>
                </a:solidFill>
              </a:rPr>
              <a:t>mutu produk unggas (kuning telur puyuh)</a:t>
            </a:r>
            <a:endParaRPr lang="en-US" sz="1250" dirty="0"/>
          </a:p>
          <a:p>
            <a:pPr indent="0" marL="0">
              <a:spcAft>
                <a:spcPts val="200"/>
              </a:spcAft>
              <a:buNone/>
            </a:pPr>
            <a:r>
              <a:rPr lang="en-US" sz="1250" b="1" dirty="0">
                <a:solidFill>
                  <a:srgbClr val="0F5257"/>
                </a:solidFill>
              </a:rPr>
              <a:t>Michael Valencio Erasmo Bagas Ganendra</a:t>
            </a:r>
            <a:endParaRPr lang="en-US" sz="1250" dirty="0"/>
          </a:p>
          <a:p>
            <a:pPr indent="0" marL="0">
              <a:spcAft>
                <a:spcPts val="200"/>
              </a:spcAft>
              <a:buNone/>
            </a:pPr>
            <a:r>
              <a:rPr lang="en-US" sz="1250" dirty="0">
                <a:solidFill>
                  <a:srgbClr val="16262B"/>
                </a:solidFill>
              </a:rPr>
              <a:t>model gradient boosting (XGBoost)</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760720" y="1280160"/>
          <a:ext cx="5882335" cy="914400"/>
        </p:xfrm>
        <a:graphic>
          <a:graphicData uri="http://schemas.openxmlformats.org/drawingml/2006/table">
            <a:tbl>
              <a:tblPr/>
              <a:tblGrid>
                <a:gridCol w="1809949"/>
                <a:gridCol w="1266965"/>
                <a:gridCol w="2805421"/>
              </a:tblGrid>
              <a:tr h="37490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Parameter Dataset</a:t>
                      </a:r>
                      <a:endParaRPr lang="en-US" sz="12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Contoh Sampel</a:t>
                      </a:r>
                      <a:endParaRPr lang="en-US" sz="12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Keterangan</a:t>
                      </a:r>
                      <a:endParaRPr lang="en-US" sz="12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s1 · MQ-135</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106</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Amonia (NH₃), CO₂, benzena</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s2 · MQ-2</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LPG, metana, asap</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s3 · MQ-3</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74</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Alkohol (etanol)</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s4 · MQ-6</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38</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LPG, butana</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s5 · MQ-7</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Karbon monoksida (CO)</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s6 · MQ-9</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56</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CO dan gas mudah terbakar</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s8 · Kelembapan</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0,3</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Perubahan kelembapan relatif</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hour</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0–27 jam</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Lama penyimpanan (dasar label)</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374904">
                <a:tc>
                  <a:txBody>
                    <a:bodyPr/>
                    <a:lstStyle/>
                    <a:p>
                      <a:pPr algn="l" indent="0" marL="0">
                        <a:buNone/>
                      </a:pPr>
                      <a:r>
                        <a:rPr lang="en-US" sz="1250" dirty="0">
                          <a:solidFill>
                            <a:srgbClr val="16262B"/>
                          </a:solidFill>
                          <a:latin typeface="Calibri" pitchFamily="34" charset="0"/>
                          <a:ea typeface="Calibri" pitchFamily="34" charset="-122"/>
                          <a:cs typeface="Calibri" pitchFamily="34" charset="-120"/>
                        </a:rPr>
                        <a:t>group</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15 sesi</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6262B"/>
                          </a:solidFill>
                          <a:latin typeface="Calibri" pitchFamily="34" charset="0"/>
                          <a:ea typeface="Calibri" pitchFamily="34" charset="-122"/>
                          <a:cs typeface="Calibri" pitchFamily="34" charset="-120"/>
                        </a:rPr>
                        <a:t>Sesi rekaman (sampel ayam)</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74904">
                <a:tc>
                  <a:txBody>
                    <a:bodyPr/>
                    <a:lstStyle/>
                    <a:p>
                      <a:pPr algn="l" indent="0" marL="0">
                        <a:buNone/>
                      </a:pPr>
                      <a:r>
                        <a:rPr lang="en-US" sz="1250" b="1" dirty="0">
                          <a:solidFill>
                            <a:srgbClr val="16262B"/>
                          </a:solidFill>
                          <a:latin typeface="Calibri" pitchFamily="34" charset="0"/>
                          <a:ea typeface="Calibri" pitchFamily="34" charset="-122"/>
                          <a:cs typeface="Calibri" pitchFamily="34" charset="-120"/>
                        </a:rPr>
                        <a:t>Label [Target]</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250" b="1" dirty="0">
                          <a:solidFill>
                            <a:srgbClr val="16262B"/>
                          </a:solidFill>
                          <a:latin typeface="Calibri" pitchFamily="34" charset="0"/>
                          <a:ea typeface="Calibri" pitchFamily="34" charset="-122"/>
                          <a:cs typeface="Calibri" pitchFamily="34" charset="-120"/>
                        </a:rPr>
                        <a:t>Fresh</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250" b="1" dirty="0">
                          <a:solidFill>
                            <a:srgbClr val="16262B"/>
                          </a:solidFill>
                          <a:latin typeface="Calibri" pitchFamily="34" charset="0"/>
                          <a:ea typeface="Calibri" pitchFamily="34" charset="-122"/>
                          <a:cs typeface="Calibri" pitchFamily="34" charset="-120"/>
                        </a:rPr>
                        <a:t>Fresh · Semi-fresh · Spoiled</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r>
            </a:tbl>
          </a:graphicData>
        </a:graphic>
      </p:graphicFrame>
      <p:sp>
        <p:nvSpPr>
          <p:cNvPr id="10" name="Text 7"/>
          <p:cNvSpPr txBox="1"/>
          <p:nvPr/>
        </p:nvSpPr>
        <p:spPr>
          <a:xfrm>
            <a:off x="5760720" y="5486400"/>
            <a:ext cx="5882335" cy="457200"/>
          </a:xfrm>
          <a:prstGeom prst="rect">
            <a:avLst/>
          </a:prstGeom>
          <a:noFill/>
          <a:ln/>
        </p:spPr>
        <p:txBody>
          <a:bodyPr wrap="square" lIns="0" tIns="0" rIns="0" bIns="0" rtlCol="0" anchor="t"/>
          <a:lstStyle/>
          <a:p>
            <a:pPr indent="0" marL="0">
              <a:buNone/>
            </a:pPr>
            <a:r>
              <a:rPr lang="en-US" sz="1100" dirty="0">
                <a:solidFill>
                  <a:srgbClr val="56676A"/>
                </a:solidFill>
              </a:rPr>
              <a:t>218.318 baris dari 15 sesi rekaman. Nilai sensor = selisih bacaan ADC terhadap awal rekaman (median). Sumber: Anwar &amp; Anwar (2025) [1].</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Mengapa Aturan Ambang Tetap (If-Else) Tidak Cukup?</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Erlangga</a:t>
            </a:r>
            <a:endParaRPr lang="en-US" sz="1200" dirty="0"/>
          </a:p>
        </p:txBody>
      </p:sp>
      <p:sp>
        <p:nvSpPr>
          <p:cNvPr id="5" name="Text 3"/>
          <p:cNvSpPr txBox="1"/>
          <p:nvPr/>
        </p:nvSpPr>
        <p:spPr>
          <a:xfrm>
            <a:off x="548640" y="1280160"/>
            <a:ext cx="6355080" cy="219456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rgbClr val="16262B"/>
                </a:solidFill>
              </a:rPr>
              <a:t>Variasi antar sesi: </a:t>
            </a:r>
            <a:pPr indent="0" marL="0">
              <a:spcAft>
                <a:spcPts val="800"/>
              </a:spcAft>
              <a:buNone/>
            </a:pPr>
            <a:r>
              <a:rPr lang="en-US" sz="1500" dirty="0">
                <a:solidFill>
                  <a:srgbClr val="16262B"/>
                </a:solidFill>
              </a:rPr>
              <a:t>puncak bacaan MQ-135 berkisar 119–677, sehingga satu nilai ambang tidak berlaku untuk semua sampel.</a:t>
            </a:r>
            <a:endParaRPr lang="en-US" sz="1500" dirty="0"/>
          </a:p>
          <a:p>
            <a:pPr marL="342900" indent="-342900">
              <a:spcAft>
                <a:spcPts val="800"/>
              </a:spcAft>
              <a:buSzPct val="100000"/>
              <a:buChar char="•"/>
            </a:pPr>
            <a:r>
              <a:rPr lang="en-US" sz="1500" b="1" dirty="0">
                <a:solidFill>
                  <a:srgbClr val="16262B"/>
                </a:solidFill>
              </a:rPr>
              <a:t>False Negative (ayam busuk lolos): </a:t>
            </a:r>
            <a:pPr indent="0" marL="0">
              <a:spcAft>
                <a:spcPts val="800"/>
              </a:spcAft>
              <a:buNone/>
            </a:pPr>
            <a:r>
              <a:rPr lang="en-US" sz="1500" dirty="0">
                <a:solidFill>
                  <a:srgbClr val="16262B"/>
                </a:solidFill>
              </a:rPr>
              <a:t>Spoiled diprediksi layak → berisiko bagi kesehatan konsumen.</a:t>
            </a:r>
            <a:endParaRPr lang="en-US" sz="1500" dirty="0"/>
          </a:p>
          <a:p>
            <a:pPr marL="342900" indent="-342900">
              <a:spcAft>
                <a:spcPts val="800"/>
              </a:spcAft>
              <a:buSzPct val="100000"/>
              <a:buChar char="•"/>
            </a:pPr>
            <a:r>
              <a:rPr lang="en-US" sz="1500" b="1" dirty="0">
                <a:solidFill>
                  <a:srgbClr val="16262B"/>
                </a:solidFill>
              </a:rPr>
              <a:t>False Positive (ayam layak terbuang): </a:t>
            </a:r>
            <a:pPr indent="0" marL="0">
              <a:spcAft>
                <a:spcPts val="800"/>
              </a:spcAft>
              <a:buNone/>
            </a:pPr>
            <a:r>
              <a:rPr lang="en-US" sz="1500" dirty="0">
                <a:solidFill>
                  <a:srgbClr val="16262B"/>
                </a:solidFill>
              </a:rPr>
              <a:t>Fresh/Semi-fresh diprediksi Spoiled → kerugian ekonomi.</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6355080" cy="914400"/>
        </p:xfrm>
        <a:graphic>
          <a:graphicData uri="http://schemas.openxmlformats.org/drawingml/2006/table">
            <a:tbl>
              <a:tblPr/>
              <a:tblGrid>
                <a:gridCol w="1234440"/>
                <a:gridCol w="1325880"/>
                <a:gridCol w="960120"/>
                <a:gridCol w="1005840"/>
                <a:gridCol w="1828800"/>
              </a:tblGrid>
              <a:tr h="365760">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Kelas</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Waktu simpan*</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Jumlah</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Proporsi</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365760">
                <a:tc>
                  <a:txBody>
                    <a:bodyPr/>
                    <a:lstStyle/>
                    <a:p>
                      <a:pPr algn="l" indent="0" marL="0">
                        <a:buNone/>
                      </a:pPr>
                      <a:r>
                        <a:rPr lang="en-US" sz="1300" dirty="0">
                          <a:solidFill>
                            <a:srgbClr val="16262B"/>
                          </a:solidFill>
                          <a:latin typeface="Calibri" pitchFamily="34" charset="0"/>
                          <a:ea typeface="Calibri" pitchFamily="34" charset="-122"/>
                          <a:cs typeface="Calibri" pitchFamily="34" charset="-120"/>
                        </a:rPr>
                        <a:t>Fresh</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 8 jam</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1.080</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31,1%</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Layak jual</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6262B"/>
                          </a:solidFill>
                          <a:latin typeface="Calibri" pitchFamily="34" charset="0"/>
                          <a:ea typeface="Calibri" pitchFamily="34" charset="-122"/>
                          <a:cs typeface="Calibri" pitchFamily="34" charset="-120"/>
                        </a:rPr>
                        <a:t>Semi-fresh</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8–16 jam</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1.260</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36,3%</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Layak, mendekati batas</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365760">
                <a:tc>
                  <a:txBody>
                    <a:bodyPr/>
                    <a:lstStyle/>
                    <a:p>
                      <a:pPr algn="l" indent="0" marL="0">
                        <a:buNone/>
                      </a:pPr>
                      <a:r>
                        <a:rPr lang="en-US" sz="1300" dirty="0">
                          <a:solidFill>
                            <a:srgbClr val="16262B"/>
                          </a:solidFill>
                          <a:latin typeface="Calibri" pitchFamily="34" charset="0"/>
                          <a:ea typeface="Calibri" pitchFamily="34" charset="-122"/>
                          <a:cs typeface="Calibri" pitchFamily="34" charset="-120"/>
                        </a:rPr>
                        <a:t>Spoiled</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&gt; 16 jam</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1.128</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262B"/>
                          </a:solidFill>
                          <a:latin typeface="Calibri" pitchFamily="34" charset="0"/>
                          <a:ea typeface="Calibri" pitchFamily="34" charset="-122"/>
                          <a:cs typeface="Calibri" pitchFamily="34" charset="-120"/>
                        </a:rPr>
                        <a:t>32,5%</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6262B"/>
                          </a:solidFill>
                          <a:latin typeface="Calibri" pitchFamily="34" charset="0"/>
                          <a:ea typeface="Calibri" pitchFamily="34" charset="-122"/>
                          <a:cs typeface="Calibri" pitchFamily="34" charset="-120"/>
                        </a:rPr>
                        <a:t>Tidak layak</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65760">
                <a:tc>
                  <a:txBody>
                    <a:bodyPr/>
                    <a:lstStyle/>
                    <a:p>
                      <a:pPr algn="l" indent="0" marL="0">
                        <a:buNone/>
                      </a:pPr>
                      <a:r>
                        <a:rPr lang="en-US" sz="1300" b="1" dirty="0">
                          <a:solidFill>
                            <a:srgbClr val="16262B"/>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00" b="1" dirty="0">
                          <a:solidFill>
                            <a:srgbClr val="16262B"/>
                          </a:solidFill>
                          <a:latin typeface="Calibri" pitchFamily="34" charset="0"/>
                          <a:ea typeface="Calibri" pitchFamily="34" charset="-122"/>
                          <a:cs typeface="Calibri" pitchFamily="34" charset="-120"/>
                        </a:rPr>
                        <a:t>3.468</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00" b="1" dirty="0">
                          <a:solidFill>
                            <a:srgbClr val="16262B"/>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bl>
          </a:graphicData>
        </a:graphic>
      </p:graphicFrame>
      <p:sp>
        <p:nvSpPr>
          <p:cNvPr id="7" name="Text 4"/>
          <p:cNvSpPr txBox="1"/>
          <p:nvPr/>
        </p:nvSpPr>
        <p:spPr>
          <a:xfrm>
            <a:off x="548640" y="5532120"/>
            <a:ext cx="6355080" cy="457200"/>
          </a:xfrm>
          <a:prstGeom prst="rect">
            <a:avLst/>
          </a:prstGeom>
          <a:noFill/>
          <a:ln/>
        </p:spPr>
        <p:txBody>
          <a:bodyPr wrap="square" lIns="0" tIns="0" rIns="0" bIns="0" rtlCol="0" anchor="t"/>
          <a:lstStyle/>
          <a:p>
            <a:pPr indent="0" marL="0">
              <a:buNone/>
            </a:pPr>
            <a:r>
              <a:rPr lang="en-US" sz="1100" dirty="0">
                <a:solidFill>
                  <a:srgbClr val="56676A"/>
                </a:solidFill>
              </a:rPr>
              <a:t>*Sesi &gt; 15 jam. Sesi ≤ 15 jam: ≤ 5 / 5–10 / &gt; 10 jam (mengikuti paper asli). Rasio kelas terbesar : terkecil = 1,17.</a:t>
            </a:r>
            <a:endParaRPr lang="en-US" sz="1100" dirty="0"/>
          </a:p>
        </p:txBody>
      </p:sp>
      <p:pic>
        <p:nvPicPr>
          <p:cNvPr id="8" name="Image 0" descr="/Users/angga0704/ets-ml2-kelompok/hasil/01_mq135_per_sesi.png">    </p:cNvPr>
          <p:cNvPicPr>
            <a:picLocks noChangeAspect="1"/>
          </p:cNvPicPr>
          <p:nvPr/>
        </p:nvPicPr>
        <p:blipFill>
          <a:blip r:embed="rId1"/>
          <a:stretch>
            <a:fillRect/>
          </a:stretch>
        </p:blipFill>
        <p:spPr>
          <a:xfrm>
            <a:off x="7132320" y="2281810"/>
            <a:ext cx="4510735" cy="2385819"/>
          </a:xfrm>
          <a:prstGeom prst="rect">
            <a:avLst/>
          </a:prstGeom>
        </p:spPr>
      </p:pic>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Data Wrangling &amp; Augmentation</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Erlangga</a:t>
            </a:r>
            <a:endParaRPr lang="en-US" sz="1200" dirty="0"/>
          </a:p>
        </p:txBody>
      </p:sp>
      <p:sp>
        <p:nvSpPr>
          <p:cNvPr id="5" name="Shape 3"/>
          <p:cNvSpPr/>
          <p:nvPr/>
        </p:nvSpPr>
        <p:spPr>
          <a:xfrm>
            <a:off x="548640" y="1234440"/>
            <a:ext cx="5387188" cy="4892040"/>
          </a:xfrm>
          <a:prstGeom prst="roundRect">
            <a:avLst>
              <a:gd name="adj" fmla="val 2243"/>
            </a:avLst>
          </a:prstGeom>
          <a:solidFill>
            <a:srgbClr val="EEF4F2"/>
          </a:solidFill>
          <a:ln w="12700">
            <a:solidFill>
              <a:srgbClr val="EEF4F2"/>
            </a:solidFill>
            <a:prstDash val="solid"/>
          </a:ln>
        </p:spPr>
      </p:sp>
      <p:sp>
        <p:nvSpPr>
          <p:cNvPr id="6" name="Text 4"/>
          <p:cNvSpPr txBox="1"/>
          <p:nvPr/>
        </p:nvSpPr>
        <p:spPr>
          <a:xfrm>
            <a:off x="822960" y="1417320"/>
            <a:ext cx="4838548" cy="274320"/>
          </a:xfrm>
          <a:prstGeom prst="rect">
            <a:avLst/>
          </a:prstGeom>
          <a:noFill/>
          <a:ln/>
        </p:spPr>
        <p:txBody>
          <a:bodyPr wrap="square" lIns="0" tIns="0" rIns="0" bIns="0" rtlCol="0" anchor="ctr"/>
          <a:lstStyle/>
          <a:p>
            <a:pPr indent="0" marL="0">
              <a:buNone/>
            </a:pPr>
            <a:r>
              <a:rPr lang="en-US" sz="1200" b="1" spc="200" kern="0" dirty="0">
                <a:solidFill>
                  <a:srgbClr val="0F5257"/>
                </a:solidFill>
              </a:rPr>
              <a:t>DATA WRANGLING</a:t>
            </a:r>
            <a:endParaRPr lang="en-US" sz="1200" dirty="0"/>
          </a:p>
        </p:txBody>
      </p:sp>
      <p:sp>
        <p:nvSpPr>
          <p:cNvPr id="7" name="Text 5"/>
          <p:cNvSpPr txBox="1"/>
          <p:nvPr/>
        </p:nvSpPr>
        <p:spPr>
          <a:xfrm>
            <a:off x="822960" y="1737360"/>
            <a:ext cx="4838548" cy="685800"/>
          </a:xfrm>
          <a:prstGeom prst="rect">
            <a:avLst/>
          </a:prstGeom>
          <a:noFill/>
          <a:ln/>
        </p:spPr>
        <p:txBody>
          <a:bodyPr wrap="square" lIns="0" tIns="0" rIns="0" bIns="0" rtlCol="0" anchor="t"/>
          <a:lstStyle/>
          <a:p>
            <a:pPr indent="0" marL="0">
              <a:buNone/>
            </a:pPr>
            <a:r>
              <a:rPr lang="en-US" sz="1350" i="1" dirty="0">
                <a:solidFill>
                  <a:srgbClr val="56676A"/>
                </a:solidFill>
              </a:rPr>
              <a:t>Proses pembersihan, transformasi, dan restrukturisasi data mentah menjadi format yang siap dianalisis.</a:t>
            </a:r>
            <a:endParaRPr lang="en-US" sz="1350" dirty="0"/>
          </a:p>
        </p:txBody>
      </p:sp>
      <p:sp>
        <p:nvSpPr>
          <p:cNvPr id="8" name="Text 6"/>
          <p:cNvSpPr txBox="1"/>
          <p:nvPr/>
        </p:nvSpPr>
        <p:spPr>
          <a:xfrm>
            <a:off x="822960" y="2514600"/>
            <a:ext cx="4838548" cy="3474720"/>
          </a:xfrm>
          <a:prstGeom prst="rect">
            <a:avLst/>
          </a:prstGeom>
          <a:noFill/>
          <a:ln/>
        </p:spPr>
        <p:txBody>
          <a:bodyPr wrap="square" lIns="0" tIns="0" rIns="0" bIns="0" rtlCol="0" anchor="t"/>
          <a:lstStyle/>
          <a:p>
            <a:pPr indent="0" marL="0">
              <a:spcAft>
                <a:spcPts val="400"/>
              </a:spcAft>
              <a:buNone/>
            </a:pPr>
            <a:r>
              <a:rPr lang="en-US" sz="1350" b="1" dirty="0">
                <a:solidFill>
                  <a:srgbClr val="0F3D3E"/>
                </a:solidFill>
              </a:rPr>
              <a:t>A. Verifikasi integritas data</a:t>
            </a:r>
            <a:endParaRPr lang="en-US" sz="1350" dirty="0"/>
          </a:p>
          <a:p>
            <a:pPr indent="0" marL="0">
              <a:spcAft>
                <a:spcPts val="400"/>
              </a:spcAft>
              <a:buNone/>
            </a:pPr>
            <a:r>
              <a:rPr lang="en-US" sz="1350" dirty="0">
                <a:solidFill>
                  <a:srgbClr val="16262B"/>
                </a:solidFill>
              </a:rPr>
              <a:t>checksum SHA-256 dan pengurutan per sesi</a:t>
            </a:r>
            <a:endParaRPr lang="en-US" sz="1350" dirty="0"/>
          </a:p>
          <a:p>
            <a:pPr indent="0" marL="0">
              <a:spcAft>
                <a:spcPts val="400"/>
              </a:spcAft>
              <a:buNone/>
            </a:pPr>
            <a:r>
              <a:rPr lang="en-US" sz="1350" b="1" dirty="0">
                <a:solidFill>
                  <a:srgbClr val="0F3D3E"/>
                </a:solidFill>
              </a:rPr>
              <a:t>B. Agregasi window 5 menit</a:t>
            </a:r>
            <a:endParaRPr lang="en-US" sz="1350" dirty="0"/>
          </a:p>
          <a:p>
            <a:pPr indent="0" marL="0">
              <a:spcAft>
                <a:spcPts val="400"/>
              </a:spcAft>
              <a:buNone/>
            </a:pPr>
            <a:r>
              <a:rPr lang="en-US" sz="1350" dirty="0">
                <a:solidFill>
                  <a:srgbClr val="16262B"/>
                </a:solidFill>
              </a:rPr>
              <a:t>218.318 baris → 3.828 segmen</a:t>
            </a:r>
            <a:endParaRPr lang="en-US" sz="1350" dirty="0"/>
          </a:p>
          <a:p>
            <a:pPr indent="0" marL="0">
              <a:spcAft>
                <a:spcPts val="400"/>
              </a:spcAft>
              <a:buNone/>
            </a:pPr>
            <a:r>
              <a:rPr lang="en-US" sz="1350" b="1" dirty="0">
                <a:solidFill>
                  <a:srgbClr val="0F3D3E"/>
                </a:solidFill>
              </a:rPr>
              <a:t>C. Penghapusan periode warm-up sensor</a:t>
            </a:r>
            <a:endParaRPr lang="en-US" sz="1350" dirty="0"/>
          </a:p>
          <a:p>
            <a:pPr indent="0" marL="0">
              <a:spcAft>
                <a:spcPts val="400"/>
              </a:spcAft>
              <a:buNone/>
            </a:pPr>
            <a:r>
              <a:rPr lang="en-US" sz="1350" dirty="0">
                <a:solidFill>
                  <a:srgbClr val="16262B"/>
                </a:solidFill>
              </a:rPr>
              <a:t>2 jam pertama dihapus → 3.468 segmen</a:t>
            </a:r>
            <a:endParaRPr lang="en-US" sz="1350" dirty="0"/>
          </a:p>
          <a:p>
            <a:pPr indent="0" marL="0">
              <a:spcAft>
                <a:spcPts val="400"/>
              </a:spcAft>
              <a:buNone/>
            </a:pPr>
            <a:r>
              <a:rPr lang="en-US" sz="1350" b="1" dirty="0">
                <a:solidFill>
                  <a:srgbClr val="0F3D3E"/>
                </a:solidFill>
              </a:rPr>
              <a:t>D. Rekayasa fitur (19 fitur)</a:t>
            </a:r>
            <a:endParaRPr lang="en-US" sz="1350" dirty="0"/>
          </a:p>
          <a:p>
            <a:pPr indent="0" marL="0">
              <a:spcAft>
                <a:spcPts val="400"/>
              </a:spcAft>
              <a:buNone/>
            </a:pPr>
            <a:r>
              <a:rPr lang="en-US" sz="1350" dirty="0">
                <a:solidFill>
                  <a:srgbClr val="16262B"/>
                </a:solidFill>
              </a:rPr>
              <a:t>log-level, proporsi relatif antar sensor, perubahan terhadap baseline (analog Rs/R0), kelembapan</a:t>
            </a:r>
            <a:endParaRPr lang="en-US" sz="1350" dirty="0"/>
          </a:p>
          <a:p>
            <a:pPr indent="0" marL="0">
              <a:spcAft>
                <a:spcPts val="400"/>
              </a:spcAft>
              <a:buNone/>
            </a:pPr>
            <a:r>
              <a:rPr lang="en-US" sz="1350" b="1" dirty="0">
                <a:solidFill>
                  <a:srgbClr val="0F3D3E"/>
                </a:solidFill>
              </a:rPr>
              <a:t>E. Pencegahan data leakage</a:t>
            </a:r>
            <a:endParaRPr lang="en-US" sz="1350" dirty="0"/>
          </a:p>
          <a:p>
            <a:pPr indent="0" marL="0">
              <a:spcAft>
                <a:spcPts val="400"/>
              </a:spcAft>
              <a:buNone/>
            </a:pPr>
            <a:r>
              <a:rPr lang="en-US" sz="1350" dirty="0">
                <a:solidFill>
                  <a:srgbClr val="16262B"/>
                </a:solidFill>
              </a:rPr>
              <a:t>variabel waktu tidak dijadikan fitur karena label dibuat dari waktu</a:t>
            </a:r>
            <a:endParaRPr lang="en-US" sz="1350" dirty="0"/>
          </a:p>
        </p:txBody>
      </p:sp>
      <p:sp>
        <p:nvSpPr>
          <p:cNvPr id="9" name="Shape 7"/>
          <p:cNvSpPr/>
          <p:nvPr/>
        </p:nvSpPr>
        <p:spPr>
          <a:xfrm>
            <a:off x="6255868" y="1234440"/>
            <a:ext cx="5387188" cy="4892040"/>
          </a:xfrm>
          <a:prstGeom prst="roundRect">
            <a:avLst>
              <a:gd name="adj" fmla="val 2243"/>
            </a:avLst>
          </a:prstGeom>
          <a:solidFill>
            <a:srgbClr val="EEF4F2"/>
          </a:solidFill>
          <a:ln w="12700">
            <a:solidFill>
              <a:srgbClr val="EEF4F2"/>
            </a:solidFill>
            <a:prstDash val="solid"/>
          </a:ln>
        </p:spPr>
      </p:sp>
      <p:sp>
        <p:nvSpPr>
          <p:cNvPr id="10" name="Text 8"/>
          <p:cNvSpPr txBox="1"/>
          <p:nvPr/>
        </p:nvSpPr>
        <p:spPr>
          <a:xfrm>
            <a:off x="6530188" y="1417320"/>
            <a:ext cx="4838548" cy="274320"/>
          </a:xfrm>
          <a:prstGeom prst="rect">
            <a:avLst/>
          </a:prstGeom>
          <a:noFill/>
          <a:ln/>
        </p:spPr>
        <p:txBody>
          <a:bodyPr wrap="square" lIns="0" tIns="0" rIns="0" bIns="0" rtlCol="0" anchor="ctr"/>
          <a:lstStyle/>
          <a:p>
            <a:pPr indent="0" marL="0">
              <a:buNone/>
            </a:pPr>
            <a:r>
              <a:rPr lang="en-US" sz="1200" b="1" spc="200" kern="0" dirty="0">
                <a:solidFill>
                  <a:srgbClr val="0F5257"/>
                </a:solidFill>
              </a:rPr>
              <a:t>DATA AUGMENTATION</a:t>
            </a:r>
            <a:endParaRPr lang="en-US" sz="1200" dirty="0"/>
          </a:p>
        </p:txBody>
      </p:sp>
      <p:sp>
        <p:nvSpPr>
          <p:cNvPr id="11" name="Text 9"/>
          <p:cNvSpPr txBox="1"/>
          <p:nvPr/>
        </p:nvSpPr>
        <p:spPr>
          <a:xfrm>
            <a:off x="6530188" y="1737360"/>
            <a:ext cx="4838548" cy="685800"/>
          </a:xfrm>
          <a:prstGeom prst="rect">
            <a:avLst/>
          </a:prstGeom>
          <a:noFill/>
          <a:ln/>
        </p:spPr>
        <p:txBody>
          <a:bodyPr wrap="square" lIns="0" tIns="0" rIns="0" bIns="0" rtlCol="0" anchor="t"/>
          <a:lstStyle/>
          <a:p>
            <a:pPr indent="0" marL="0">
              <a:buNone/>
            </a:pPr>
            <a:r>
              <a:rPr lang="en-US" sz="1350" i="1" dirty="0">
                <a:solidFill>
                  <a:srgbClr val="56676A"/>
                </a:solidFill>
              </a:rPr>
              <a:t>Teknik menambah variasi data latih secara sintetis untuk meningkatkan ketahanan (robustness) model terhadap variasi sensor.</a:t>
            </a:r>
            <a:endParaRPr lang="en-US" sz="1350" dirty="0"/>
          </a:p>
        </p:txBody>
      </p:sp>
      <p:sp>
        <p:nvSpPr>
          <p:cNvPr id="12" name="Text 10"/>
          <p:cNvSpPr txBox="1"/>
          <p:nvPr/>
        </p:nvSpPr>
        <p:spPr>
          <a:xfrm>
            <a:off x="6530188" y="2514600"/>
            <a:ext cx="4838548" cy="3474720"/>
          </a:xfrm>
          <a:prstGeom prst="rect">
            <a:avLst/>
          </a:prstGeom>
          <a:noFill/>
          <a:ln/>
        </p:spPr>
        <p:txBody>
          <a:bodyPr wrap="square" lIns="0" tIns="0" rIns="0" bIns="0" rtlCol="0" anchor="t"/>
          <a:lstStyle/>
          <a:p>
            <a:pPr indent="0" marL="0">
              <a:spcAft>
                <a:spcPts val="400"/>
              </a:spcAft>
              <a:buNone/>
            </a:pPr>
            <a:r>
              <a:rPr lang="en-US" sz="1350" b="1" dirty="0">
                <a:solidFill>
                  <a:srgbClr val="0F3D3E"/>
                </a:solidFill>
              </a:rPr>
              <a:t>A. Gaussian noise jittering</a:t>
            </a:r>
            <a:endParaRPr lang="en-US" sz="1350" dirty="0"/>
          </a:p>
          <a:p>
            <a:pPr indent="0" marL="0">
              <a:spcAft>
                <a:spcPts val="400"/>
              </a:spcAft>
              <a:buNone/>
            </a:pPr>
            <a:r>
              <a:rPr lang="en-US" sz="1350" dirty="0">
                <a:solidFill>
                  <a:srgbClr val="16262B"/>
                </a:solidFill>
              </a:rPr>
              <a:t>derau acak dengan σ = 5% simpangan baku tiap sensor</a:t>
            </a:r>
            <a:endParaRPr lang="en-US" sz="1350" dirty="0"/>
          </a:p>
          <a:p>
            <a:pPr indent="0" marL="0">
              <a:spcAft>
                <a:spcPts val="400"/>
              </a:spcAft>
              <a:buNone/>
            </a:pPr>
            <a:r>
              <a:rPr lang="en-US" sz="1350" b="1" dirty="0">
                <a:solidFill>
                  <a:srgbClr val="0F3D3E"/>
                </a:solidFill>
              </a:rPr>
              <a:t>B. Simulasi variasi sensitivitas sensor</a:t>
            </a:r>
            <a:endParaRPr lang="en-US" sz="1350" dirty="0"/>
          </a:p>
          <a:p>
            <a:pPr indent="0" marL="0">
              <a:spcAft>
                <a:spcPts val="400"/>
              </a:spcAft>
              <a:buNone/>
            </a:pPr>
            <a:r>
              <a:rPr lang="en-US" sz="1350" dirty="0">
                <a:solidFill>
                  <a:srgbClr val="16262B"/>
                </a:solidFill>
              </a:rPr>
              <a:t>bacaan tiap sensor dikalikan faktor log-normal (σ = 0,3) per sesi</a:t>
            </a:r>
            <a:endParaRPr lang="en-US" sz="1350" dirty="0"/>
          </a:p>
          <a:p>
            <a:pPr indent="0" marL="0">
              <a:spcAft>
                <a:spcPts val="400"/>
              </a:spcAft>
              <a:buNone/>
            </a:pPr>
            <a:r>
              <a:rPr lang="en-US" sz="1350" b="1" dirty="0">
                <a:solidFill>
                  <a:srgbClr val="0F3D3E"/>
                </a:solidFill>
              </a:rPr>
              <a:t>Penerapan</a:t>
            </a:r>
            <a:endParaRPr lang="en-US" sz="1350" dirty="0"/>
          </a:p>
          <a:p>
            <a:pPr indent="0" marL="0">
              <a:spcAft>
                <a:spcPts val="400"/>
              </a:spcAft>
              <a:buNone/>
            </a:pPr>
            <a:r>
              <a:rPr lang="en-US" sz="1350" dirty="0">
                <a:solidFill>
                  <a:srgbClr val="16262B"/>
                </a:solidFill>
              </a:rPr>
              <a:t>hanya pada data latih, 2 salinan sintetis per sesi</a:t>
            </a:r>
            <a:endParaRPr lang="en-US" sz="1350" dirty="0"/>
          </a:p>
          <a:p>
            <a:pPr indent="0" marL="0">
              <a:spcAft>
                <a:spcPts val="400"/>
              </a:spcAft>
              <a:buNone/>
            </a:pPr>
            <a:r>
              <a:rPr lang="en-US" sz="1350" b="1" dirty="0">
                <a:solidFill>
                  <a:srgbClr val="0F3D3E"/>
                </a:solidFill>
              </a:rPr>
              <a:t>SMOTE tidak digunakan</a:t>
            </a:r>
            <a:endParaRPr lang="en-US" sz="1350" dirty="0"/>
          </a:p>
          <a:p>
            <a:pPr indent="0" marL="0">
              <a:spcAft>
                <a:spcPts val="400"/>
              </a:spcAft>
              <a:buNone/>
            </a:pPr>
            <a:r>
              <a:rPr lang="en-US" sz="1350" dirty="0">
                <a:solidFill>
                  <a:srgbClr val="16262B"/>
                </a:solidFill>
              </a:rPr>
              <a:t>distribusi kelas sudah seimbang (rasio 1,17)</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Skema Validasi: Leave-One-Session-Out (LOSO)</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Michael</a:t>
            </a:r>
            <a:endParaRPr lang="en-US" sz="1200" dirty="0"/>
          </a:p>
        </p:txBody>
      </p:sp>
      <p:sp>
        <p:nvSpPr>
          <p:cNvPr id="5" name="Shape 3"/>
          <p:cNvSpPr/>
          <p:nvPr/>
        </p:nvSpPr>
        <p:spPr>
          <a:xfrm>
            <a:off x="548640" y="1280160"/>
            <a:ext cx="5852160" cy="3063240"/>
          </a:xfrm>
          <a:prstGeom prst="roundRect">
            <a:avLst>
              <a:gd name="adj" fmla="val 3582"/>
            </a:avLst>
          </a:prstGeom>
          <a:solidFill>
            <a:srgbClr val="EEF4F2"/>
          </a:solidFill>
          <a:ln w="12700">
            <a:solidFill>
              <a:srgbClr val="EEF4F2"/>
            </a:solidFill>
            <a:prstDash val="solid"/>
          </a:ln>
        </p:spPr>
      </p:sp>
      <p:sp>
        <p:nvSpPr>
          <p:cNvPr id="6" name="Text 4"/>
          <p:cNvSpPr txBox="1"/>
          <p:nvPr/>
        </p:nvSpPr>
        <p:spPr>
          <a:xfrm>
            <a:off x="868680" y="1463040"/>
            <a:ext cx="5303520" cy="274320"/>
          </a:xfrm>
          <a:prstGeom prst="rect">
            <a:avLst/>
          </a:prstGeom>
          <a:noFill/>
          <a:ln/>
        </p:spPr>
        <p:txBody>
          <a:bodyPr wrap="square" lIns="0" tIns="0" rIns="0" bIns="0" rtlCol="0" anchor="ctr"/>
          <a:lstStyle/>
          <a:p>
            <a:pPr indent="0" marL="0">
              <a:buNone/>
            </a:pPr>
            <a:r>
              <a:rPr lang="en-US" sz="1200" b="1" spc="200" kern="0" dirty="0">
                <a:solidFill>
                  <a:srgbClr val="0F5257"/>
                </a:solidFill>
              </a:rPr>
              <a:t>AKURASI RANDOM FOREST</a:t>
            </a:r>
            <a:endParaRPr lang="en-US" sz="1200" dirty="0"/>
          </a:p>
        </p:txBody>
      </p:sp>
      <p:sp>
        <p:nvSpPr>
          <p:cNvPr id="7" name="Text 5"/>
          <p:cNvSpPr txBox="1"/>
          <p:nvPr/>
        </p:nvSpPr>
        <p:spPr>
          <a:xfrm>
            <a:off x="868680" y="1828800"/>
            <a:ext cx="2651760" cy="822960"/>
          </a:xfrm>
          <a:prstGeom prst="rect">
            <a:avLst/>
          </a:prstGeom>
          <a:noFill/>
          <a:ln/>
        </p:spPr>
        <p:txBody>
          <a:bodyPr wrap="square" lIns="0" tIns="0" rIns="0" bIns="0" rtlCol="0" anchor="b"/>
          <a:lstStyle/>
          <a:p>
            <a:pPr indent="0" marL="0">
              <a:buNone/>
            </a:pPr>
            <a:r>
              <a:rPr lang="en-US" sz="5000" b="1" dirty="0">
                <a:solidFill>
                  <a:srgbClr val="C4553B"/>
                </a:solidFill>
                <a:latin typeface="Cambria" pitchFamily="34" charset="0"/>
                <a:ea typeface="Cambria" pitchFamily="34" charset="-122"/>
                <a:cs typeface="Cambria" pitchFamily="34" charset="-120"/>
              </a:rPr>
              <a:t>96,9%</a:t>
            </a:r>
            <a:endParaRPr lang="en-US" sz="5000" dirty="0"/>
          </a:p>
        </p:txBody>
      </p:sp>
      <p:sp>
        <p:nvSpPr>
          <p:cNvPr id="8" name="Text 6"/>
          <p:cNvSpPr txBox="1"/>
          <p:nvPr/>
        </p:nvSpPr>
        <p:spPr>
          <a:xfrm>
            <a:off x="868680" y="2697480"/>
            <a:ext cx="2651760" cy="548640"/>
          </a:xfrm>
          <a:prstGeom prst="rect">
            <a:avLst/>
          </a:prstGeom>
          <a:noFill/>
          <a:ln/>
        </p:spPr>
        <p:txBody>
          <a:bodyPr wrap="square" lIns="0" tIns="0" rIns="0" bIns="0" rtlCol="0" anchor="t"/>
          <a:lstStyle/>
          <a:p>
            <a:pPr indent="0" marL="0">
              <a:buNone/>
            </a:pPr>
            <a:r>
              <a:rPr lang="en-US" sz="1300" dirty="0">
                <a:solidFill>
                  <a:srgbClr val="56676A"/>
                </a:solidFill>
              </a:rPr>
              <a:t>Random split</a:t>
            </a:r>
            <a:endParaRPr lang="en-US" sz="1300" dirty="0"/>
          </a:p>
          <a:p>
            <a:pPr indent="0" marL="0">
              <a:buNone/>
            </a:pPr>
            <a:r>
              <a:rPr lang="en-US" sz="1300" dirty="0">
                <a:solidFill>
                  <a:srgbClr val="56676A"/>
                </a:solidFill>
              </a:rPr>
              <a:t>(terdampak data leakage)</a:t>
            </a:r>
            <a:endParaRPr lang="en-US" sz="1300" dirty="0"/>
          </a:p>
        </p:txBody>
      </p:sp>
      <p:sp>
        <p:nvSpPr>
          <p:cNvPr id="9" name="Text 7"/>
          <p:cNvSpPr txBox="1"/>
          <p:nvPr/>
        </p:nvSpPr>
        <p:spPr>
          <a:xfrm>
            <a:off x="3566160" y="1828800"/>
            <a:ext cx="2651760" cy="822960"/>
          </a:xfrm>
          <a:prstGeom prst="rect">
            <a:avLst/>
          </a:prstGeom>
          <a:noFill/>
          <a:ln/>
        </p:spPr>
        <p:txBody>
          <a:bodyPr wrap="square" lIns="0" tIns="0" rIns="0" bIns="0" rtlCol="0" anchor="b"/>
          <a:lstStyle/>
          <a:p>
            <a:pPr indent="0" marL="0">
              <a:buNone/>
            </a:pPr>
            <a:r>
              <a:rPr lang="en-US" sz="5000" b="1" dirty="0">
                <a:solidFill>
                  <a:srgbClr val="0F5257"/>
                </a:solidFill>
                <a:latin typeface="Cambria" pitchFamily="34" charset="0"/>
                <a:ea typeface="Cambria" pitchFamily="34" charset="-122"/>
                <a:cs typeface="Cambria" pitchFamily="34" charset="-120"/>
              </a:rPr>
              <a:t>77,6%</a:t>
            </a:r>
            <a:endParaRPr lang="en-US" sz="5000" dirty="0"/>
          </a:p>
        </p:txBody>
      </p:sp>
      <p:sp>
        <p:nvSpPr>
          <p:cNvPr id="10" name="Text 8"/>
          <p:cNvSpPr txBox="1"/>
          <p:nvPr/>
        </p:nvSpPr>
        <p:spPr>
          <a:xfrm>
            <a:off x="3566160" y="2697480"/>
            <a:ext cx="2651760" cy="548640"/>
          </a:xfrm>
          <a:prstGeom prst="rect">
            <a:avLst/>
          </a:prstGeom>
          <a:noFill/>
          <a:ln/>
        </p:spPr>
        <p:txBody>
          <a:bodyPr wrap="square" lIns="0" tIns="0" rIns="0" bIns="0" rtlCol="0" anchor="t"/>
          <a:lstStyle/>
          <a:p>
            <a:pPr indent="0" marL="0">
              <a:buNone/>
            </a:pPr>
            <a:r>
              <a:rPr lang="en-US" sz="1300" dirty="0">
                <a:solidFill>
                  <a:srgbClr val="56676A"/>
                </a:solidFill>
              </a:rPr>
              <a:t>Leave-One-Session-Out</a:t>
            </a:r>
            <a:endParaRPr lang="en-US" sz="1300" dirty="0"/>
          </a:p>
          <a:p>
            <a:pPr indent="0" marL="0">
              <a:buNone/>
            </a:pPr>
            <a:r>
              <a:rPr lang="en-US" sz="1300" dirty="0">
                <a:solidFill>
                  <a:srgbClr val="56676A"/>
                </a:solidFill>
              </a:rPr>
              <a:t>(estimasi realistis)</a:t>
            </a:r>
            <a:endParaRPr lang="en-US" sz="1300" dirty="0"/>
          </a:p>
        </p:txBody>
      </p:sp>
      <p:sp>
        <p:nvSpPr>
          <p:cNvPr id="11" name="Shape 9"/>
          <p:cNvSpPr/>
          <p:nvPr/>
        </p:nvSpPr>
        <p:spPr>
          <a:xfrm>
            <a:off x="6675120" y="1280160"/>
            <a:ext cx="4967935" cy="3063240"/>
          </a:xfrm>
          <a:prstGeom prst="roundRect">
            <a:avLst>
              <a:gd name="adj" fmla="val 3582"/>
            </a:avLst>
          </a:prstGeom>
          <a:solidFill>
            <a:srgbClr val="0F3D3E"/>
          </a:solidFill>
          <a:ln w="12700">
            <a:solidFill>
              <a:srgbClr val="0F3D3E"/>
            </a:solidFill>
            <a:prstDash val="solid"/>
          </a:ln>
        </p:spPr>
      </p:sp>
      <p:sp>
        <p:nvSpPr>
          <p:cNvPr id="12" name="Text 10"/>
          <p:cNvSpPr txBox="1"/>
          <p:nvPr/>
        </p:nvSpPr>
        <p:spPr>
          <a:xfrm>
            <a:off x="6949440" y="1463040"/>
            <a:ext cx="4419295" cy="274320"/>
          </a:xfrm>
          <a:prstGeom prst="rect">
            <a:avLst/>
          </a:prstGeom>
          <a:noFill/>
          <a:ln/>
        </p:spPr>
        <p:txBody>
          <a:bodyPr wrap="square" lIns="0" tIns="0" rIns="0" bIns="0" rtlCol="0" anchor="ctr"/>
          <a:lstStyle/>
          <a:p>
            <a:pPr indent="0" marL="0">
              <a:buNone/>
            </a:pPr>
            <a:r>
              <a:rPr lang="en-US" sz="1200" b="1" spc="200" kern="0" dirty="0">
                <a:solidFill>
                  <a:srgbClr val="E3A33B"/>
                </a:solidFill>
              </a:rPr>
              <a:t>PROSEDUR LOSO</a:t>
            </a:r>
            <a:endParaRPr lang="en-US" sz="1200" dirty="0"/>
          </a:p>
        </p:txBody>
      </p:sp>
      <p:sp>
        <p:nvSpPr>
          <p:cNvPr id="13" name="Text 11"/>
          <p:cNvSpPr txBox="1"/>
          <p:nvPr/>
        </p:nvSpPr>
        <p:spPr>
          <a:xfrm>
            <a:off x="6949440" y="1828800"/>
            <a:ext cx="4419295" cy="146304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500" dirty="0">
                <a:solidFill>
                  <a:srgbClr val="FFFFFF"/>
                </a:solidFill>
              </a:rPr>
              <a:t>Satu sesi dijadikan data uji.</a:t>
            </a:r>
            <a:endParaRPr lang="en-US" sz="1500" dirty="0"/>
          </a:p>
          <a:p>
            <a:pPr marL="342900" indent="-342900">
              <a:spcAft>
                <a:spcPts val="600"/>
              </a:spcAft>
              <a:buSzPct val="100000"/>
              <a:buFont typeface="+mj-lt"/>
              <a:buAutoNum type="arabicPeriod" startAt="1"/>
            </a:pPr>
            <a:r>
              <a:rPr lang="en-US" sz="1500" dirty="0">
                <a:solidFill>
                  <a:srgbClr val="FFFFFF"/>
                </a:solidFill>
              </a:rPr>
              <a:t>Model dilatih dengan 14 sesi lainnya.</a:t>
            </a:r>
            <a:endParaRPr lang="en-US" sz="1500" dirty="0"/>
          </a:p>
          <a:p>
            <a:pPr marL="342900" indent="-342900">
              <a:spcAft>
                <a:spcPts val="600"/>
              </a:spcAft>
              <a:buSzPct val="100000"/>
              <a:buFont typeface="+mj-lt"/>
              <a:buAutoNum type="arabicPeriod" startAt="1"/>
            </a:pPr>
            <a:r>
              <a:rPr lang="en-US" sz="1500" dirty="0">
                <a:solidFill>
                  <a:srgbClr val="FFFFFF"/>
                </a:solidFill>
              </a:rPr>
              <a:t>Diulang 15 kali hingga setiap sesi pernah menjadi data uji.</a:t>
            </a:r>
            <a:endParaRPr lang="en-US" sz="1500" dirty="0"/>
          </a:p>
        </p:txBody>
      </p:sp>
      <p:sp>
        <p:nvSpPr>
          <p:cNvPr id="14" name="Text 12"/>
          <p:cNvSpPr txBox="1"/>
          <p:nvPr/>
        </p:nvSpPr>
        <p:spPr>
          <a:xfrm>
            <a:off x="6949440" y="3520440"/>
            <a:ext cx="4419295" cy="640080"/>
          </a:xfrm>
          <a:prstGeom prst="rect">
            <a:avLst/>
          </a:prstGeom>
          <a:noFill/>
          <a:ln/>
        </p:spPr>
        <p:txBody>
          <a:bodyPr wrap="square" lIns="0" tIns="0" rIns="0" bIns="0" rtlCol="0" anchor="ctr"/>
          <a:lstStyle/>
          <a:p>
            <a:pPr indent="0" marL="0">
              <a:buNone/>
            </a:pPr>
            <a:r>
              <a:rPr lang="en-US" sz="1300" dirty="0">
                <a:solidFill>
                  <a:srgbClr val="CADBD7"/>
                </a:solidFill>
              </a:rPr>
              <a:t>Sesuai kondisi penggunaan: alat diterapkan pada sampel ayam baru.</a:t>
            </a:r>
            <a:endParaRPr lang="en-US" sz="1300" dirty="0"/>
          </a:p>
        </p:txBody>
      </p:sp>
      <p:sp>
        <p:nvSpPr>
          <p:cNvPr id="15" name="Text 13"/>
          <p:cNvSpPr txBox="1"/>
          <p:nvPr/>
        </p:nvSpPr>
        <p:spPr>
          <a:xfrm>
            <a:off x="548640" y="4526280"/>
            <a:ext cx="11094415" cy="777240"/>
          </a:xfrm>
          <a:prstGeom prst="rect">
            <a:avLst/>
          </a:prstGeom>
          <a:noFill/>
          <a:ln/>
        </p:spPr>
        <p:txBody>
          <a:bodyPr wrap="square" lIns="0" tIns="0" rIns="0" bIns="0" rtlCol="0" anchor="t"/>
          <a:lstStyle/>
          <a:p>
            <a:pPr indent="0" marL="0">
              <a:buNone/>
            </a:pPr>
            <a:r>
              <a:rPr lang="en-US" sz="1500" b="1" dirty="0">
                <a:solidFill>
                  <a:srgbClr val="16262B"/>
                </a:solidFill>
              </a:rPr>
              <a:t>Alasan: </a:t>
            </a:r>
            <a:pPr indent="0" marL="0">
              <a:buNone/>
            </a:pPr>
            <a:r>
              <a:rPr lang="en-US" sz="1500" dirty="0">
                <a:solidFill>
                  <a:srgbClr val="16262B"/>
                </a:solidFill>
              </a:rPr>
              <a:t>segmen yang berurutan dalam satu sesi sangat mirip. Pada random split, segmen dari sesi yang sama masuk ke data latih dan data uji sekaligus, sehingga akurasi terlalu tinggi (overestimate).</a:t>
            </a:r>
            <a:endParaRPr lang="en-US" sz="1500" dirty="0"/>
          </a:p>
        </p:txBody>
      </p:sp>
      <p:sp>
        <p:nvSpPr>
          <p:cNvPr id="16" name="Shape 14"/>
          <p:cNvSpPr/>
          <p:nvPr/>
        </p:nvSpPr>
        <p:spPr>
          <a:xfrm>
            <a:off x="548640" y="5486400"/>
            <a:ext cx="11094415" cy="640080"/>
          </a:xfrm>
          <a:prstGeom prst="roundRect">
            <a:avLst>
              <a:gd name="adj" fmla="val 17143"/>
            </a:avLst>
          </a:prstGeom>
          <a:solidFill>
            <a:srgbClr val="0F3D3E"/>
          </a:solidFill>
          <a:ln w="12700">
            <a:solidFill>
              <a:srgbClr val="0F3D3E"/>
            </a:solidFill>
            <a:prstDash val="solid"/>
          </a:ln>
        </p:spPr>
      </p:sp>
      <p:sp>
        <p:nvSpPr>
          <p:cNvPr id="17" name="Text 15"/>
          <p:cNvSpPr txBox="1"/>
          <p:nvPr/>
        </p:nvSpPr>
        <p:spPr>
          <a:xfrm>
            <a:off x="868680" y="5486400"/>
            <a:ext cx="10454335" cy="640080"/>
          </a:xfrm>
          <a:prstGeom prst="rect">
            <a:avLst/>
          </a:prstGeom>
          <a:noFill/>
          <a:ln/>
        </p:spPr>
        <p:txBody>
          <a:bodyPr wrap="square" lIns="0" tIns="0" rIns="0" bIns="0" rtlCol="0" anchor="ctr"/>
          <a:lstStyle/>
          <a:p>
            <a:pPr indent="0" marL="0">
              <a:buNone/>
            </a:pPr>
            <a:r>
              <a:rPr lang="en-US" sz="1500" b="1" dirty="0">
                <a:solidFill>
                  <a:srgbClr val="E3A33B"/>
                </a:solidFill>
              </a:rPr>
              <a:t>Temuan serupa pada paper asli [1]: </a:t>
            </a:r>
            <a:pPr indent="0" marL="0">
              <a:buNone/>
            </a:pPr>
            <a:r>
              <a:rPr lang="en-US" sz="1500" dirty="0">
                <a:solidFill>
                  <a:srgbClr val="FFFFFF"/>
                </a:solidFill>
              </a:rPr>
              <a:t>Random Forest 100% dengan random split, tetapi 69% dengan pembagian non-acak.</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Hasil Data Wrangling &amp; Augmentation</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Michael</a:t>
            </a:r>
            <a:endParaRPr lang="en-US" sz="1200" dirty="0"/>
          </a:p>
        </p:txBody>
      </p:sp>
      <p:sp>
        <p:nvSpPr>
          <p:cNvPr id="5" name="Text 3"/>
          <p:cNvSpPr txBox="1"/>
          <p:nvPr/>
        </p:nvSpPr>
        <p:spPr>
          <a:xfrm>
            <a:off x="548640" y="1280160"/>
            <a:ext cx="6126480" cy="274320"/>
          </a:xfrm>
          <a:prstGeom prst="rect">
            <a:avLst/>
          </a:prstGeom>
          <a:noFill/>
          <a:ln/>
        </p:spPr>
        <p:txBody>
          <a:bodyPr wrap="square" lIns="0" tIns="0" rIns="0" bIns="0" rtlCol="0" anchor="ctr"/>
          <a:lstStyle/>
          <a:p>
            <a:pPr indent="0" marL="0">
              <a:buNone/>
            </a:pPr>
            <a:r>
              <a:rPr lang="en-US" sz="1200" b="1" spc="200" kern="0" dirty="0">
                <a:solidFill>
                  <a:srgbClr val="0F5257"/>
                </a:solidFill>
              </a:rPr>
              <a:t>EFEK REKAYASA FITUR (RANDOM FOREST, LOSO)</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126480" cy="914400"/>
        </p:xfrm>
        <a:graphic>
          <a:graphicData uri="http://schemas.openxmlformats.org/drawingml/2006/table">
            <a:tbl>
              <a:tblPr/>
              <a:tblGrid>
                <a:gridCol w="3383280"/>
                <a:gridCol w="1371600"/>
                <a:gridCol w="1371600"/>
              </a:tblGrid>
              <a:tr h="38404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Tahap fitur</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Jumlah fitur</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F1-Macro</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384048">
                <a:tc>
                  <a:txBody>
                    <a:bodyPr/>
                    <a:lstStyle/>
                    <a:p>
                      <a:pPr algn="l" indent="0" marL="0">
                        <a:buNone/>
                      </a:pPr>
                      <a:r>
                        <a:rPr lang="en-US" sz="1350" dirty="0">
                          <a:solidFill>
                            <a:srgbClr val="16262B"/>
                          </a:solidFill>
                          <a:latin typeface="Calibri" pitchFamily="34" charset="0"/>
                          <a:ea typeface="Calibri" pitchFamily="34" charset="-122"/>
                          <a:cs typeface="Calibri" pitchFamily="34" charset="-120"/>
                        </a:rPr>
                        <a:t>Rata-rata mentah</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0,681</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84048">
                <a:tc>
                  <a:txBody>
                    <a:bodyPr/>
                    <a:lstStyle/>
                    <a:p>
                      <a:pPr algn="l" indent="0" marL="0">
                        <a:buNone/>
                      </a:pPr>
                      <a:r>
                        <a:rPr lang="en-US" sz="1350" dirty="0">
                          <a:solidFill>
                            <a:srgbClr val="16262B"/>
                          </a:solidFill>
                          <a:latin typeface="Calibri" pitchFamily="34" charset="0"/>
                          <a:ea typeface="Calibri" pitchFamily="34" charset="-122"/>
                          <a:cs typeface="Calibri" pitchFamily="34" charset="-120"/>
                        </a:rPr>
                        <a:t>+ Log-level &amp; proporsi relatif</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13</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0,711</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384048">
                <a:tc>
                  <a:txBody>
                    <a:bodyPr/>
                    <a:lstStyle/>
                    <a:p>
                      <a:pPr algn="l" indent="0" marL="0">
                        <a:buNone/>
                      </a:pPr>
                      <a:r>
                        <a:rPr lang="en-US" sz="1350" b="1" dirty="0">
                          <a:solidFill>
                            <a:srgbClr val="16262B"/>
                          </a:solidFill>
                          <a:latin typeface="Calibri" pitchFamily="34" charset="0"/>
                          <a:ea typeface="Calibri" pitchFamily="34" charset="-122"/>
                          <a:cs typeface="Calibri" pitchFamily="34" charset="-120"/>
                        </a:rPr>
                        <a:t>+ Perubahan terhadap baseline</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350" b="1" dirty="0">
                          <a:solidFill>
                            <a:srgbClr val="16262B"/>
                          </a:solidFill>
                          <a:latin typeface="Calibri" pitchFamily="34" charset="0"/>
                          <a:ea typeface="Calibri" pitchFamily="34" charset="-122"/>
                          <a:cs typeface="Calibri" pitchFamily="34" charset="-120"/>
                        </a:rPr>
                        <a:t>19</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350" b="1" dirty="0">
                          <a:solidFill>
                            <a:srgbClr val="16262B"/>
                          </a:solidFill>
                          <a:latin typeface="Calibri" pitchFamily="34" charset="0"/>
                          <a:ea typeface="Calibri" pitchFamily="34" charset="-122"/>
                          <a:cs typeface="Calibri" pitchFamily="34" charset="-120"/>
                        </a:rPr>
                        <a:t>0,782</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r>
            </a:tbl>
          </a:graphicData>
        </a:graphic>
      </p:graphicFrame>
      <p:sp>
        <p:nvSpPr>
          <p:cNvPr id="7" name="Text 4"/>
          <p:cNvSpPr txBox="1"/>
          <p:nvPr/>
        </p:nvSpPr>
        <p:spPr>
          <a:xfrm>
            <a:off x="548640" y="3383280"/>
            <a:ext cx="6126480" cy="274320"/>
          </a:xfrm>
          <a:prstGeom prst="rect">
            <a:avLst/>
          </a:prstGeom>
          <a:noFill/>
          <a:ln/>
        </p:spPr>
        <p:txBody>
          <a:bodyPr wrap="square" lIns="0" tIns="0" rIns="0" bIns="0" rtlCol="0" anchor="ctr"/>
          <a:lstStyle/>
          <a:p>
            <a:pPr indent="0" marL="0">
              <a:buNone/>
            </a:pPr>
            <a:r>
              <a:rPr lang="en-US" sz="1200" b="1" spc="200" kern="0" dirty="0">
                <a:solidFill>
                  <a:srgbClr val="0F5257"/>
                </a:solidFill>
              </a:rPr>
              <a:t>EFEK AUGMENTASI (F1-MACRO, LOSO)</a:t>
            </a:r>
            <a:endParaRPr lang="en-US" sz="12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48640" y="3703320"/>
          <a:ext cx="6126480" cy="914400"/>
        </p:xfrm>
        <a:graphic>
          <a:graphicData uri="http://schemas.openxmlformats.org/drawingml/2006/table">
            <a:tbl>
              <a:tblPr/>
              <a:tblGrid>
                <a:gridCol w="2926080"/>
                <a:gridCol w="1600200"/>
                <a:gridCol w="1600200"/>
              </a:tblGrid>
              <a:tr h="38404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Skema</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384048">
                <a:tc>
                  <a:txBody>
                    <a:bodyPr/>
                    <a:lstStyle/>
                    <a:p>
                      <a:pPr algn="l" indent="0" marL="0">
                        <a:buNone/>
                      </a:pPr>
                      <a:r>
                        <a:rPr lang="en-US" sz="1350" dirty="0">
                          <a:solidFill>
                            <a:srgbClr val="16262B"/>
                          </a:solidFill>
                          <a:latin typeface="Calibri" pitchFamily="34" charset="0"/>
                          <a:ea typeface="Calibri" pitchFamily="34" charset="-122"/>
                          <a:cs typeface="Calibri" pitchFamily="34" charset="-120"/>
                        </a:rPr>
                        <a:t>Tanpa augmentasi</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0,713</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6262B"/>
                          </a:solidFill>
                          <a:latin typeface="Calibri" pitchFamily="34" charset="0"/>
                          <a:ea typeface="Calibri" pitchFamily="34" charset="-122"/>
                          <a:cs typeface="Calibri" pitchFamily="34" charset="-120"/>
                        </a:rPr>
                        <a:t>0,782</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384048">
                <a:tc>
                  <a:txBody>
                    <a:bodyPr/>
                    <a:lstStyle/>
                    <a:p>
                      <a:pPr algn="l" indent="0" marL="0">
                        <a:buNone/>
                      </a:pPr>
                      <a:r>
                        <a:rPr lang="en-US" sz="1350" dirty="0">
                          <a:solidFill>
                            <a:srgbClr val="16262B"/>
                          </a:solidFill>
                          <a:latin typeface="Calibri" pitchFamily="34" charset="0"/>
                          <a:ea typeface="Calibri" pitchFamily="34" charset="-122"/>
                          <a:cs typeface="Calibri" pitchFamily="34" charset="-120"/>
                        </a:rPr>
                        <a:t>Gaussian jitter</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0,698</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0,773</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384048">
                <a:tc>
                  <a:txBody>
                    <a:bodyPr/>
                    <a:lstStyle/>
                    <a:p>
                      <a:pPr algn="l" indent="0" marL="0">
                        <a:buNone/>
                      </a:pPr>
                      <a:r>
                        <a:rPr lang="en-US" sz="1350" dirty="0">
                          <a:solidFill>
                            <a:srgbClr val="16262B"/>
                          </a:solidFill>
                          <a:latin typeface="Calibri" pitchFamily="34" charset="0"/>
                          <a:ea typeface="Calibri" pitchFamily="34" charset="-122"/>
                          <a:cs typeface="Calibri" pitchFamily="34" charset="-120"/>
                        </a:rPr>
                        <a:t>Variasi sensitivitas sensor</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0,724</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6262B"/>
                          </a:solidFill>
                          <a:latin typeface="Calibri" pitchFamily="34" charset="0"/>
                          <a:ea typeface="Calibri" pitchFamily="34" charset="-122"/>
                          <a:cs typeface="Calibri" pitchFamily="34" charset="-120"/>
                        </a:rPr>
                        <a:t>0,767</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bl>
          </a:graphicData>
        </a:graphic>
      </p:graphicFrame>
      <p:pic>
        <p:nvPicPr>
          <p:cNvPr id="9" name="Image 0" descr="/Users/angga0704/ets-ml2-kelompok/hasil/05_efek_wrangling.png">    </p:cNvPr>
          <p:cNvPicPr>
            <a:picLocks noChangeAspect="1"/>
          </p:cNvPicPr>
          <p:nvPr/>
        </p:nvPicPr>
        <p:blipFill>
          <a:blip r:embed="rId1"/>
          <a:stretch>
            <a:fillRect/>
          </a:stretch>
        </p:blipFill>
        <p:spPr>
          <a:xfrm>
            <a:off x="6903720" y="1749739"/>
            <a:ext cx="4739335" cy="3084201"/>
          </a:xfrm>
          <a:prstGeom prst="rect">
            <a:avLst/>
          </a:prstGeom>
        </p:spPr>
      </p:pic>
      <p:sp>
        <p:nvSpPr>
          <p:cNvPr id="10" name="Shape 5"/>
          <p:cNvSpPr/>
          <p:nvPr/>
        </p:nvSpPr>
        <p:spPr>
          <a:xfrm>
            <a:off x="548640" y="5440680"/>
            <a:ext cx="11094415" cy="777240"/>
          </a:xfrm>
          <a:prstGeom prst="roundRect">
            <a:avLst>
              <a:gd name="adj" fmla="val 14118"/>
            </a:avLst>
          </a:prstGeom>
          <a:solidFill>
            <a:srgbClr val="0F3D3E"/>
          </a:solidFill>
          <a:ln w="12700">
            <a:solidFill>
              <a:srgbClr val="0F3D3E"/>
            </a:solidFill>
            <a:prstDash val="solid"/>
          </a:ln>
        </p:spPr>
      </p:sp>
      <p:sp>
        <p:nvSpPr>
          <p:cNvPr id="11" name="Text 6"/>
          <p:cNvSpPr txBox="1"/>
          <p:nvPr/>
        </p:nvSpPr>
        <p:spPr>
          <a:xfrm>
            <a:off x="868680" y="5440680"/>
            <a:ext cx="10454335" cy="777240"/>
          </a:xfrm>
          <a:prstGeom prst="rect">
            <a:avLst/>
          </a:prstGeom>
          <a:noFill/>
          <a:ln/>
        </p:spPr>
        <p:txBody>
          <a:bodyPr wrap="square" lIns="0" tIns="0" rIns="0" bIns="0" rtlCol="0" anchor="ctr"/>
          <a:lstStyle/>
          <a:p>
            <a:pPr indent="0" marL="0">
              <a:buNone/>
            </a:pPr>
            <a:r>
              <a:rPr lang="en-US" sz="1500" b="1" dirty="0">
                <a:solidFill>
                  <a:srgbClr val="E3A33B"/>
                </a:solidFill>
              </a:rPr>
              <a:t>Temuan: </a:t>
            </a:r>
            <a:pPr indent="0" marL="0">
              <a:buNone/>
            </a:pPr>
            <a:r>
              <a:rPr lang="en-US" sz="1500" dirty="0">
                <a:solidFill>
                  <a:srgbClr val="FFFFFF"/>
                </a:solidFill>
              </a:rPr>
              <a:t>rekayasa fitur menaikkan F1-Macro +0,101. Augmentasi tidak meningkatkan Random Forest (jitter −0,009, sensitivitas −0,015): variasi sintetis belum mewakili variasi nyata antar sesi.</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Ensemble Learning</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Michael</a:t>
            </a:r>
            <a:endParaRPr lang="en-US" sz="1200" dirty="0"/>
          </a:p>
        </p:txBody>
      </p:sp>
      <p:sp>
        <p:nvSpPr>
          <p:cNvPr id="5" name="Text 3"/>
          <p:cNvSpPr txBox="1"/>
          <p:nvPr/>
        </p:nvSpPr>
        <p:spPr>
          <a:xfrm>
            <a:off x="548640" y="1234440"/>
            <a:ext cx="11094415" cy="1005840"/>
          </a:xfrm>
          <a:prstGeom prst="rect">
            <a:avLst/>
          </a:prstGeom>
          <a:noFill/>
          <a:ln/>
        </p:spPr>
        <p:txBody>
          <a:bodyPr wrap="square" lIns="0" tIns="0" rIns="0" bIns="0" rtlCol="0" anchor="t"/>
          <a:lstStyle/>
          <a:p>
            <a:pPr algn="just" indent="0" marL="0">
              <a:buNone/>
            </a:pPr>
            <a:r>
              <a:rPr lang="en-US" sz="1500" b="1" dirty="0">
                <a:solidFill>
                  <a:srgbClr val="16262B"/>
                </a:solidFill>
              </a:rPr>
              <a:t>Ensemble learning</a:t>
            </a:r>
            <a:pPr algn="just" indent="0" marL="0">
              <a:buNone/>
            </a:pPr>
            <a:r>
              <a:rPr lang="en-US" sz="1500" dirty="0">
                <a:solidFill>
                  <a:srgbClr val="16262B"/>
                </a:solidFill>
              </a:rPr>
              <a:t> adalah metode yang menggabungkan beberapa model (base learner) untuk menghasilkan prediksi yang lebih akurat dan stabil dibandingkan model tunggal [2]. Model tunggal cenderung mengalami overfitting dan sensitif terhadap noise, sehingga penggabungan model membantu menurunkan kesalahan.</a:t>
            </a:r>
            <a:endParaRPr lang="en-US" sz="1500" dirty="0"/>
          </a:p>
        </p:txBody>
      </p:sp>
      <p:sp>
        <p:nvSpPr>
          <p:cNvPr id="6" name="Shape 4"/>
          <p:cNvSpPr/>
          <p:nvPr/>
        </p:nvSpPr>
        <p:spPr>
          <a:xfrm>
            <a:off x="548640" y="2423160"/>
            <a:ext cx="5387188" cy="3017520"/>
          </a:xfrm>
          <a:prstGeom prst="roundRect">
            <a:avLst>
              <a:gd name="adj" fmla="val 3636"/>
            </a:avLst>
          </a:prstGeom>
          <a:solidFill>
            <a:srgbClr val="EEF4F2"/>
          </a:solidFill>
          <a:ln w="12700">
            <a:solidFill>
              <a:srgbClr val="EEF4F2"/>
            </a:solidFill>
            <a:prstDash val="solid"/>
          </a:ln>
        </p:spPr>
      </p:sp>
      <p:sp>
        <p:nvSpPr>
          <p:cNvPr id="7" name="Text 5"/>
          <p:cNvSpPr txBox="1"/>
          <p:nvPr/>
        </p:nvSpPr>
        <p:spPr>
          <a:xfrm>
            <a:off x="822960" y="2606040"/>
            <a:ext cx="4838548" cy="274320"/>
          </a:xfrm>
          <a:prstGeom prst="rect">
            <a:avLst/>
          </a:prstGeom>
          <a:noFill/>
          <a:ln/>
        </p:spPr>
        <p:txBody>
          <a:bodyPr wrap="square" lIns="0" tIns="0" rIns="0" bIns="0" rtlCol="0" anchor="ctr"/>
          <a:lstStyle/>
          <a:p>
            <a:pPr indent="0" marL="0">
              <a:buNone/>
            </a:pPr>
            <a:r>
              <a:rPr lang="en-US" sz="1200" b="1" spc="200" kern="0" dirty="0">
                <a:solidFill>
                  <a:srgbClr val="0F5257"/>
                </a:solidFill>
              </a:rPr>
              <a:t>MODEL PEMBANDING (TUNGGAL)</a:t>
            </a:r>
            <a:endParaRPr lang="en-US" sz="1200" dirty="0"/>
          </a:p>
        </p:txBody>
      </p:sp>
      <p:sp>
        <p:nvSpPr>
          <p:cNvPr id="8" name="Text 6"/>
          <p:cNvSpPr txBox="1"/>
          <p:nvPr/>
        </p:nvSpPr>
        <p:spPr>
          <a:xfrm>
            <a:off x="822960" y="3017520"/>
            <a:ext cx="4838548" cy="2331720"/>
          </a:xfrm>
          <a:prstGeom prst="rect">
            <a:avLst/>
          </a:prstGeom>
          <a:noFill/>
          <a:ln/>
        </p:spPr>
        <p:txBody>
          <a:bodyPr wrap="square" lIns="0" tIns="0" rIns="0" bIns="0" rtlCol="0" anchor="t"/>
          <a:lstStyle/>
          <a:p>
            <a:pPr indent="0" marL="0">
              <a:spcAft>
                <a:spcPts val="600"/>
              </a:spcAft>
              <a:buNone/>
            </a:pPr>
            <a:r>
              <a:rPr lang="en-US" sz="1400" b="1" dirty="0">
                <a:solidFill>
                  <a:srgbClr val="16262B"/>
                </a:solidFill>
              </a:rPr>
              <a:t>A. Logistic Regression</a:t>
            </a:r>
            <a:endParaRPr lang="en-US" sz="1400" dirty="0"/>
          </a:p>
          <a:p>
            <a:pPr indent="0" marL="0">
              <a:spcAft>
                <a:spcPts val="600"/>
              </a:spcAft>
              <a:buNone/>
            </a:pPr>
            <a:r>
              <a:rPr lang="en-US" sz="1400" dirty="0">
                <a:solidFill>
                  <a:srgbClr val="16262B"/>
                </a:solidFill>
              </a:rPr>
              <a:t>batas keputusan linear</a:t>
            </a:r>
            <a:endParaRPr lang="en-US" sz="1400" dirty="0"/>
          </a:p>
          <a:p>
            <a:pPr indent="0" marL="0">
              <a:spcAft>
                <a:spcPts val="600"/>
              </a:spcAft>
              <a:buNone/>
            </a:pPr>
            <a:r>
              <a:rPr lang="en-US" sz="1400" b="1" dirty="0">
                <a:solidFill>
                  <a:srgbClr val="16262B"/>
                </a:solidFill>
              </a:rPr>
              <a:t>B. K-Nearest Neighbors</a:t>
            </a:r>
            <a:endParaRPr lang="en-US" sz="1400" dirty="0"/>
          </a:p>
          <a:p>
            <a:pPr indent="0" marL="0">
              <a:spcAft>
                <a:spcPts val="600"/>
              </a:spcAft>
              <a:buNone/>
            </a:pPr>
            <a:r>
              <a:rPr lang="en-US" sz="1400" dirty="0">
                <a:solidFill>
                  <a:srgbClr val="16262B"/>
                </a:solidFill>
              </a:rPr>
              <a:t>k = 15, voting tetangga terdekat</a:t>
            </a:r>
            <a:endParaRPr lang="en-US" sz="1400" dirty="0"/>
          </a:p>
          <a:p>
            <a:pPr indent="0" marL="0">
              <a:spcAft>
                <a:spcPts val="600"/>
              </a:spcAft>
              <a:buNone/>
            </a:pPr>
            <a:r>
              <a:rPr lang="en-US" sz="1400" b="1" dirty="0">
                <a:solidFill>
                  <a:srgbClr val="16262B"/>
                </a:solidFill>
              </a:rPr>
              <a:t>C. Decision Tree</a:t>
            </a:r>
            <a:endParaRPr lang="en-US" sz="1400" dirty="0"/>
          </a:p>
          <a:p>
            <a:pPr indent="0" marL="0">
              <a:spcAft>
                <a:spcPts val="600"/>
              </a:spcAft>
              <a:buNone/>
            </a:pPr>
            <a:r>
              <a:rPr lang="en-US" sz="1400" dirty="0">
                <a:solidFill>
                  <a:srgbClr val="16262B"/>
                </a:solidFill>
              </a:rPr>
              <a:t>satu pohon, kedalaman maksimum 6</a:t>
            </a:r>
            <a:endParaRPr lang="en-US" sz="1400" dirty="0"/>
          </a:p>
        </p:txBody>
      </p:sp>
      <p:sp>
        <p:nvSpPr>
          <p:cNvPr id="9" name="Shape 7"/>
          <p:cNvSpPr/>
          <p:nvPr/>
        </p:nvSpPr>
        <p:spPr>
          <a:xfrm>
            <a:off x="6255868" y="2423160"/>
            <a:ext cx="5387188" cy="3017520"/>
          </a:xfrm>
          <a:prstGeom prst="roundRect">
            <a:avLst>
              <a:gd name="adj" fmla="val 3636"/>
            </a:avLst>
          </a:prstGeom>
          <a:solidFill>
            <a:srgbClr val="0F3D3E"/>
          </a:solidFill>
          <a:ln w="12700">
            <a:solidFill>
              <a:srgbClr val="0F3D3E"/>
            </a:solidFill>
            <a:prstDash val="solid"/>
          </a:ln>
        </p:spPr>
      </p:sp>
      <p:sp>
        <p:nvSpPr>
          <p:cNvPr id="10" name="Text 8"/>
          <p:cNvSpPr txBox="1"/>
          <p:nvPr/>
        </p:nvSpPr>
        <p:spPr>
          <a:xfrm>
            <a:off x="6530188" y="2606040"/>
            <a:ext cx="4838548" cy="274320"/>
          </a:xfrm>
          <a:prstGeom prst="rect">
            <a:avLst/>
          </a:prstGeom>
          <a:noFill/>
          <a:ln/>
        </p:spPr>
        <p:txBody>
          <a:bodyPr wrap="square" lIns="0" tIns="0" rIns="0" bIns="0" rtlCol="0" anchor="ctr"/>
          <a:lstStyle/>
          <a:p>
            <a:pPr indent="0" marL="0">
              <a:buNone/>
            </a:pPr>
            <a:r>
              <a:rPr lang="en-US" sz="1200" b="1" spc="200" kern="0" dirty="0">
                <a:solidFill>
                  <a:srgbClr val="E3A33B"/>
                </a:solidFill>
              </a:rPr>
              <a:t>MODEL ENSEMBLE</a:t>
            </a:r>
            <a:endParaRPr lang="en-US" sz="1200" dirty="0"/>
          </a:p>
        </p:txBody>
      </p:sp>
      <p:sp>
        <p:nvSpPr>
          <p:cNvPr id="11" name="Text 9"/>
          <p:cNvSpPr txBox="1"/>
          <p:nvPr/>
        </p:nvSpPr>
        <p:spPr>
          <a:xfrm>
            <a:off x="6530188" y="3017520"/>
            <a:ext cx="4838548" cy="2331720"/>
          </a:xfrm>
          <a:prstGeom prst="rect">
            <a:avLst/>
          </a:prstGeom>
          <a:noFill/>
          <a:ln/>
        </p:spPr>
        <p:txBody>
          <a:bodyPr wrap="square" lIns="0" tIns="0" rIns="0" bIns="0" rtlCol="0" anchor="t"/>
          <a:lstStyle/>
          <a:p>
            <a:pPr indent="0" marL="0">
              <a:spcAft>
                <a:spcPts val="600"/>
              </a:spcAft>
              <a:buNone/>
            </a:pPr>
            <a:r>
              <a:rPr lang="en-US" sz="1400" b="1" dirty="0">
                <a:solidFill>
                  <a:srgbClr val="FFFFFF"/>
                </a:solidFill>
              </a:rPr>
              <a:t>A. Random Forest [3]</a:t>
            </a:r>
            <a:endParaRPr lang="en-US" sz="1400" dirty="0"/>
          </a:p>
          <a:p>
            <a:pPr indent="0" marL="0">
              <a:spcAft>
                <a:spcPts val="600"/>
              </a:spcAft>
              <a:buNone/>
            </a:pPr>
            <a:r>
              <a:rPr lang="en-US" sz="1400" dirty="0">
                <a:solidFill>
                  <a:srgbClr val="FFFFFF"/>
                </a:solidFill>
              </a:rPr>
              <a:t>bagging: 300 pohon (kedalaman 6), hasil di-voting</a:t>
            </a:r>
            <a:endParaRPr lang="en-US" sz="1400" dirty="0"/>
          </a:p>
          <a:p>
            <a:pPr indent="0" marL="0">
              <a:spcAft>
                <a:spcPts val="600"/>
              </a:spcAft>
              <a:buNone/>
            </a:pPr>
            <a:r>
              <a:rPr lang="en-US" sz="1400" b="1" dirty="0">
                <a:solidFill>
                  <a:srgbClr val="FFFFFF"/>
                </a:solidFill>
              </a:rPr>
              <a:t>B. XGBoost [4]</a:t>
            </a:r>
            <a:endParaRPr lang="en-US" sz="1400" dirty="0"/>
          </a:p>
          <a:p>
            <a:pPr indent="0" marL="0">
              <a:spcAft>
                <a:spcPts val="600"/>
              </a:spcAft>
              <a:buNone/>
            </a:pPr>
            <a:r>
              <a:rPr lang="en-US" sz="1400" dirty="0">
                <a:solidFill>
                  <a:srgbClr val="FFFFFF"/>
                </a:solidFill>
              </a:rPr>
              <a:t>boosting: 200 pohon berurutan, tiap pohon memperbaiki kesalahan sebelumnya</a:t>
            </a:r>
            <a:endParaRPr lang="en-US" sz="1400" dirty="0"/>
          </a:p>
          <a:p>
            <a:pPr indent="0" marL="0">
              <a:spcAft>
                <a:spcPts val="600"/>
              </a:spcAft>
              <a:buNone/>
            </a:pPr>
            <a:r>
              <a:rPr lang="en-US" sz="1400" b="1" dirty="0">
                <a:solidFill>
                  <a:srgbClr val="FFFFFF"/>
                </a:solidFill>
              </a:rPr>
              <a:t>C. Soft Voting Classifier</a:t>
            </a:r>
            <a:endParaRPr lang="en-US" sz="1400" dirty="0"/>
          </a:p>
          <a:p>
            <a:pPr indent="0" marL="0">
              <a:spcAft>
                <a:spcPts val="600"/>
              </a:spcAft>
              <a:buNone/>
            </a:pPr>
            <a:r>
              <a:rPr lang="en-US" sz="1400" dirty="0">
                <a:solidFill>
                  <a:srgbClr val="FFFFFF"/>
                </a:solidFill>
              </a:rPr>
              <a:t>rata-rata probabilitas Logistic Regression + Random Forest + XGBoost</a:t>
            </a:r>
            <a:endParaRPr lang="en-US" sz="1400" dirty="0"/>
          </a:p>
        </p:txBody>
      </p:sp>
      <p:sp>
        <p:nvSpPr>
          <p:cNvPr id="12" name="Text 10"/>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150" dirty="0">
                <a:solidFill>
                  <a:srgbClr val="56676A"/>
                </a:solidFill>
              </a:rPr>
              <a:t>Hyperparameter ditetapkan sejak awal, tidak di-tuning menggunakan data uji.  [2] Zhou (2012) · [3] Breiman (2001) · [4] Chen &amp; Guestrin (2016)</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Hasil Ensemble Learning</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Michael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292235"/>
                <a:gridCol w="1283651"/>
                <a:gridCol w="1283651"/>
                <a:gridCol w="1283651"/>
                <a:gridCol w="1467030"/>
                <a:gridCol w="1650409"/>
                <a:gridCol w="1833788"/>
              </a:tblGrid>
              <a:tr h="438912">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Model</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Jenis</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Akurasi</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F1-Macro</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F1-Weighted</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Recall Spoiled</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Akurasi Sesi Terburuk</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438912">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Tunggal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72,2%</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0,729</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0,724</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72,7%</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45,8%</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438912">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Tunggal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72,7%</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0,736</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0,731</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74,3%</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50,8%</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438912">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Tunggal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70,4%</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0,713</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0,710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67,3%</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53,2%</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438912">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Ensemble</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77,6%</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0,782</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0,778</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55,3%</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r>
              <a:tr h="438912">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Ensemble</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76,0%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0,765</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0,761</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84,2%</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54,5%</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438912">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Voting</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Ensemble</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0,756</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0,752</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77,8%</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52,3%</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bl>
          </a:graphicData>
        </a:graphic>
      </p:graphicFrame>
      <p:sp>
        <p:nvSpPr>
          <p:cNvPr id="6" name="Text 3"/>
          <p:cNvSpPr txBox="1"/>
          <p:nvPr/>
        </p:nvSpPr>
        <p:spPr>
          <a:xfrm>
            <a:off x="548640" y="4434840"/>
            <a:ext cx="11094415" cy="274320"/>
          </a:xfrm>
          <a:prstGeom prst="rect">
            <a:avLst/>
          </a:prstGeom>
          <a:noFill/>
          <a:ln/>
        </p:spPr>
        <p:txBody>
          <a:bodyPr wrap="square" lIns="0" tIns="0" rIns="0" bIns="0" rtlCol="0" anchor="ctr"/>
          <a:lstStyle/>
          <a:p>
            <a:pPr indent="0" marL="0">
              <a:buNone/>
            </a:pPr>
            <a:r>
              <a:rPr lang="en-US" sz="1100" dirty="0">
                <a:solidFill>
                  <a:srgbClr val="56676A"/>
                </a:solidFill>
              </a:rPr>
              <a:t>Validasi Leave-One-Session-Out. Angka tebal = terbaik per kolom.</a:t>
            </a:r>
            <a:endParaRPr lang="en-US" sz="1100" dirty="0"/>
          </a:p>
        </p:txBody>
      </p:sp>
      <p:sp>
        <p:nvSpPr>
          <p:cNvPr id="7" name="Shape 4"/>
          <p:cNvSpPr/>
          <p:nvPr/>
        </p:nvSpPr>
        <p:spPr>
          <a:xfrm>
            <a:off x="548640" y="4846320"/>
            <a:ext cx="3545738" cy="1280160"/>
          </a:xfrm>
          <a:prstGeom prst="roundRect">
            <a:avLst>
              <a:gd name="adj" fmla="val 8571"/>
            </a:avLst>
          </a:prstGeom>
          <a:solidFill>
            <a:srgbClr val="0F3D3E"/>
          </a:solidFill>
          <a:ln w="12700">
            <a:solidFill>
              <a:srgbClr val="0F3D3E"/>
            </a:solidFill>
            <a:prstDash val="solid"/>
          </a:ln>
        </p:spPr>
      </p:sp>
      <p:sp>
        <p:nvSpPr>
          <p:cNvPr id="8" name="Text 5"/>
          <p:cNvSpPr txBox="1"/>
          <p:nvPr/>
        </p:nvSpPr>
        <p:spPr>
          <a:xfrm>
            <a:off x="822960" y="4919472"/>
            <a:ext cx="2997098" cy="594360"/>
          </a:xfrm>
          <a:prstGeom prst="rect">
            <a:avLst/>
          </a:prstGeom>
          <a:noFill/>
          <a:ln/>
        </p:spPr>
        <p:txBody>
          <a:bodyPr wrap="square" lIns="0" tIns="0" rIns="0" bIns="0" rtlCol="0" anchor="ctr"/>
          <a:lstStyle/>
          <a:p>
            <a:pPr indent="0" marL="0">
              <a:buNone/>
            </a:pPr>
            <a:r>
              <a:rPr lang="en-US" sz="2600" b="1" dirty="0">
                <a:solidFill>
                  <a:srgbClr val="E3A33B"/>
                </a:solidFill>
                <a:latin typeface="Cambria" pitchFamily="34" charset="0"/>
                <a:ea typeface="Cambria" pitchFamily="34" charset="-122"/>
                <a:cs typeface="Cambria" pitchFamily="34" charset="-120"/>
              </a:rPr>
              <a:t>0,768 vs 0,726</a:t>
            </a:r>
            <a:endParaRPr lang="en-US" sz="2600" dirty="0"/>
          </a:p>
        </p:txBody>
      </p:sp>
      <p:sp>
        <p:nvSpPr>
          <p:cNvPr id="9" name="Text 6"/>
          <p:cNvSpPr txBox="1"/>
          <p:nvPr/>
        </p:nvSpPr>
        <p:spPr>
          <a:xfrm>
            <a:off x="822960" y="5532120"/>
            <a:ext cx="2997098" cy="502920"/>
          </a:xfrm>
          <a:prstGeom prst="rect">
            <a:avLst/>
          </a:prstGeom>
          <a:noFill/>
          <a:ln/>
        </p:spPr>
        <p:txBody>
          <a:bodyPr wrap="square" lIns="0" tIns="0" rIns="0" bIns="0" rtlCol="0" anchor="t"/>
          <a:lstStyle/>
          <a:p>
            <a:pPr indent="0" marL="0">
              <a:buNone/>
            </a:pPr>
            <a:r>
              <a:rPr lang="en-US" sz="1300" dirty="0">
                <a:solidFill>
                  <a:srgbClr val="FFFFFF"/>
                </a:solidFill>
              </a:rPr>
              <a:t>rata-rata F1-Macro ensemble vs model tunggal</a:t>
            </a:r>
            <a:endParaRPr lang="en-US" sz="1300" dirty="0"/>
          </a:p>
        </p:txBody>
      </p:sp>
      <p:sp>
        <p:nvSpPr>
          <p:cNvPr id="10" name="Shape 7"/>
          <p:cNvSpPr/>
          <p:nvPr/>
        </p:nvSpPr>
        <p:spPr>
          <a:xfrm>
            <a:off x="4322978" y="4846320"/>
            <a:ext cx="3545738" cy="1280160"/>
          </a:xfrm>
          <a:prstGeom prst="roundRect">
            <a:avLst>
              <a:gd name="adj" fmla="val 8571"/>
            </a:avLst>
          </a:prstGeom>
          <a:solidFill>
            <a:srgbClr val="EEF4F2"/>
          </a:solidFill>
          <a:ln w="12700">
            <a:solidFill>
              <a:srgbClr val="EEF4F2"/>
            </a:solidFill>
            <a:prstDash val="solid"/>
          </a:ln>
        </p:spPr>
      </p:sp>
      <p:sp>
        <p:nvSpPr>
          <p:cNvPr id="11" name="Text 8"/>
          <p:cNvSpPr txBox="1"/>
          <p:nvPr/>
        </p:nvSpPr>
        <p:spPr>
          <a:xfrm>
            <a:off x="4597298" y="4919472"/>
            <a:ext cx="2997098" cy="594360"/>
          </a:xfrm>
          <a:prstGeom prst="rect">
            <a:avLst/>
          </a:prstGeom>
          <a:noFill/>
          <a:ln/>
        </p:spPr>
        <p:txBody>
          <a:bodyPr wrap="square" lIns="0" tIns="0" rIns="0" bIns="0" rtlCol="0" anchor="ctr"/>
          <a:lstStyle/>
          <a:p>
            <a:pPr indent="0" marL="0">
              <a:buNone/>
            </a:pPr>
            <a:r>
              <a:rPr lang="en-US" sz="2600" b="1" dirty="0">
                <a:solidFill>
                  <a:srgbClr val="0F5257"/>
                </a:solidFill>
                <a:latin typeface="Cambria" pitchFamily="34" charset="0"/>
                <a:ea typeface="Cambria" pitchFamily="34" charset="-122"/>
                <a:cs typeface="Cambria" pitchFamily="34" charset="-120"/>
              </a:rPr>
              <a:t>0,782 vs 0,713</a:t>
            </a:r>
            <a:endParaRPr lang="en-US" sz="2600" dirty="0"/>
          </a:p>
        </p:txBody>
      </p:sp>
      <p:sp>
        <p:nvSpPr>
          <p:cNvPr id="12" name="Text 9"/>
          <p:cNvSpPr txBox="1"/>
          <p:nvPr/>
        </p:nvSpPr>
        <p:spPr>
          <a:xfrm>
            <a:off x="4597298" y="5532120"/>
            <a:ext cx="2997098" cy="502920"/>
          </a:xfrm>
          <a:prstGeom prst="rect">
            <a:avLst/>
          </a:prstGeom>
          <a:noFill/>
          <a:ln/>
        </p:spPr>
        <p:txBody>
          <a:bodyPr wrap="square" lIns="0" tIns="0" rIns="0" bIns="0" rtlCol="0" anchor="t"/>
          <a:lstStyle/>
          <a:p>
            <a:pPr indent="0" marL="0">
              <a:buNone/>
            </a:pPr>
            <a:r>
              <a:rPr lang="en-US" sz="1300" dirty="0">
                <a:solidFill>
                  <a:srgbClr val="16262B"/>
                </a:solidFill>
              </a:rPr>
              <a:t>Random Forest vs Decision Tree (kedalaman pohon sama)</a:t>
            </a:r>
            <a:endParaRPr lang="en-US" sz="1300" dirty="0"/>
          </a:p>
        </p:txBody>
      </p:sp>
      <p:sp>
        <p:nvSpPr>
          <p:cNvPr id="13" name="Shape 10"/>
          <p:cNvSpPr/>
          <p:nvPr/>
        </p:nvSpPr>
        <p:spPr>
          <a:xfrm>
            <a:off x="8097317" y="4846320"/>
            <a:ext cx="3545738" cy="1280160"/>
          </a:xfrm>
          <a:prstGeom prst="roundRect">
            <a:avLst>
              <a:gd name="adj" fmla="val 8571"/>
            </a:avLst>
          </a:prstGeom>
          <a:solidFill>
            <a:srgbClr val="EEF4F2"/>
          </a:solidFill>
          <a:ln w="12700">
            <a:solidFill>
              <a:srgbClr val="EEF4F2"/>
            </a:solidFill>
            <a:prstDash val="solid"/>
          </a:ln>
        </p:spPr>
      </p:sp>
      <p:sp>
        <p:nvSpPr>
          <p:cNvPr id="14" name="Text 11"/>
          <p:cNvSpPr txBox="1"/>
          <p:nvPr/>
        </p:nvSpPr>
        <p:spPr>
          <a:xfrm>
            <a:off x="8371637" y="4919472"/>
            <a:ext cx="2997098" cy="594360"/>
          </a:xfrm>
          <a:prstGeom prst="rect">
            <a:avLst/>
          </a:prstGeom>
          <a:noFill/>
          <a:ln/>
        </p:spPr>
        <p:txBody>
          <a:bodyPr wrap="square" lIns="0" tIns="0" rIns="0" bIns="0" rtlCol="0" anchor="ctr"/>
          <a:lstStyle/>
          <a:p>
            <a:pPr indent="0" marL="0">
              <a:buNone/>
            </a:pPr>
            <a:r>
              <a:rPr lang="en-US" sz="2600" b="1" dirty="0">
                <a:solidFill>
                  <a:srgbClr val="0F5257"/>
                </a:solidFill>
                <a:latin typeface="Cambria" pitchFamily="34" charset="0"/>
                <a:ea typeface="Cambria" pitchFamily="34" charset="-122"/>
                <a:cs typeface="Cambria" pitchFamily="34" charset="-120"/>
              </a:rPr>
              <a:t>84,2%</a:t>
            </a:r>
            <a:endParaRPr lang="en-US" sz="2600" dirty="0"/>
          </a:p>
        </p:txBody>
      </p:sp>
      <p:sp>
        <p:nvSpPr>
          <p:cNvPr id="15" name="Text 12"/>
          <p:cNvSpPr txBox="1"/>
          <p:nvPr/>
        </p:nvSpPr>
        <p:spPr>
          <a:xfrm>
            <a:off x="8371637" y="5532120"/>
            <a:ext cx="2997098" cy="502920"/>
          </a:xfrm>
          <a:prstGeom prst="rect">
            <a:avLst/>
          </a:prstGeom>
          <a:noFill/>
          <a:ln/>
        </p:spPr>
        <p:txBody>
          <a:bodyPr wrap="square" lIns="0" tIns="0" rIns="0" bIns="0" rtlCol="0" anchor="t"/>
          <a:lstStyle/>
          <a:p>
            <a:pPr indent="0" marL="0">
              <a:buNone/>
            </a:pPr>
            <a:r>
              <a:rPr lang="en-US" sz="1300" dirty="0">
                <a:solidFill>
                  <a:srgbClr val="16262B"/>
                </a:solidFill>
              </a:rPr>
              <a:t>recall Spoiled tertinggi (XGBoost)</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Hasil Ensemble Learning: Confusion Matrix</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Michael</a:t>
            </a:r>
            <a:endParaRPr lang="en-US" sz="1200" dirty="0"/>
          </a:p>
        </p:txBody>
      </p:sp>
      <p:pic>
        <p:nvPicPr>
          <p:cNvPr id="5" name="Image 0" descr="/Users/angga0704/ets-ml2-kelompok/hasil/06_confusion_rf.png">    </p:cNvPr>
          <p:cNvPicPr>
            <a:picLocks noChangeAspect="1"/>
          </p:cNvPicPr>
          <p:nvPr/>
        </p:nvPicPr>
        <p:blipFill>
          <a:blip r:embed="rId1"/>
          <a:stretch>
            <a:fillRect/>
          </a:stretch>
        </p:blipFill>
        <p:spPr>
          <a:xfrm>
            <a:off x="548640" y="1828470"/>
            <a:ext cx="5120640" cy="3658259"/>
          </a:xfrm>
          <a:prstGeom prst="rect">
            <a:avLst/>
          </a:prstGeom>
        </p:spPr>
      </p:pic>
      <p:sp>
        <p:nvSpPr>
          <p:cNvPr id="6" name="Text 3"/>
          <p:cNvSpPr txBox="1"/>
          <p:nvPr/>
        </p:nvSpPr>
        <p:spPr>
          <a:xfrm>
            <a:off x="5943600" y="1325880"/>
            <a:ext cx="5699455" cy="274320"/>
          </a:xfrm>
          <a:prstGeom prst="rect">
            <a:avLst/>
          </a:prstGeom>
          <a:noFill/>
          <a:ln/>
        </p:spPr>
        <p:txBody>
          <a:bodyPr wrap="square" lIns="0" tIns="0" rIns="0" bIns="0" rtlCol="0" anchor="ctr"/>
          <a:lstStyle/>
          <a:p>
            <a:pPr indent="0" marL="0">
              <a:buNone/>
            </a:pPr>
            <a:r>
              <a:rPr lang="en-US" sz="1200" b="1" spc="200" kern="0" dirty="0">
                <a:solidFill>
                  <a:srgbClr val="0F5257"/>
                </a:solidFill>
              </a:rPr>
              <a:t>INTERPRETASI (RANDOM FOREST, LOSO)</a:t>
            </a:r>
            <a:endParaRPr lang="en-US" sz="1200" dirty="0"/>
          </a:p>
        </p:txBody>
      </p:sp>
      <p:sp>
        <p:nvSpPr>
          <p:cNvPr id="7" name="Text 4"/>
          <p:cNvSpPr txBox="1"/>
          <p:nvPr/>
        </p:nvSpPr>
        <p:spPr>
          <a:xfrm>
            <a:off x="5943600" y="1691640"/>
            <a:ext cx="5699455"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6262B"/>
                </a:solidFill>
              </a:rPr>
              <a:t>Tidak ada sampel Fresh yang diprediksi Spoiled, maupun sebaliknya.</a:t>
            </a:r>
            <a:endParaRPr lang="en-US" sz="1500" dirty="0"/>
          </a:p>
          <a:p>
            <a:pPr marL="342900" indent="-342900">
              <a:spcAft>
                <a:spcPts val="800"/>
              </a:spcAft>
              <a:buSzPct val="100000"/>
              <a:buChar char="•"/>
            </a:pPr>
            <a:r>
              <a:rPr lang="en-US" sz="1500" dirty="0">
                <a:solidFill>
                  <a:srgbClr val="16262B"/>
                </a:solidFill>
              </a:rPr>
              <a:t>Kesalahan terkonsentrasi pada kelas Semi-fresh, yang berada di antara dua kelas lain.</a:t>
            </a:r>
            <a:endParaRPr lang="en-US" sz="1500" dirty="0"/>
          </a:p>
          <a:p>
            <a:pPr marL="342900" indent="-342900">
              <a:spcAft>
                <a:spcPts val="800"/>
              </a:spcAft>
              <a:buSzPct val="100000"/>
              <a:buChar char="•"/>
            </a:pPr>
            <a:r>
              <a:rPr lang="en-US" sz="1500" b="1" dirty="0">
                <a:solidFill>
                  <a:srgbClr val="16262B"/>
                </a:solidFill>
              </a:rPr>
              <a:t>Recall per kelas: </a:t>
            </a:r>
            <a:pPr indent="0" marL="0">
              <a:spcAft>
                <a:spcPts val="800"/>
              </a:spcAft>
              <a:buNone/>
            </a:pPr>
            <a:r>
              <a:rPr lang="en-US" sz="1500" dirty="0">
                <a:solidFill>
                  <a:srgbClr val="16262B"/>
                </a:solidFill>
              </a:rPr>
              <a:t>Fresh 81,8% · Semi-fresh 74,1% · Spoiled 77,5%</a:t>
            </a:r>
            <a:endParaRPr lang="en-US" sz="1500" dirty="0"/>
          </a:p>
        </p:txBody>
      </p:sp>
      <p:sp>
        <p:nvSpPr>
          <p:cNvPr id="8" name="Shape 5"/>
          <p:cNvSpPr/>
          <p:nvPr/>
        </p:nvSpPr>
        <p:spPr>
          <a:xfrm>
            <a:off x="5943600" y="3977640"/>
            <a:ext cx="5699455" cy="2103120"/>
          </a:xfrm>
          <a:prstGeom prst="roundRect">
            <a:avLst>
              <a:gd name="adj" fmla="val 5217"/>
            </a:avLst>
          </a:prstGeom>
          <a:solidFill>
            <a:srgbClr val="0F3D3E"/>
          </a:solidFill>
          <a:ln w="12700">
            <a:solidFill>
              <a:srgbClr val="0F3D3E"/>
            </a:solidFill>
            <a:prstDash val="solid"/>
          </a:ln>
        </p:spPr>
      </p:sp>
      <p:sp>
        <p:nvSpPr>
          <p:cNvPr id="9" name="Text 6"/>
          <p:cNvSpPr txBox="1"/>
          <p:nvPr/>
        </p:nvSpPr>
        <p:spPr>
          <a:xfrm>
            <a:off x="6217920" y="4160520"/>
            <a:ext cx="5150815" cy="274320"/>
          </a:xfrm>
          <a:prstGeom prst="rect">
            <a:avLst/>
          </a:prstGeom>
          <a:noFill/>
          <a:ln/>
        </p:spPr>
        <p:txBody>
          <a:bodyPr wrap="square" lIns="0" tIns="0" rIns="0" bIns="0" rtlCol="0" anchor="ctr"/>
          <a:lstStyle/>
          <a:p>
            <a:pPr indent="0" marL="0">
              <a:buNone/>
            </a:pPr>
            <a:r>
              <a:rPr lang="en-US" sz="1200" b="1" spc="200" kern="0" dirty="0">
                <a:solidFill>
                  <a:srgbClr val="E3A33B"/>
                </a:solidFill>
              </a:rPr>
              <a:t>EKSPERIMEN LANJUTAN (NOTEBOOK MICHAEL)</a:t>
            </a:r>
            <a:endParaRPr lang="en-US" sz="1200" dirty="0"/>
          </a:p>
        </p:txBody>
      </p:sp>
      <p:sp>
        <p:nvSpPr>
          <p:cNvPr id="10" name="Text 7"/>
          <p:cNvSpPr txBox="1"/>
          <p:nvPr/>
        </p:nvSpPr>
        <p:spPr>
          <a:xfrm>
            <a:off x="6217920" y="4526280"/>
            <a:ext cx="5150815" cy="14630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rPr>
              <a:t>Extra Trees (500 pohon): F1-Macro 0,787, setara dengan Random Forest (selisih 0,005).</a:t>
            </a:r>
            <a:endParaRPr lang="en-US" sz="1400" dirty="0"/>
          </a:p>
          <a:p>
            <a:pPr marL="342900" indent="-342900">
              <a:spcAft>
                <a:spcPts val="600"/>
              </a:spcAft>
              <a:buSzPct val="100000"/>
              <a:buChar char="•"/>
            </a:pPr>
            <a:r>
              <a:rPr lang="en-US" sz="1400" dirty="0">
                <a:solidFill>
                  <a:srgbClr val="FFFFFF"/>
                </a:solidFill>
              </a:rPr>
              <a:t>Penambahan pohon jenuh di ±300: 300 pohon 0,782; 500 pohon 0,781.</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Reinforcement Learning</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Rijal</a:t>
            </a:r>
            <a:endParaRPr lang="en-US" sz="1200" dirty="0"/>
          </a:p>
        </p:txBody>
      </p:sp>
      <p:sp>
        <p:nvSpPr>
          <p:cNvPr id="5" name="Shape 3"/>
          <p:cNvSpPr/>
          <p:nvPr/>
        </p:nvSpPr>
        <p:spPr>
          <a:xfrm>
            <a:off x="548640" y="1325880"/>
            <a:ext cx="731520" cy="731520"/>
          </a:xfrm>
          <a:prstGeom prst="rect">
            <a:avLst/>
          </a:prstGeom>
          <a:solidFill>
            <a:srgbClr val="0F3D3E"/>
          </a:solidFill>
          <a:ln w="12700">
            <a:solidFill>
              <a:srgbClr val="0F3D3E"/>
            </a:solidFill>
            <a:prstDash val="solid"/>
          </a:ln>
        </p:spPr>
      </p:sp>
      <p:sp>
        <p:nvSpPr>
          <p:cNvPr id="6" name="Text 4"/>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7" name="Text 5"/>
          <p:cNvSpPr txBox="1"/>
          <p:nvPr/>
        </p:nvSpPr>
        <p:spPr>
          <a:xfrm>
            <a:off x="1508760" y="1325880"/>
            <a:ext cx="4358488" cy="731520"/>
          </a:xfrm>
          <a:prstGeom prst="rect">
            <a:avLst/>
          </a:prstGeom>
          <a:noFill/>
          <a:ln/>
        </p:spPr>
        <p:txBody>
          <a:bodyPr wrap="square" lIns="0" tIns="0" rIns="0" bIns="0" rtlCol="0" anchor="ctr"/>
          <a:lstStyle/>
          <a:p>
            <a:pPr indent="0" marL="0">
              <a:buNone/>
            </a:pPr>
            <a:r>
              <a:rPr lang="en-US" sz="2000" b="1" dirty="0">
                <a:solidFill>
                  <a:srgbClr val="0F3D3E"/>
                </a:solidFill>
              </a:rPr>
              <a:t>Definisi</a:t>
            </a:r>
            <a:endParaRPr lang="en-US" sz="2000" dirty="0"/>
          </a:p>
        </p:txBody>
      </p:sp>
      <p:sp>
        <p:nvSpPr>
          <p:cNvPr id="8" name="Text 6"/>
          <p:cNvSpPr txBox="1"/>
          <p:nvPr/>
        </p:nvSpPr>
        <p:spPr>
          <a:xfrm>
            <a:off x="548640" y="2286000"/>
            <a:ext cx="5318608" cy="3291840"/>
          </a:xfrm>
          <a:prstGeom prst="rect">
            <a:avLst/>
          </a:prstGeom>
          <a:noFill/>
          <a:ln/>
        </p:spPr>
        <p:txBody>
          <a:bodyPr wrap="square" lIns="0" tIns="0" rIns="0" bIns="0" rtlCol="0" anchor="t"/>
          <a:lstStyle/>
          <a:p>
            <a:pPr algn="just" indent="0" marL="0">
              <a:spcAft>
                <a:spcPts val="500"/>
              </a:spcAft>
              <a:buNone/>
            </a:pPr>
            <a:r>
              <a:rPr lang="en-US" sz="1500" dirty="0">
                <a:solidFill>
                  <a:srgbClr val="16262B"/>
                </a:solidFill>
              </a:rPr>
              <a:t>Reinforcement learning merupakan pendekatan machine learning di mana agen belajar mengambil keputusan melalui interaksi trial and error dengan lingkungan. Setiap aksi menghasilkan reward atau penalti, dan agen berupaya memaksimalkan total reward [5].</a:t>
            </a:r>
            <a:endParaRPr lang="en-US" sz="1500" dirty="0"/>
          </a:p>
          <a:p>
            <a:pPr algn="just" indent="0" marL="0">
              <a:spcAft>
                <a:spcPts val="500"/>
              </a:spcAft>
              <a:buNone/>
            </a:pPr>
            <a:r>
              <a:rPr lang="en-US" sz="600" dirty="0">
                <a:solidFill>
                  <a:srgbClr val="16262B"/>
                </a:solidFill>
              </a:rPr>
              <a:t> </a:t>
            </a:r>
            <a:endParaRPr lang="en-US" sz="1500" dirty="0"/>
          </a:p>
          <a:p>
            <a:pPr algn="just" indent="0" marL="0">
              <a:spcAft>
                <a:spcPts val="500"/>
              </a:spcAft>
              <a:buNone/>
            </a:pPr>
            <a:r>
              <a:rPr lang="en-US" sz="1500" dirty="0">
                <a:solidFill>
                  <a:srgbClr val="16262B"/>
                </a:solidFill>
              </a:rPr>
              <a:t>Pada proyek ini, agen tidak hanya mengklasifikasikan, tetapi memutuskan tindakan: </a:t>
            </a:r>
            <a:pPr algn="just" indent="0" marL="0">
              <a:spcAft>
                <a:spcPts val="500"/>
              </a:spcAft>
              <a:buNone/>
            </a:pPr>
            <a:r>
              <a:rPr lang="en-US" sz="1500" b="1" dirty="0">
                <a:solidFill>
                  <a:srgbClr val="16262B"/>
                </a:solidFill>
              </a:rPr>
              <a:t>Jual, Cek manual, atau Buang.</a:t>
            </a:r>
            <a:endParaRPr lang="en-US" sz="1500" dirty="0"/>
          </a:p>
        </p:txBody>
      </p:sp>
      <p:sp>
        <p:nvSpPr>
          <p:cNvPr id="9" name="Shape 7"/>
          <p:cNvSpPr/>
          <p:nvPr/>
        </p:nvSpPr>
        <p:spPr>
          <a:xfrm>
            <a:off x="6324448" y="1325880"/>
            <a:ext cx="731520" cy="731520"/>
          </a:xfrm>
          <a:prstGeom prst="rect">
            <a:avLst/>
          </a:prstGeom>
          <a:solidFill>
            <a:srgbClr val="0F3D3E"/>
          </a:solidFill>
          <a:ln w="12700">
            <a:solidFill>
              <a:srgbClr val="0F3D3E"/>
            </a:solidFill>
            <a:prstDash val="solid"/>
          </a:ln>
        </p:spPr>
      </p:sp>
      <p:sp>
        <p:nvSpPr>
          <p:cNvPr id="10" name="Text 8"/>
          <p:cNvSpPr txBox="1"/>
          <p:nvPr/>
        </p:nvSpPr>
        <p:spPr>
          <a:xfrm>
            <a:off x="6324448" y="132588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7284568" y="1325880"/>
            <a:ext cx="4358488" cy="731520"/>
          </a:xfrm>
          <a:prstGeom prst="rect">
            <a:avLst/>
          </a:prstGeom>
          <a:noFill/>
          <a:ln/>
        </p:spPr>
        <p:txBody>
          <a:bodyPr wrap="square" lIns="0" tIns="0" rIns="0" bIns="0" rtlCol="0" anchor="ctr"/>
          <a:lstStyle/>
          <a:p>
            <a:pPr indent="0" marL="0">
              <a:buNone/>
            </a:pPr>
            <a:r>
              <a:rPr lang="en-US" sz="2000" b="1" dirty="0">
                <a:solidFill>
                  <a:srgbClr val="0F3D3E"/>
                </a:solidFill>
              </a:rPr>
              <a:t>Metode yang Digunakan</a:t>
            </a:r>
            <a:endParaRPr lang="en-US" sz="2000" dirty="0"/>
          </a:p>
        </p:txBody>
      </p:sp>
      <p:sp>
        <p:nvSpPr>
          <p:cNvPr id="12" name="Text 10"/>
          <p:cNvSpPr txBox="1"/>
          <p:nvPr/>
        </p:nvSpPr>
        <p:spPr>
          <a:xfrm>
            <a:off x="6324448" y="2286000"/>
            <a:ext cx="5318608" cy="3291840"/>
          </a:xfrm>
          <a:prstGeom prst="rect">
            <a:avLst/>
          </a:prstGeom>
          <a:noFill/>
          <a:ln/>
        </p:spPr>
        <p:txBody>
          <a:bodyPr wrap="square" lIns="0" tIns="0" rIns="0" bIns="0" rtlCol="0" anchor="t"/>
          <a:lstStyle/>
          <a:p>
            <a:pPr algn="l" indent="0" marL="0">
              <a:spcAft>
                <a:spcPts val="500"/>
              </a:spcAft>
              <a:buNone/>
            </a:pPr>
            <a:r>
              <a:rPr lang="en-US" sz="1500" b="1" dirty="0">
                <a:solidFill>
                  <a:srgbClr val="16262B"/>
                </a:solidFill>
              </a:rPr>
              <a:t>Contextual multi-armed bandit dengan strategi ε-greedy (ε = 0,1):</a:t>
            </a:r>
            <a:endParaRPr lang="en-US" sz="1500" dirty="0"/>
          </a:p>
          <a:p>
            <a:pPr algn="l" marL="342900" indent="-342900">
              <a:spcAft>
                <a:spcPts val="500"/>
              </a:spcAft>
              <a:buSzPct val="100000"/>
              <a:buChar char="•"/>
            </a:pPr>
            <a:r>
              <a:rPr lang="en-US" sz="1500" dirty="0">
                <a:solidFill>
                  <a:srgbClr val="16262B"/>
                </a:solidFill>
              </a:rPr>
              <a:t>Exploitation 90%: memilih aksi dengan nilai Q tertinggi</a:t>
            </a:r>
            <a:endParaRPr lang="en-US" sz="1500" dirty="0"/>
          </a:p>
          <a:p>
            <a:pPr algn="l" marL="342900" indent="-342900">
              <a:spcAft>
                <a:spcPts val="500"/>
              </a:spcAft>
              <a:buSzPct val="100000"/>
              <a:buChar char="•"/>
            </a:pPr>
            <a:r>
              <a:rPr lang="en-US" sz="1500" dirty="0">
                <a:solidFill>
                  <a:srgbClr val="16262B"/>
                </a:solidFill>
              </a:rPr>
              <a:t>Exploration 10%: memilih aksi secara acak</a:t>
            </a:r>
            <a:endParaRPr lang="en-US" sz="1500" dirty="0"/>
          </a:p>
          <a:p>
            <a:pPr algn="l" marL="342900" indent="-342900">
              <a:spcAft>
                <a:spcPts val="500"/>
              </a:spcAft>
              <a:buSzPct val="100000"/>
              <a:buChar char="•"/>
            </a:pPr>
            <a:r>
              <a:rPr lang="en-US" sz="1500" dirty="0">
                <a:solidFill>
                  <a:srgbClr val="16262B"/>
                </a:solidFill>
              </a:rPr>
              <a:t>Pembaruan nilai: Q ← Q + (r − Q) / n (rata-rata inkremental)</a:t>
            </a:r>
            <a:endParaRPr lang="en-US" sz="1500" dirty="0"/>
          </a:p>
          <a:p>
            <a:pPr algn="l" marL="342900" indent="-342900">
              <a:spcAft>
                <a:spcPts val="500"/>
              </a:spcAft>
              <a:buSzPct val="100000"/>
              <a:buChar char="•"/>
            </a:pPr>
            <a:r>
              <a:rPr lang="en-US" sz="1500" dirty="0">
                <a:solidFill>
                  <a:srgbClr val="16262B"/>
                </a:solidFill>
              </a:rPr>
              <a:t>3.000 iterasi × 5 seed; dilatih pada 12 sesi, dievaluasi pada 3 sesi lain (5 fold)</a:t>
            </a:r>
            <a:endParaRPr lang="en-US" sz="1500" dirty="0"/>
          </a:p>
        </p:txBody>
      </p:sp>
      <p:sp>
        <p:nvSpPr>
          <p:cNvPr id="13" name="Text 11"/>
          <p:cNvSpPr txBox="1"/>
          <p:nvPr/>
        </p:nvSpPr>
        <p:spPr>
          <a:xfrm>
            <a:off x="548640" y="5760720"/>
            <a:ext cx="11094415" cy="320040"/>
          </a:xfrm>
          <a:prstGeom prst="rect">
            <a:avLst/>
          </a:prstGeom>
          <a:noFill/>
          <a:ln/>
        </p:spPr>
        <p:txBody>
          <a:bodyPr wrap="square" lIns="0" tIns="0" rIns="0" bIns="0" rtlCol="0" anchor="ctr"/>
          <a:lstStyle/>
          <a:p>
            <a:pPr indent="0" marL="0">
              <a:buNone/>
            </a:pPr>
            <a:r>
              <a:rPr lang="en-US" sz="1150" dirty="0">
                <a:solidFill>
                  <a:srgbClr val="56676A"/>
                </a:solidFill>
              </a:rPr>
              <a:t>[5] Sutton, R. S., &amp; Barto, A. G. (2018). Reinforcement Learning: An Introduction (2nd ed.). MIT Press.</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Desain Agen: State, Aksi, dan Reward</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Rijal</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6217920" cy="914400"/>
        </p:xfrm>
        <a:graphic>
          <a:graphicData uri="http://schemas.openxmlformats.org/drawingml/2006/table">
            <a:tbl>
              <a:tblPr/>
              <a:tblGrid>
                <a:gridCol w="1280160"/>
                <a:gridCol w="4937760"/>
              </a:tblGrid>
              <a:tr h="566928">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Komponen</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Definisi pada proyek ini</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566928">
                <a:tc>
                  <a:txBody>
                    <a:bodyPr/>
                    <a:lstStyle/>
                    <a:p>
                      <a:pPr algn="l" indent="0" marL="0">
                        <a:buNone/>
                      </a:pPr>
                      <a:r>
                        <a:rPr lang="en-US" sz="1400" b="1" dirty="0">
                          <a:solidFill>
                            <a:srgbClr val="16262B"/>
                          </a:solidFill>
                          <a:latin typeface="Calibri" pitchFamily="34" charset="0"/>
                          <a:ea typeface="Calibri" pitchFamily="34" charset="-122"/>
                          <a:cs typeface="Calibri" pitchFamily="34" charset="-120"/>
                        </a:rPr>
                        <a:t>Agen</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Pengambil keputusan penanganan daging ayam</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6262B"/>
                          </a:solidFill>
                          <a:latin typeface="Calibri" pitchFamily="34" charset="0"/>
                          <a:ea typeface="Calibri" pitchFamily="34" charset="-122"/>
                          <a:cs typeface="Calibri" pitchFamily="34" charset="-120"/>
                        </a:rPr>
                        <a:t>State</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Prediksi Random Forest × tingkat keyakinan: yakin (probabilitas ≥ 0,7) atau ragu (&lt; 0,7) → 6 state</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566928">
                <a:tc>
                  <a:txBody>
                    <a:bodyPr/>
                    <a:lstStyle/>
                    <a:p>
                      <a:pPr algn="l" indent="0" marL="0">
                        <a:buNone/>
                      </a:pPr>
                      <a:r>
                        <a:rPr lang="en-US" sz="1400" b="1" dirty="0">
                          <a:solidFill>
                            <a:srgbClr val="16262B"/>
                          </a:solidFill>
                          <a:latin typeface="Calibri" pitchFamily="34" charset="0"/>
                          <a:ea typeface="Calibri" pitchFamily="34" charset="-122"/>
                          <a:cs typeface="Calibri" pitchFamily="34" charset="-120"/>
                        </a:rPr>
                        <a:t>Aksi</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Jual · Cek manual · Buang</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6262B"/>
                          </a:solidFill>
                          <a:latin typeface="Calibri" pitchFamily="34" charset="0"/>
                          <a:ea typeface="Calibri" pitchFamily="34" charset="-122"/>
                          <a:cs typeface="Calibri" pitchFamily="34" charset="-120"/>
                        </a:rPr>
                        <a:t>Reward</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Nilai dari tabel di kanan, ditetapkan berdasarkan risiko</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bl>
          </a:graphicData>
        </a:graphic>
      </p:graphicFrame>
      <p:sp>
        <p:nvSpPr>
          <p:cNvPr id="6" name="Text 3"/>
          <p:cNvSpPr txBox="1"/>
          <p:nvPr/>
        </p:nvSpPr>
        <p:spPr>
          <a:xfrm>
            <a:off x="7086600" y="1280160"/>
            <a:ext cx="4556455" cy="274320"/>
          </a:xfrm>
          <a:prstGeom prst="rect">
            <a:avLst/>
          </a:prstGeom>
          <a:noFill/>
          <a:ln/>
        </p:spPr>
        <p:txBody>
          <a:bodyPr wrap="square" lIns="0" tIns="0" rIns="0" bIns="0" rtlCol="0" anchor="ctr"/>
          <a:lstStyle/>
          <a:p>
            <a:pPr indent="0" marL="0">
              <a:buNone/>
            </a:pPr>
            <a:r>
              <a:rPr lang="en-US" sz="1200" b="1" spc="200" kern="0" dirty="0">
                <a:solidFill>
                  <a:srgbClr val="0F5257"/>
                </a:solidFill>
              </a:rPr>
              <a:t>TABEL REWARD</a:t>
            </a:r>
            <a:endParaRPr lang="en-US" sz="12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7086600" y="1600200"/>
          <a:ext cx="4556455" cy="914400"/>
        </p:xfrm>
        <a:graphic>
          <a:graphicData uri="http://schemas.openxmlformats.org/drawingml/2006/table">
            <a:tbl>
              <a:tblPr/>
              <a:tblGrid>
                <a:gridCol w="1697503"/>
                <a:gridCol w="1429476"/>
                <a:gridCol w="1429476"/>
              </a:tblGrid>
              <a:tr h="475488">
                <a:tc>
                  <a:txBody>
                    <a:bodyPr/>
                    <a:lstStyle/>
                    <a:p>
                      <a:pPr algn="ctr" indent="0" marL="0">
                        <a:buNone/>
                      </a:pPr>
                      <a:r>
                        <a:rPr lang="en-US" sz="1450" b="1" dirty="0">
                          <a:solidFill>
                            <a:srgbClr val="FFFFFF"/>
                          </a:solidFill>
                          <a:latin typeface="Calibri" pitchFamily="34" charset="0"/>
                          <a:ea typeface="Calibri" pitchFamily="34" charset="-122"/>
                          <a:cs typeface="Calibri" pitchFamily="34" charset="-120"/>
                        </a:rPr>
                        <a:t>Aksi</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450" b="1" dirty="0">
                          <a:solidFill>
                            <a:srgbClr val="FFFFFF"/>
                          </a:solidFill>
                          <a:latin typeface="Calibri" pitchFamily="34" charset="0"/>
                          <a:ea typeface="Calibri" pitchFamily="34" charset="-122"/>
                          <a:cs typeface="Calibri" pitchFamily="34" charset="-120"/>
                        </a:rPr>
                        <a:t>Ayam layak*</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450" b="1" dirty="0">
                          <a:solidFill>
                            <a:srgbClr val="FFFFFF"/>
                          </a:solidFill>
                          <a:latin typeface="Calibri" pitchFamily="34" charset="0"/>
                          <a:ea typeface="Calibri" pitchFamily="34" charset="-122"/>
                          <a:cs typeface="Calibri" pitchFamily="34" charset="-120"/>
                        </a:rPr>
                        <a:t>Ayam busuk</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475488">
                <a:tc>
                  <a:txBody>
                    <a:bodyPr/>
                    <a:lstStyle/>
                    <a:p>
                      <a:pPr algn="l" indent="0" marL="0">
                        <a:buNone/>
                      </a:pPr>
                      <a:r>
                        <a:rPr lang="en-US" sz="1500" dirty="0">
                          <a:solidFill>
                            <a:srgbClr val="16262B"/>
                          </a:solidFill>
                          <a:latin typeface="Calibri" pitchFamily="34" charset="0"/>
                          <a:ea typeface="Calibri" pitchFamily="34" charset="-122"/>
                          <a:cs typeface="Calibri" pitchFamily="34" charset="-120"/>
                        </a:rPr>
                        <a:t>Jual</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6262B"/>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6262B"/>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475488">
                <a:tc>
                  <a:txBody>
                    <a:bodyPr/>
                    <a:lstStyle/>
                    <a:p>
                      <a:pPr algn="l" indent="0" marL="0">
                        <a:buNone/>
                      </a:pPr>
                      <a:r>
                        <a:rPr lang="en-US" sz="1500" dirty="0">
                          <a:solidFill>
                            <a:srgbClr val="16262B"/>
                          </a:solidFill>
                          <a:latin typeface="Calibri" pitchFamily="34" charset="0"/>
                          <a:ea typeface="Calibri" pitchFamily="34" charset="-122"/>
                          <a:cs typeface="Calibri" pitchFamily="34" charset="-120"/>
                        </a:rPr>
                        <a:t>Cek manual</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500" dirty="0">
                          <a:solidFill>
                            <a:srgbClr val="16262B"/>
                          </a:solidFill>
                          <a:latin typeface="Calibri" pitchFamily="34" charset="0"/>
                          <a:ea typeface="Calibri" pitchFamily="34" charset="-122"/>
                          <a:cs typeface="Calibri" pitchFamily="34" charset="-120"/>
                        </a:rPr>
                        <a:t>+0,5</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500" dirty="0">
                          <a:solidFill>
                            <a:srgbClr val="16262B"/>
                          </a:solidFill>
                          <a:latin typeface="Calibri" pitchFamily="34" charset="0"/>
                          <a:ea typeface="Calibri" pitchFamily="34" charset="-122"/>
                          <a:cs typeface="Calibri" pitchFamily="34" charset="-120"/>
                        </a:rPr>
                        <a:t>+0,5</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475488">
                <a:tc>
                  <a:txBody>
                    <a:bodyPr/>
                    <a:lstStyle/>
                    <a:p>
                      <a:pPr algn="l" indent="0" marL="0">
                        <a:buNone/>
                      </a:pPr>
                      <a:r>
                        <a:rPr lang="en-US" sz="1500" dirty="0">
                          <a:solidFill>
                            <a:srgbClr val="16262B"/>
                          </a:solidFill>
                          <a:latin typeface="Calibri" pitchFamily="34" charset="0"/>
                          <a:ea typeface="Calibri" pitchFamily="34" charset="-122"/>
                          <a:cs typeface="Calibri" pitchFamily="34" charset="-120"/>
                        </a:rPr>
                        <a:t>Buang</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6262B"/>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6262B"/>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086600" y="3611880"/>
            <a:ext cx="4556455" cy="548640"/>
          </a:xfrm>
          <a:prstGeom prst="rect">
            <a:avLst/>
          </a:prstGeom>
          <a:noFill/>
          <a:ln/>
        </p:spPr>
        <p:txBody>
          <a:bodyPr wrap="square" lIns="0" tIns="0" rIns="0" bIns="0" rtlCol="0" anchor="t"/>
          <a:lstStyle/>
          <a:p>
            <a:pPr indent="0" marL="0">
              <a:buNone/>
            </a:pPr>
            <a:r>
              <a:rPr lang="en-US" sz="1200" dirty="0">
                <a:solidFill>
                  <a:srgbClr val="56676A"/>
                </a:solidFill>
              </a:rPr>
              <a:t>*Layak = Fresh atau Semi-fresh. Cek manual selalu aman, tetapi membutuhkan biaya.</a:t>
            </a:r>
            <a:endParaRPr lang="en-US" sz="1200" dirty="0"/>
          </a:p>
        </p:txBody>
      </p:sp>
      <p:sp>
        <p:nvSpPr>
          <p:cNvPr id="9" name="Shape 5"/>
          <p:cNvSpPr/>
          <p:nvPr/>
        </p:nvSpPr>
        <p:spPr>
          <a:xfrm>
            <a:off x="548640" y="4572000"/>
            <a:ext cx="11094415" cy="1005840"/>
          </a:xfrm>
          <a:prstGeom prst="roundRect">
            <a:avLst>
              <a:gd name="adj" fmla="val 10909"/>
            </a:avLst>
          </a:prstGeom>
          <a:solidFill>
            <a:srgbClr val="0F3D3E"/>
          </a:solidFill>
          <a:ln w="12700">
            <a:solidFill>
              <a:srgbClr val="0F3D3E"/>
            </a:solidFill>
            <a:prstDash val="solid"/>
          </a:ln>
        </p:spPr>
      </p:sp>
      <p:sp>
        <p:nvSpPr>
          <p:cNvPr id="10" name="Text 6"/>
          <p:cNvSpPr txBox="1"/>
          <p:nvPr/>
        </p:nvSpPr>
        <p:spPr>
          <a:xfrm>
            <a:off x="868680" y="4572000"/>
            <a:ext cx="10454335" cy="1005840"/>
          </a:xfrm>
          <a:prstGeom prst="rect">
            <a:avLst/>
          </a:prstGeom>
          <a:noFill/>
          <a:ln/>
        </p:spPr>
        <p:txBody>
          <a:bodyPr wrap="square" lIns="0" tIns="0" rIns="0" bIns="0" rtlCol="0" anchor="ctr"/>
          <a:lstStyle/>
          <a:p>
            <a:pPr indent="0" marL="0">
              <a:buNone/>
            </a:pPr>
            <a:r>
              <a:rPr lang="en-US" sz="1500" b="1" dirty="0">
                <a:solidFill>
                  <a:srgbClr val="E3A33B"/>
                </a:solidFill>
              </a:rPr>
              <a:t>Penalti terbesar (−5) </a:t>
            </a:r>
            <a:pPr indent="0" marL="0">
              <a:buNone/>
            </a:pPr>
            <a:r>
              <a:rPr lang="en-US" sz="1500" dirty="0">
                <a:solidFill>
                  <a:srgbClr val="FFFFFF"/>
                </a:solidFill>
              </a:rPr>
              <a:t>diberikan untuk menjual ayam busuk, karena False Negative berisiko bagi kesehatan konsumen. Membuang ayam layak (False Positive) diberi −1 karena menimbulkan kerugian ekonomi.</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Hasil Reinforcement Learning: Kebijakan Agen</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Rijal</a:t>
            </a:r>
            <a:endParaRPr lang="en-US" sz="1200" dirty="0"/>
          </a:p>
        </p:txBody>
      </p:sp>
      <p:sp>
        <p:nvSpPr>
          <p:cNvPr id="5" name="Text 3"/>
          <p:cNvSpPr txBox="1"/>
          <p:nvPr/>
        </p:nvSpPr>
        <p:spPr>
          <a:xfrm>
            <a:off x="548640" y="1280160"/>
            <a:ext cx="11094415" cy="274320"/>
          </a:xfrm>
          <a:prstGeom prst="rect">
            <a:avLst/>
          </a:prstGeom>
          <a:noFill/>
          <a:ln/>
        </p:spPr>
        <p:txBody>
          <a:bodyPr wrap="square" lIns="0" tIns="0" rIns="0" bIns="0" rtlCol="0" anchor="ctr"/>
          <a:lstStyle/>
          <a:p>
            <a:pPr indent="0" marL="0">
              <a:buNone/>
            </a:pPr>
            <a:r>
              <a:rPr lang="en-US" sz="1200" b="1" spc="200" kern="0" dirty="0">
                <a:solidFill>
                  <a:srgbClr val="0F5257"/>
                </a:solidFill>
              </a:rPr>
              <a:t>RATA-RATA REWARD PER AKSI DI SETIAP STATE</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83924"/>
                <a:gridCol w="1375341"/>
                <a:gridCol w="1558719"/>
                <a:gridCol w="1191962"/>
                <a:gridCol w="1375341"/>
                <a:gridCol w="1191962"/>
                <a:gridCol w="2017166"/>
              </a:tblGrid>
              <a:tr h="411480">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State (prediksi model)</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Jumlah sampel</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Proporsi Spoiled</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Jual</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Cek manual</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Buang</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Aksi terpilih</a:t>
                      </a:r>
                      <a:endParaRPr lang="en-US" sz="13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411480">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Fresh (yakin)</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811</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Jual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411480">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Fresh (ragu)</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Jual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411480">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Semi-fresh (yakin)</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655</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0,35</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Cek manual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r>
              <a:tr h="411480">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Semi-fresh (ragu)</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730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25,1%</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Cek manual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411480">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Spoiled (yakin)</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833</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−4,25</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Buang</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411480">
                <a:tc>
                  <a:txBody>
                    <a:bodyPr/>
                    <a:lstStyle/>
                    <a:p>
                      <a:pPr algn="l" indent="0" marL="0">
                        <a:buNone/>
                      </a:pPr>
                      <a:r>
                        <a:rPr lang="en-US" sz="1400" dirty="0">
                          <a:solidFill>
                            <a:srgbClr val="16262B"/>
                          </a:solidFill>
                          <a:latin typeface="Calibri" pitchFamily="34" charset="0"/>
                          <a:ea typeface="Calibri" pitchFamily="34" charset="-122"/>
                          <a:cs typeface="Calibri" pitchFamily="34" charset="-120"/>
                        </a:rPr>
                        <a:t>Spoiled (ragu)</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251</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57,8%</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−2,47</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dirty="0">
                          <a:solidFill>
                            <a:srgbClr val="16262B"/>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00" b="1" dirty="0">
                          <a:solidFill>
                            <a:srgbClr val="16262B"/>
                          </a:solidFill>
                          <a:latin typeface="Calibri" pitchFamily="34" charset="0"/>
                          <a:ea typeface="Calibri" pitchFamily="34" charset="-122"/>
                          <a:cs typeface="Calibri" pitchFamily="34" charset="-120"/>
                        </a:rPr>
                        <a:t>Cek manual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bl>
          </a:graphicData>
        </a:graphic>
      </p:graphicFrame>
      <p:sp>
        <p:nvSpPr>
          <p:cNvPr id="7" name="Shape 4"/>
          <p:cNvSpPr/>
          <p:nvPr/>
        </p:nvSpPr>
        <p:spPr>
          <a:xfrm>
            <a:off x="548640" y="4709160"/>
            <a:ext cx="11094415" cy="1005840"/>
          </a:xfrm>
          <a:prstGeom prst="roundRect">
            <a:avLst>
              <a:gd name="adj" fmla="val 10909"/>
            </a:avLst>
          </a:prstGeom>
          <a:solidFill>
            <a:srgbClr val="0F3D3E"/>
          </a:solidFill>
          <a:ln w="12700">
            <a:solidFill>
              <a:srgbClr val="0F3D3E"/>
            </a:solidFill>
            <a:prstDash val="solid"/>
          </a:ln>
        </p:spPr>
      </p:sp>
      <p:sp>
        <p:nvSpPr>
          <p:cNvPr id="8" name="Text 5"/>
          <p:cNvSpPr txBox="1"/>
          <p:nvPr/>
        </p:nvSpPr>
        <p:spPr>
          <a:xfrm>
            <a:off x="868680" y="4709160"/>
            <a:ext cx="10454335" cy="1005840"/>
          </a:xfrm>
          <a:prstGeom prst="rect">
            <a:avLst/>
          </a:prstGeom>
          <a:noFill/>
          <a:ln/>
        </p:spPr>
        <p:txBody>
          <a:bodyPr wrap="square" lIns="0" tIns="0" rIns="0" bIns="0" rtlCol="0" anchor="ctr"/>
          <a:lstStyle/>
          <a:p>
            <a:pPr indent="0" marL="0">
              <a:buNone/>
            </a:pPr>
            <a:r>
              <a:rPr lang="en-US" sz="1500" b="1" dirty="0">
                <a:solidFill>
                  <a:srgbClr val="E3A33B"/>
                </a:solidFill>
              </a:rPr>
              <a:t>Temuan: </a:t>
            </a:r>
            <a:pPr indent="0" marL="0">
              <a:buNone/>
            </a:pPr>
            <a:r>
              <a:rPr lang="en-US" sz="1500" dirty="0">
                <a:solidFill>
                  <a:srgbClr val="FFFFFF"/>
                </a:solidFill>
              </a:rPr>
              <a:t>sampel Semi-fresh (yakin) mengandung 10,8% ayam Spoiled, sehingga rata-rata reward Jual (0,35) lebih rendah daripada Cek manual (0,50). Agen menemukan aturan ini sendiri melalui trial and error, tanpa diberi aturan.</a:t>
            </a:r>
            <a:endParaRPr lang="en-US" sz="1500" dirty="0"/>
          </a:p>
        </p:txBody>
      </p:sp>
      <p:sp>
        <p:nvSpPr>
          <p:cNvPr id="9" name="Text 6"/>
          <p:cNvSpPr txBox="1"/>
          <p:nvPr/>
        </p:nvSpPr>
        <p:spPr>
          <a:xfrm>
            <a:off x="548640" y="5806440"/>
            <a:ext cx="11094415" cy="274320"/>
          </a:xfrm>
          <a:prstGeom prst="rect">
            <a:avLst/>
          </a:prstGeom>
          <a:noFill/>
          <a:ln/>
        </p:spPr>
        <p:txBody>
          <a:bodyPr wrap="square" lIns="0" tIns="0" rIns="0" bIns="0" rtlCol="0" anchor="ctr"/>
          <a:lstStyle/>
          <a:p>
            <a:pPr indent="0" marL="0">
              <a:buNone/>
            </a:pPr>
            <a:r>
              <a:rPr lang="en-US" sz="1100" dirty="0">
                <a:solidFill>
                  <a:srgbClr val="56676A"/>
                </a:solidFill>
              </a:rPr>
              <a:t>Dihitung pada seluruh sampel dengan prediksi out-of-fold Random Forest (notebook Bagian 9).</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Hasil Reinforcement Learning: Perbandingan Kebijakan</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Rijal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025750"/>
                <a:gridCol w="2200545"/>
                <a:gridCol w="1925477"/>
                <a:gridCol w="2017166"/>
                <a:gridCol w="1925477"/>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Kebijakan</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Reward rata-rata (sesi uji)</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Ayam busuk terjual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Ayam layak terbuang</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Cek manual</a:t>
                      </a:r>
                      <a:endParaRPr lang="en-US" sz="140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0F3D3E"/>
                    </a:solidFill>
                  </a:tcPr>
                </a:tc>
              </a:tr>
              <a:tr h="457200">
                <a:tc>
                  <a:txBody>
                    <a:bodyPr/>
                    <a:lstStyle/>
                    <a:p>
                      <a:pPr algn="l" indent="0" marL="0">
                        <a:buNone/>
                      </a:pPr>
                      <a:r>
                        <a:rPr lang="en-US" sz="1450" b="1" dirty="0">
                          <a:solidFill>
                            <a:srgbClr val="16262B"/>
                          </a:solidFill>
                          <a:latin typeface="Calibri" pitchFamily="34" charset="0"/>
                          <a:ea typeface="Calibri" pitchFamily="34" charset="-122"/>
                          <a:cs typeface="Calibri" pitchFamily="34" charset="-120"/>
                        </a:rPr>
                        <a:t>Agen RL (ε-greedy)</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50" b="1" dirty="0">
                          <a:solidFill>
                            <a:srgbClr val="16262B"/>
                          </a:solidFill>
                          <a:latin typeface="Calibri" pitchFamily="34" charset="0"/>
                          <a:ea typeface="Calibri" pitchFamily="34" charset="-122"/>
                          <a:cs typeface="Calibri" pitchFamily="34" charset="-120"/>
                        </a:rPr>
                        <a:t>0,61</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50" b="1" dirty="0">
                          <a:solidFill>
                            <a:srgbClr val="16262B"/>
                          </a:solidFill>
                          <a:latin typeface="Calibri" pitchFamily="34" charset="0"/>
                          <a:ea typeface="Calibri" pitchFamily="34" charset="-122"/>
                          <a:cs typeface="Calibri" pitchFamily="34" charset="-120"/>
                        </a:rPr>
                        <a:t>0</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50" b="1" dirty="0">
                          <a:solidFill>
                            <a:srgbClr val="16262B"/>
                          </a:solidFill>
                          <a:latin typeface="Calibri" pitchFamily="34" charset="0"/>
                          <a:ea typeface="Calibri" pitchFamily="34" charset="-122"/>
                          <a:cs typeface="Calibri" pitchFamily="34" charset="-120"/>
                        </a:rPr>
                        <a:t>104</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c>
                  <a:txBody>
                    <a:bodyPr/>
                    <a:lstStyle/>
                    <a:p>
                      <a:pPr algn="ctr" indent="0" marL="0">
                        <a:buNone/>
                      </a:pPr>
                      <a:r>
                        <a:rPr lang="en-US" sz="1450" b="1" dirty="0">
                          <a:solidFill>
                            <a:srgbClr val="16262B"/>
                          </a:solidFill>
                          <a:latin typeface="Calibri" pitchFamily="34" charset="0"/>
                          <a:ea typeface="Calibri" pitchFamily="34" charset="-122"/>
                          <a:cs typeface="Calibri" pitchFamily="34" charset="-120"/>
                        </a:rPr>
                        <a:t>47,2%</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BEFD7"/>
                    </a:solidFill>
                  </a:tcPr>
                </a:tc>
              </a:tr>
              <a:tr h="457200">
                <a:tc>
                  <a:txBody>
                    <a:bodyPr/>
                    <a:lstStyle/>
                    <a:p>
                      <a:pPr algn="l" indent="0" marL="0">
                        <a:buNone/>
                      </a:pPr>
                      <a:r>
                        <a:rPr lang="en-US" sz="1450" dirty="0">
                          <a:solidFill>
                            <a:srgbClr val="16262B"/>
                          </a:solidFill>
                          <a:latin typeface="Calibri" pitchFamily="34" charset="0"/>
                          <a:ea typeface="Calibri" pitchFamily="34" charset="-122"/>
                          <a:cs typeface="Calibri" pitchFamily="34" charset="-120"/>
                        </a:rPr>
                        <a:t>Selalu ikuti prediksi model</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0,44</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254</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210</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0%</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r h="457200">
                <a:tc>
                  <a:txBody>
                    <a:bodyPr/>
                    <a:lstStyle/>
                    <a:p>
                      <a:pPr algn="l" indent="0" marL="0">
                        <a:buNone/>
                      </a:pPr>
                      <a:r>
                        <a:rPr lang="en-US" sz="1450" dirty="0">
                          <a:solidFill>
                            <a:srgbClr val="16262B"/>
                          </a:solidFill>
                          <a:latin typeface="Calibri" pitchFamily="34" charset="0"/>
                          <a:ea typeface="Calibri" pitchFamily="34" charset="-122"/>
                          <a:cs typeface="Calibri" pitchFamily="34" charset="-120"/>
                        </a:rPr>
                        <a:t>Selalu cek manual</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0,50</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0</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0</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100%</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FFFFF"/>
                    </a:solidFill>
                  </a:tcPr>
                </a:tc>
              </a:tr>
              <a:tr h="457200">
                <a:tc>
                  <a:txBody>
                    <a:bodyPr/>
                    <a:lstStyle/>
                    <a:p>
                      <a:pPr algn="l" indent="0" marL="0">
                        <a:buNone/>
                      </a:pPr>
                      <a:r>
                        <a:rPr lang="en-US" sz="1450" dirty="0">
                          <a:solidFill>
                            <a:srgbClr val="16262B"/>
                          </a:solidFill>
                          <a:latin typeface="Calibri" pitchFamily="34" charset="0"/>
                          <a:ea typeface="Calibri" pitchFamily="34" charset="-122"/>
                          <a:cs typeface="Calibri" pitchFamily="34" charset="-120"/>
                        </a:rPr>
                        <a:t>Aksi acak</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−0,27</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c>
                  <a:txBody>
                    <a:bodyPr/>
                    <a:lstStyle/>
                    <a:p>
                      <a:pPr algn="ctr" indent="0" marL="0">
                        <a:buNone/>
                      </a:pPr>
                      <a:r>
                        <a:rPr lang="en-US" sz="1450" dirty="0">
                          <a:solidFill>
                            <a:srgbClr val="16262B"/>
                          </a:solidFill>
                          <a:latin typeface="Calibri" pitchFamily="34" charset="0"/>
                          <a:ea typeface="Calibri" pitchFamily="34" charset="-122"/>
                          <a:cs typeface="Calibri" pitchFamily="34" charset="-120"/>
                        </a:rPr>
                        <a:t>—</a:t>
                      </a:r>
                      <a:endParaRPr lang="en-US" sz="1450" dirty="0">
                        <a:latin typeface="Calibri" charset="0"/>
                        <a:ea typeface="Calibri" charset="0"/>
                        <a:cs typeface="Calibri" charset="0"/>
                      </a:endParaRPr>
                    </a:p>
                  </a:txBody>
                  <a:tcPr marL="73152" marR="73152" marT="27432" marB="27432" anchor="ctr">
                    <a:lnL w="9525" cap="flat" cmpd="sng" algn="ctr">
                      <a:solidFill>
                        <a:srgbClr val="DCE5E2"/>
                      </a:solidFill>
                      <a:prstDash val="solid"/>
                      <a:round/>
                      <a:headEnd type="none" w="med" len="med"/>
                      <a:tailEnd type="none" w="med" len="med"/>
                    </a:lnL>
                    <a:lnR w="9525" cap="flat" cmpd="sng" algn="ctr">
                      <a:solidFill>
                        <a:srgbClr val="DCE5E2"/>
                      </a:solidFill>
                      <a:prstDash val="solid"/>
                      <a:round/>
                      <a:headEnd type="none" w="med" len="med"/>
                      <a:tailEnd type="none" w="med" len="med"/>
                    </a:lnR>
                    <a:lnT w="9525" cap="flat" cmpd="sng" algn="ctr">
                      <a:solidFill>
                        <a:srgbClr val="DCE5E2"/>
                      </a:solidFill>
                      <a:prstDash val="solid"/>
                      <a:round/>
                      <a:headEnd type="none" w="med" len="med"/>
                      <a:tailEnd type="none" w="med" len="med"/>
                    </a:lnT>
                    <a:lnB w="9525" cap="flat" cmpd="sng" algn="ctr">
                      <a:solidFill>
                        <a:srgbClr val="DCE5E2"/>
                      </a:solidFill>
                      <a:prstDash val="solid"/>
                      <a:round/>
                      <a:headEnd type="none" w="med" len="med"/>
                      <a:tailEnd type="none" w="med" len="med"/>
                    </a:lnB>
                    <a:solidFill>
                      <a:srgbClr val="F6F9F8"/>
                    </a:solidFill>
                  </a:tcPr>
                </a:tc>
              </a:tr>
            </a:tbl>
          </a:graphicData>
        </a:graphic>
      </p:graphicFrame>
      <p:sp>
        <p:nvSpPr>
          <p:cNvPr id="6" name="Text 3"/>
          <p:cNvSpPr txBox="1"/>
          <p:nvPr/>
        </p:nvSpPr>
        <p:spPr>
          <a:xfrm>
            <a:off x="548640" y="3657600"/>
            <a:ext cx="11094415" cy="274320"/>
          </a:xfrm>
          <a:prstGeom prst="rect">
            <a:avLst/>
          </a:prstGeom>
          <a:noFill/>
          <a:ln/>
        </p:spPr>
        <p:txBody>
          <a:bodyPr wrap="square" lIns="0" tIns="0" rIns="0" bIns="0" rtlCol="0" anchor="ctr"/>
          <a:lstStyle/>
          <a:p>
            <a:pPr indent="0" marL="0">
              <a:buNone/>
            </a:pPr>
            <a:r>
              <a:rPr lang="en-US" sz="1100" dirty="0">
                <a:solidFill>
                  <a:srgbClr val="56676A"/>
                </a:solidFill>
              </a:rPr>
              <a:t>Jumlah ayam dihitung pada seluruh 3.468 sampel (1.128 Spoiled, 2.340 layak).</a:t>
            </a:r>
            <a:endParaRPr lang="en-US" sz="1100" dirty="0"/>
          </a:p>
        </p:txBody>
      </p:sp>
      <p:sp>
        <p:nvSpPr>
          <p:cNvPr id="7" name="Shape 4"/>
          <p:cNvSpPr/>
          <p:nvPr/>
        </p:nvSpPr>
        <p:spPr>
          <a:xfrm>
            <a:off x="548640" y="4114800"/>
            <a:ext cx="3545738" cy="1920240"/>
          </a:xfrm>
          <a:prstGeom prst="roundRect">
            <a:avLst>
              <a:gd name="adj" fmla="val 5714"/>
            </a:avLst>
          </a:prstGeom>
          <a:solidFill>
            <a:srgbClr val="EEF4F2"/>
          </a:solidFill>
          <a:ln w="12700">
            <a:solidFill>
              <a:srgbClr val="EEF4F2"/>
            </a:solidFill>
            <a:prstDash val="solid"/>
          </a:ln>
        </p:spPr>
      </p:sp>
      <p:sp>
        <p:nvSpPr>
          <p:cNvPr id="8" name="Text 5"/>
          <p:cNvSpPr txBox="1"/>
          <p:nvPr/>
        </p:nvSpPr>
        <p:spPr>
          <a:xfrm>
            <a:off x="822960" y="4206240"/>
            <a:ext cx="2997098" cy="822960"/>
          </a:xfrm>
          <a:prstGeom prst="rect">
            <a:avLst/>
          </a:prstGeom>
          <a:noFill/>
          <a:ln/>
        </p:spPr>
        <p:txBody>
          <a:bodyPr wrap="square" lIns="0" tIns="0" rIns="0" bIns="0" rtlCol="0" anchor="b"/>
          <a:lstStyle/>
          <a:p>
            <a:pPr indent="0" marL="0">
              <a:buNone/>
            </a:pPr>
            <a:r>
              <a:rPr lang="en-US" sz="4400" b="1" dirty="0">
                <a:solidFill>
                  <a:srgbClr val="0F5257"/>
                </a:solidFill>
                <a:latin typeface="Cambria" pitchFamily="34" charset="0"/>
                <a:ea typeface="Cambria" pitchFamily="34" charset="-122"/>
                <a:cs typeface="Cambria" pitchFamily="34" charset="-120"/>
              </a:rPr>
              <a:t>0</a:t>
            </a:r>
            <a:endParaRPr lang="en-US" sz="4400" dirty="0"/>
          </a:p>
        </p:txBody>
      </p:sp>
      <p:sp>
        <p:nvSpPr>
          <p:cNvPr id="9" name="Text 6"/>
          <p:cNvSpPr txBox="1"/>
          <p:nvPr/>
        </p:nvSpPr>
        <p:spPr>
          <a:xfrm>
            <a:off x="822960" y="5074920"/>
            <a:ext cx="2997098" cy="548640"/>
          </a:xfrm>
          <a:prstGeom prst="rect">
            <a:avLst/>
          </a:prstGeom>
          <a:noFill/>
          <a:ln/>
        </p:spPr>
        <p:txBody>
          <a:bodyPr wrap="square" lIns="0" tIns="0" rIns="0" bIns="0" rtlCol="0" anchor="t"/>
          <a:lstStyle/>
          <a:p>
            <a:pPr indent="0" marL="0">
              <a:buNone/>
            </a:pPr>
            <a:r>
              <a:rPr lang="en-US" sz="1300" dirty="0">
                <a:solidFill>
                  <a:srgbClr val="56676A"/>
                </a:solidFill>
              </a:rPr>
              <a:t>ayam busuk terjual (vs 254 jika mengikuti prediksi model)</a:t>
            </a:r>
            <a:endParaRPr lang="en-US" sz="1300" dirty="0"/>
          </a:p>
        </p:txBody>
      </p:sp>
      <p:sp>
        <p:nvSpPr>
          <p:cNvPr id="10" name="Shape 7"/>
          <p:cNvSpPr/>
          <p:nvPr/>
        </p:nvSpPr>
        <p:spPr>
          <a:xfrm>
            <a:off x="4322978" y="4114800"/>
            <a:ext cx="3545738" cy="1920240"/>
          </a:xfrm>
          <a:prstGeom prst="roundRect">
            <a:avLst>
              <a:gd name="adj" fmla="val 5714"/>
            </a:avLst>
          </a:prstGeom>
          <a:solidFill>
            <a:srgbClr val="EEF4F2"/>
          </a:solidFill>
          <a:ln w="12700">
            <a:solidFill>
              <a:srgbClr val="EEF4F2"/>
            </a:solidFill>
            <a:prstDash val="solid"/>
          </a:ln>
        </p:spPr>
      </p:sp>
      <p:sp>
        <p:nvSpPr>
          <p:cNvPr id="11" name="Text 8"/>
          <p:cNvSpPr txBox="1"/>
          <p:nvPr/>
        </p:nvSpPr>
        <p:spPr>
          <a:xfrm>
            <a:off x="4597298" y="4206240"/>
            <a:ext cx="2997098" cy="822960"/>
          </a:xfrm>
          <a:prstGeom prst="rect">
            <a:avLst/>
          </a:prstGeom>
          <a:noFill/>
          <a:ln/>
        </p:spPr>
        <p:txBody>
          <a:bodyPr wrap="square" lIns="0" tIns="0" rIns="0" bIns="0" rtlCol="0" anchor="b"/>
          <a:lstStyle/>
          <a:p>
            <a:pPr indent="0" marL="0">
              <a:buNone/>
            </a:pPr>
            <a:r>
              <a:rPr lang="en-US" sz="4400" b="1" dirty="0">
                <a:solidFill>
                  <a:srgbClr val="0F5257"/>
                </a:solidFill>
                <a:latin typeface="Cambria" pitchFamily="34" charset="0"/>
                <a:ea typeface="Cambria" pitchFamily="34" charset="-122"/>
                <a:cs typeface="Cambria" pitchFamily="34" charset="-120"/>
              </a:rPr>
              <a:t>0,61</a:t>
            </a:r>
            <a:endParaRPr lang="en-US" sz="4400" dirty="0"/>
          </a:p>
        </p:txBody>
      </p:sp>
      <p:sp>
        <p:nvSpPr>
          <p:cNvPr id="12" name="Text 9"/>
          <p:cNvSpPr txBox="1"/>
          <p:nvPr/>
        </p:nvSpPr>
        <p:spPr>
          <a:xfrm>
            <a:off x="4597298" y="5074920"/>
            <a:ext cx="2997098" cy="548640"/>
          </a:xfrm>
          <a:prstGeom prst="rect">
            <a:avLst/>
          </a:prstGeom>
          <a:noFill/>
          <a:ln/>
        </p:spPr>
        <p:txBody>
          <a:bodyPr wrap="square" lIns="0" tIns="0" rIns="0" bIns="0" rtlCol="0" anchor="t"/>
          <a:lstStyle/>
          <a:p>
            <a:pPr indent="0" marL="0">
              <a:buNone/>
            </a:pPr>
            <a:r>
              <a:rPr lang="en-US" sz="1300" dirty="0">
                <a:solidFill>
                  <a:srgbClr val="56676A"/>
                </a:solidFill>
              </a:rPr>
              <a:t>reward agen (vs 0,44 jika mengikuti prediksi model)</a:t>
            </a:r>
            <a:endParaRPr lang="en-US" sz="1300" dirty="0"/>
          </a:p>
        </p:txBody>
      </p:sp>
      <p:sp>
        <p:nvSpPr>
          <p:cNvPr id="13" name="Shape 10"/>
          <p:cNvSpPr/>
          <p:nvPr/>
        </p:nvSpPr>
        <p:spPr>
          <a:xfrm>
            <a:off x="8097317" y="4114800"/>
            <a:ext cx="3545738" cy="1920240"/>
          </a:xfrm>
          <a:prstGeom prst="roundRect">
            <a:avLst>
              <a:gd name="adj" fmla="val 5714"/>
            </a:avLst>
          </a:prstGeom>
          <a:solidFill>
            <a:srgbClr val="EEF4F2"/>
          </a:solidFill>
          <a:ln w="12700">
            <a:solidFill>
              <a:srgbClr val="EEF4F2"/>
            </a:solidFill>
            <a:prstDash val="solid"/>
          </a:ln>
        </p:spPr>
      </p:sp>
      <p:sp>
        <p:nvSpPr>
          <p:cNvPr id="14" name="Text 11"/>
          <p:cNvSpPr txBox="1"/>
          <p:nvPr/>
        </p:nvSpPr>
        <p:spPr>
          <a:xfrm>
            <a:off x="8371637" y="4206240"/>
            <a:ext cx="2997098" cy="822960"/>
          </a:xfrm>
          <a:prstGeom prst="rect">
            <a:avLst/>
          </a:prstGeom>
          <a:noFill/>
          <a:ln/>
        </p:spPr>
        <p:txBody>
          <a:bodyPr wrap="square" lIns="0" tIns="0" rIns="0" bIns="0" rtlCol="0" anchor="b"/>
          <a:lstStyle/>
          <a:p>
            <a:pPr indent="0" marL="0">
              <a:buNone/>
            </a:pPr>
            <a:r>
              <a:rPr lang="en-US" sz="4400" b="1" dirty="0">
                <a:solidFill>
                  <a:srgbClr val="C4553B"/>
                </a:solidFill>
                <a:latin typeface="Cambria" pitchFamily="34" charset="0"/>
                <a:ea typeface="Cambria" pitchFamily="34" charset="-122"/>
                <a:cs typeface="Cambria" pitchFamily="34" charset="-120"/>
              </a:rPr>
              <a:t>47,2%</a:t>
            </a:r>
            <a:endParaRPr lang="en-US" sz="4400" dirty="0"/>
          </a:p>
        </p:txBody>
      </p:sp>
      <p:sp>
        <p:nvSpPr>
          <p:cNvPr id="15" name="Text 12"/>
          <p:cNvSpPr txBox="1"/>
          <p:nvPr/>
        </p:nvSpPr>
        <p:spPr>
          <a:xfrm>
            <a:off x="8371637" y="5074920"/>
            <a:ext cx="2997098" cy="548640"/>
          </a:xfrm>
          <a:prstGeom prst="rect">
            <a:avLst/>
          </a:prstGeom>
          <a:noFill/>
          <a:ln/>
        </p:spPr>
        <p:txBody>
          <a:bodyPr wrap="square" lIns="0" tIns="0" rIns="0" bIns="0" rtlCol="0" anchor="t"/>
          <a:lstStyle/>
          <a:p>
            <a:pPr indent="0" marL="0">
              <a:buNone/>
            </a:pPr>
            <a:r>
              <a:rPr lang="en-US" sz="1300" dirty="0">
                <a:solidFill>
                  <a:srgbClr val="56676A"/>
                </a:solidFill>
              </a:rPr>
              <a:t>kasus memerlukan cek manual (trade-off)</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Hasil RL: Penambahan Iterasi dan Data</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Rijal</a:t>
            </a:r>
            <a:endParaRPr lang="en-US" sz="1200" dirty="0"/>
          </a:p>
        </p:txBody>
      </p:sp>
      <p:pic>
        <p:nvPicPr>
          <p:cNvPr id="5" name="Image 0" descr="/Users/angga0704/ets-ml2-kelompok/hasil/08_rl_kurva.png">    </p:cNvPr>
          <p:cNvPicPr>
            <a:picLocks noChangeAspect="1"/>
          </p:cNvPicPr>
          <p:nvPr/>
        </p:nvPicPr>
        <p:blipFill>
          <a:blip r:embed="rId1"/>
          <a:stretch>
            <a:fillRect/>
          </a:stretch>
        </p:blipFill>
        <p:spPr>
          <a:xfrm>
            <a:off x="548640" y="1336113"/>
            <a:ext cx="5396332" cy="3134214"/>
          </a:xfrm>
          <a:prstGeom prst="rect">
            <a:avLst/>
          </a:prstGeom>
        </p:spPr>
      </p:pic>
      <p:pic>
        <p:nvPicPr>
          <p:cNvPr id="6" name="Image 1" descr="/Users/angga0704/ets-ml2-kelompok/hasil/09_tambah_sesi.png">    </p:cNvPr>
          <p:cNvPicPr>
            <a:picLocks noChangeAspect="1"/>
          </p:cNvPicPr>
          <p:nvPr/>
        </p:nvPicPr>
        <p:blipFill>
          <a:blip r:embed="rId2"/>
          <a:stretch>
            <a:fillRect/>
          </a:stretch>
        </p:blipFill>
        <p:spPr>
          <a:xfrm>
            <a:off x="6246724" y="1207043"/>
            <a:ext cx="5396332" cy="3392354"/>
          </a:xfrm>
          <a:prstGeom prst="rect">
            <a:avLst/>
          </a:prstGeom>
        </p:spPr>
      </p:pic>
      <p:sp>
        <p:nvSpPr>
          <p:cNvPr id="7" name="Shape 3"/>
          <p:cNvSpPr/>
          <p:nvPr/>
        </p:nvSpPr>
        <p:spPr>
          <a:xfrm>
            <a:off x="548640" y="4754880"/>
            <a:ext cx="5396332" cy="1280160"/>
          </a:xfrm>
          <a:prstGeom prst="roundRect">
            <a:avLst>
              <a:gd name="adj" fmla="val 8571"/>
            </a:avLst>
          </a:prstGeom>
          <a:solidFill>
            <a:srgbClr val="0F3D3E"/>
          </a:solidFill>
          <a:ln w="12700">
            <a:solidFill>
              <a:srgbClr val="0F3D3E"/>
            </a:solidFill>
            <a:prstDash val="solid"/>
          </a:ln>
        </p:spPr>
      </p:sp>
      <p:sp>
        <p:nvSpPr>
          <p:cNvPr id="8" name="Text 4"/>
          <p:cNvSpPr txBox="1"/>
          <p:nvPr/>
        </p:nvSpPr>
        <p:spPr>
          <a:xfrm>
            <a:off x="822960" y="4754880"/>
            <a:ext cx="4847692" cy="1280160"/>
          </a:xfrm>
          <a:prstGeom prst="rect">
            <a:avLst/>
          </a:prstGeom>
          <a:noFill/>
          <a:ln/>
        </p:spPr>
        <p:txBody>
          <a:bodyPr wrap="square" lIns="0" tIns="0" rIns="0" bIns="0" rtlCol="0" anchor="ctr"/>
          <a:lstStyle/>
          <a:p>
            <a:pPr indent="0" marL="0">
              <a:buNone/>
            </a:pPr>
            <a:r>
              <a:rPr lang="en-US" sz="1400" b="1" dirty="0">
                <a:solidFill>
                  <a:srgbClr val="E3A33B"/>
                </a:solidFill>
              </a:rPr>
              <a:t>Penambahan iterasi: </a:t>
            </a:r>
            <a:pPr indent="0" marL="0">
              <a:buNone/>
            </a:pPr>
            <a:r>
              <a:rPr lang="en-US" sz="1400" dirty="0">
                <a:solidFill>
                  <a:srgbClr val="FFFFFF"/>
                </a:solidFill>
              </a:rPr>
              <a:t>reward agen −0,80 (iterasi 1) → 0,53 (iterasi 100) → 0,61 (iterasi 3.000).</a:t>
            </a:r>
            <a:endParaRPr lang="en-US" sz="1400" dirty="0"/>
          </a:p>
        </p:txBody>
      </p:sp>
      <p:sp>
        <p:nvSpPr>
          <p:cNvPr id="9" name="Shape 5"/>
          <p:cNvSpPr/>
          <p:nvPr/>
        </p:nvSpPr>
        <p:spPr>
          <a:xfrm>
            <a:off x="6246724" y="4754880"/>
            <a:ext cx="5396332" cy="1280160"/>
          </a:xfrm>
          <a:prstGeom prst="roundRect">
            <a:avLst>
              <a:gd name="adj" fmla="val 8571"/>
            </a:avLst>
          </a:prstGeom>
          <a:solidFill>
            <a:srgbClr val="0F3D3E"/>
          </a:solidFill>
          <a:ln w="12700">
            <a:solidFill>
              <a:srgbClr val="0F3D3E"/>
            </a:solidFill>
            <a:prstDash val="solid"/>
          </a:ln>
        </p:spPr>
      </p:sp>
      <p:sp>
        <p:nvSpPr>
          <p:cNvPr id="10" name="Text 6"/>
          <p:cNvSpPr txBox="1"/>
          <p:nvPr/>
        </p:nvSpPr>
        <p:spPr>
          <a:xfrm>
            <a:off x="6521044" y="4754880"/>
            <a:ext cx="4847692" cy="1280160"/>
          </a:xfrm>
          <a:prstGeom prst="rect">
            <a:avLst/>
          </a:prstGeom>
          <a:noFill/>
          <a:ln/>
        </p:spPr>
        <p:txBody>
          <a:bodyPr wrap="square" lIns="0" tIns="0" rIns="0" bIns="0" rtlCol="0" anchor="ctr"/>
          <a:lstStyle/>
          <a:p>
            <a:pPr indent="0" marL="0">
              <a:buNone/>
            </a:pPr>
            <a:r>
              <a:rPr lang="en-US" sz="1400" b="1" dirty="0">
                <a:solidFill>
                  <a:srgbClr val="E3A33B"/>
                </a:solidFill>
              </a:rPr>
              <a:t>Penambahan data: </a:t>
            </a:r>
            <a:pPr indent="0" marL="0">
              <a:buNone/>
            </a:pPr>
            <a:r>
              <a:rPr lang="en-US" sz="1400" dirty="0">
                <a:solidFill>
                  <a:srgbClr val="FFFFFF"/>
                </a:solidFill>
              </a:rPr>
              <a:t>F1-Macro Random Forest 0,58 (1 sesi latih) → 0,75 (14 sesi latih). Data asli lebih efektif daripada augmentasi sintetis.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Hasil dan Analisis</a:t>
            </a:r>
            <a:endParaRPr lang="en-US" sz="26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Rijal</a:t>
            </a:r>
            <a:endParaRPr lang="en-US" sz="1200" dirty="0"/>
          </a:p>
        </p:txBody>
      </p:sp>
      <p:sp>
        <p:nvSpPr>
          <p:cNvPr id="5" name="Shape 3"/>
          <p:cNvSpPr/>
          <p:nvPr/>
        </p:nvSpPr>
        <p:spPr>
          <a:xfrm>
            <a:off x="548640" y="1280160"/>
            <a:ext cx="2602154" cy="4800600"/>
          </a:xfrm>
          <a:prstGeom prst="roundRect">
            <a:avLst>
              <a:gd name="adj" fmla="val 4217"/>
            </a:avLst>
          </a:prstGeom>
          <a:solidFill>
            <a:srgbClr val="0F3D3E"/>
          </a:solidFill>
          <a:ln w="12700">
            <a:solidFill>
              <a:srgbClr val="0F3D3E"/>
            </a:solidFill>
            <a:prstDash val="solid"/>
          </a:ln>
        </p:spPr>
      </p:sp>
      <p:sp>
        <p:nvSpPr>
          <p:cNvPr id="6" name="Text 4"/>
          <p:cNvSpPr txBox="1"/>
          <p:nvPr/>
        </p:nvSpPr>
        <p:spPr>
          <a:xfrm>
            <a:off x="822960" y="1417320"/>
            <a:ext cx="914400" cy="685800"/>
          </a:xfrm>
          <a:prstGeom prst="rect">
            <a:avLst/>
          </a:prstGeom>
          <a:noFill/>
          <a:ln/>
        </p:spPr>
        <p:txBody>
          <a:bodyPr wrap="square" lIns="0" tIns="0" rIns="0" bIns="0" rtlCol="0" anchor="ctr"/>
          <a:lstStyle/>
          <a:p>
            <a:pPr indent="0" marL="0">
              <a:buNone/>
            </a:pPr>
            <a:r>
              <a:rPr lang="en-US" sz="4000" dirty="0">
                <a:solidFill>
                  <a:srgbClr val="E3A33B"/>
                </a:solidFill>
                <a:latin typeface="Cambria" pitchFamily="34" charset="0"/>
                <a:ea typeface="Cambria" pitchFamily="34" charset="-122"/>
                <a:cs typeface="Cambria" pitchFamily="34" charset="-120"/>
              </a:rPr>
              <a:t>1</a:t>
            </a:r>
            <a:endParaRPr lang="en-US" sz="4000" dirty="0"/>
          </a:p>
        </p:txBody>
      </p:sp>
      <p:sp>
        <p:nvSpPr>
          <p:cNvPr id="7" name="Text 5"/>
          <p:cNvSpPr txBox="1"/>
          <p:nvPr/>
        </p:nvSpPr>
        <p:spPr>
          <a:xfrm>
            <a:off x="822960" y="2148840"/>
            <a:ext cx="2053514" cy="411480"/>
          </a:xfrm>
          <a:prstGeom prst="rect">
            <a:avLst/>
          </a:prstGeom>
          <a:noFill/>
          <a:ln/>
        </p:spPr>
        <p:txBody>
          <a:bodyPr wrap="square" lIns="0" tIns="0" rIns="0" bIns="0" rtlCol="0" anchor="ctr"/>
          <a:lstStyle/>
          <a:p>
            <a:pPr indent="0" marL="0">
              <a:buNone/>
            </a:pPr>
            <a:r>
              <a:rPr lang="en-US" sz="1800" b="1" dirty="0">
                <a:solidFill>
                  <a:srgbClr val="FFFFFF"/>
                </a:solidFill>
              </a:rPr>
              <a:t>Batasan</a:t>
            </a:r>
            <a:endParaRPr lang="en-US" sz="1800" dirty="0"/>
          </a:p>
        </p:txBody>
      </p:sp>
      <p:sp>
        <p:nvSpPr>
          <p:cNvPr id="8" name="Text 6"/>
          <p:cNvSpPr txBox="1"/>
          <p:nvPr/>
        </p:nvSpPr>
        <p:spPr>
          <a:xfrm>
            <a:off x="822960" y="2651760"/>
            <a:ext cx="2144954" cy="33375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CADBD7"/>
                </a:solidFill>
              </a:rPr>
              <a:t>Hanya 15 sesi dari satu penelitian.</a:t>
            </a:r>
            <a:endParaRPr lang="en-US" sz="1250" dirty="0"/>
          </a:p>
          <a:p>
            <a:pPr marL="342900" indent="-342900">
              <a:spcAft>
                <a:spcPts val="600"/>
              </a:spcAft>
              <a:buSzPct val="100000"/>
              <a:buChar char="•"/>
            </a:pPr>
            <a:r>
              <a:rPr lang="en-US" sz="1250" dirty="0">
                <a:solidFill>
                  <a:srgbClr val="CADBD7"/>
                </a:solidFill>
              </a:rPr>
              <a:t>Label berdasarkan lama penyimpanan, bukan uji mikrobiologi.</a:t>
            </a:r>
            <a:endParaRPr lang="en-US" sz="1250" dirty="0"/>
          </a:p>
          <a:p>
            <a:pPr marL="342900" indent="-342900">
              <a:spcAft>
                <a:spcPts val="600"/>
              </a:spcAft>
              <a:buSzPct val="100000"/>
              <a:buChar char="•"/>
            </a:pPr>
            <a:r>
              <a:rPr lang="en-US" sz="1250" dirty="0">
                <a:solidFill>
                  <a:srgbClr val="CADBD7"/>
                </a:solidFill>
              </a:rPr>
              <a:t>Nilai reward ditetapkan berdasarkan asumsi risiko.</a:t>
            </a:r>
            <a:endParaRPr lang="en-US" sz="1250" dirty="0"/>
          </a:p>
        </p:txBody>
      </p:sp>
      <p:sp>
        <p:nvSpPr>
          <p:cNvPr id="9" name="Shape 7"/>
          <p:cNvSpPr/>
          <p:nvPr/>
        </p:nvSpPr>
        <p:spPr>
          <a:xfrm>
            <a:off x="3379394" y="1280160"/>
            <a:ext cx="2602154" cy="4800600"/>
          </a:xfrm>
          <a:prstGeom prst="roundRect">
            <a:avLst>
              <a:gd name="adj" fmla="val 4217"/>
            </a:avLst>
          </a:prstGeom>
          <a:solidFill>
            <a:srgbClr val="0F3D3E"/>
          </a:solidFill>
          <a:ln w="12700">
            <a:solidFill>
              <a:srgbClr val="0F3D3E"/>
            </a:solidFill>
            <a:prstDash val="solid"/>
          </a:ln>
        </p:spPr>
      </p:sp>
      <p:sp>
        <p:nvSpPr>
          <p:cNvPr id="10" name="Text 8"/>
          <p:cNvSpPr txBox="1"/>
          <p:nvPr/>
        </p:nvSpPr>
        <p:spPr>
          <a:xfrm>
            <a:off x="3653714" y="1417320"/>
            <a:ext cx="914400" cy="685800"/>
          </a:xfrm>
          <a:prstGeom prst="rect">
            <a:avLst/>
          </a:prstGeom>
          <a:noFill/>
          <a:ln/>
        </p:spPr>
        <p:txBody>
          <a:bodyPr wrap="square" lIns="0" tIns="0" rIns="0" bIns="0" rtlCol="0" anchor="ctr"/>
          <a:lstStyle/>
          <a:p>
            <a:pPr indent="0" marL="0">
              <a:buNone/>
            </a:pPr>
            <a:r>
              <a:rPr lang="en-US" sz="4000" dirty="0">
                <a:solidFill>
                  <a:srgbClr val="E3A33B"/>
                </a:solidFill>
                <a:latin typeface="Cambria" pitchFamily="34" charset="0"/>
                <a:ea typeface="Cambria" pitchFamily="34" charset="-122"/>
                <a:cs typeface="Cambria" pitchFamily="34" charset="-120"/>
              </a:rPr>
              <a:t>2</a:t>
            </a:r>
            <a:endParaRPr lang="en-US" sz="4000" dirty="0"/>
          </a:p>
        </p:txBody>
      </p:sp>
      <p:sp>
        <p:nvSpPr>
          <p:cNvPr id="11" name="Text 9"/>
          <p:cNvSpPr txBox="1"/>
          <p:nvPr/>
        </p:nvSpPr>
        <p:spPr>
          <a:xfrm>
            <a:off x="3653714" y="2148840"/>
            <a:ext cx="2053514" cy="411480"/>
          </a:xfrm>
          <a:prstGeom prst="rect">
            <a:avLst/>
          </a:prstGeom>
          <a:noFill/>
          <a:ln/>
        </p:spPr>
        <p:txBody>
          <a:bodyPr wrap="square" lIns="0" tIns="0" rIns="0" bIns="0" rtlCol="0" anchor="ctr"/>
          <a:lstStyle/>
          <a:p>
            <a:pPr indent="0" marL="0">
              <a:buNone/>
            </a:pPr>
            <a:r>
              <a:rPr lang="en-US" sz="1800" b="1" dirty="0">
                <a:solidFill>
                  <a:srgbClr val="FFFFFF"/>
                </a:solidFill>
              </a:rPr>
              <a:t>Sumber Galat</a:t>
            </a:r>
            <a:endParaRPr lang="en-US" sz="1800" dirty="0"/>
          </a:p>
        </p:txBody>
      </p:sp>
      <p:sp>
        <p:nvSpPr>
          <p:cNvPr id="12" name="Text 10"/>
          <p:cNvSpPr txBox="1"/>
          <p:nvPr/>
        </p:nvSpPr>
        <p:spPr>
          <a:xfrm>
            <a:off x="3653714" y="2651760"/>
            <a:ext cx="2144954" cy="33375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CADBD7"/>
                </a:solidFill>
              </a:rPr>
              <a:t>Kesalahan terbanyak pada Semi-fresh (recall 74,1%).</a:t>
            </a:r>
            <a:endParaRPr lang="en-US" sz="1250" dirty="0"/>
          </a:p>
          <a:p>
            <a:pPr marL="342900" indent="-342900">
              <a:spcAft>
                <a:spcPts val="600"/>
              </a:spcAft>
              <a:buSzPct val="100000"/>
              <a:buChar char="•"/>
            </a:pPr>
            <a:r>
              <a:rPr lang="en-US" sz="1250" dirty="0">
                <a:solidFill>
                  <a:srgbClr val="CADBD7"/>
                </a:solidFill>
              </a:rPr>
              <a:t>Sesi 9 dan 1 tersulit (akurasi 55,3% dan 59,8%): puncak MQ-135 hanya 206 dan 119 (median 535).</a:t>
            </a:r>
            <a:endParaRPr lang="en-US" sz="1250" dirty="0"/>
          </a:p>
          <a:p>
            <a:pPr marL="342900" indent="-342900">
              <a:spcAft>
                <a:spcPts val="600"/>
              </a:spcAft>
              <a:buSzPct val="100000"/>
              <a:buChar char="•"/>
            </a:pPr>
            <a:r>
              <a:rPr lang="en-US" sz="1250" dirty="0">
                <a:solidFill>
                  <a:srgbClr val="CADBD7"/>
                </a:solidFill>
              </a:rPr>
              <a:t>Kesalahan pada sesi tersebut memprediksi kondisi lebih segar dari sebenarnya.</a:t>
            </a:r>
            <a:endParaRPr lang="en-US" sz="1250" dirty="0"/>
          </a:p>
        </p:txBody>
      </p:sp>
      <p:sp>
        <p:nvSpPr>
          <p:cNvPr id="13" name="Shape 11"/>
          <p:cNvSpPr/>
          <p:nvPr/>
        </p:nvSpPr>
        <p:spPr>
          <a:xfrm>
            <a:off x="6210148" y="1280160"/>
            <a:ext cx="2602154" cy="4800600"/>
          </a:xfrm>
          <a:prstGeom prst="roundRect">
            <a:avLst>
              <a:gd name="adj" fmla="val 4217"/>
            </a:avLst>
          </a:prstGeom>
          <a:solidFill>
            <a:srgbClr val="0F3D3E"/>
          </a:solidFill>
          <a:ln w="12700">
            <a:solidFill>
              <a:srgbClr val="0F3D3E"/>
            </a:solidFill>
            <a:prstDash val="solid"/>
          </a:ln>
        </p:spPr>
      </p:sp>
      <p:sp>
        <p:nvSpPr>
          <p:cNvPr id="14" name="Text 12"/>
          <p:cNvSpPr txBox="1"/>
          <p:nvPr/>
        </p:nvSpPr>
        <p:spPr>
          <a:xfrm>
            <a:off x="6484468" y="1417320"/>
            <a:ext cx="914400" cy="685800"/>
          </a:xfrm>
          <a:prstGeom prst="rect">
            <a:avLst/>
          </a:prstGeom>
          <a:noFill/>
          <a:ln/>
        </p:spPr>
        <p:txBody>
          <a:bodyPr wrap="square" lIns="0" tIns="0" rIns="0" bIns="0" rtlCol="0" anchor="ctr"/>
          <a:lstStyle/>
          <a:p>
            <a:pPr indent="0" marL="0">
              <a:buNone/>
            </a:pPr>
            <a:r>
              <a:rPr lang="en-US" sz="4000" dirty="0">
                <a:solidFill>
                  <a:srgbClr val="E3A33B"/>
                </a:solidFill>
                <a:latin typeface="Cambria" pitchFamily="34" charset="0"/>
                <a:ea typeface="Cambria" pitchFamily="34" charset="-122"/>
                <a:cs typeface="Cambria" pitchFamily="34" charset="-120"/>
              </a:rPr>
              <a:t>3</a:t>
            </a:r>
            <a:endParaRPr lang="en-US" sz="4000" dirty="0"/>
          </a:p>
        </p:txBody>
      </p:sp>
      <p:sp>
        <p:nvSpPr>
          <p:cNvPr id="15" name="Text 13"/>
          <p:cNvSpPr txBox="1"/>
          <p:nvPr/>
        </p:nvSpPr>
        <p:spPr>
          <a:xfrm>
            <a:off x="6484468" y="2148840"/>
            <a:ext cx="2053514" cy="411480"/>
          </a:xfrm>
          <a:prstGeom prst="rect">
            <a:avLst/>
          </a:prstGeom>
          <a:noFill/>
          <a:ln/>
        </p:spPr>
        <p:txBody>
          <a:bodyPr wrap="square" lIns="0" tIns="0" rIns="0" bIns="0" rtlCol="0" anchor="ctr"/>
          <a:lstStyle/>
          <a:p>
            <a:pPr indent="0" marL="0">
              <a:buNone/>
            </a:pPr>
            <a:r>
              <a:rPr lang="en-US" sz="1800" b="1" i="1" dirty="0">
                <a:solidFill>
                  <a:srgbClr val="FFFFFF"/>
                </a:solidFill>
              </a:rPr>
              <a:t>Trade-off</a:t>
            </a:r>
            <a:endParaRPr lang="en-US" sz="1800" dirty="0"/>
          </a:p>
        </p:txBody>
      </p:sp>
      <p:sp>
        <p:nvSpPr>
          <p:cNvPr id="16" name="Text 14"/>
          <p:cNvSpPr txBox="1"/>
          <p:nvPr/>
        </p:nvSpPr>
        <p:spPr>
          <a:xfrm>
            <a:off x="6484468" y="2651760"/>
            <a:ext cx="2144954" cy="33375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CADBD7"/>
                </a:solidFill>
              </a:rPr>
              <a:t>Agen menekan ayam busuk terjual dari 254 menjadi 0.</a:t>
            </a:r>
            <a:endParaRPr lang="en-US" sz="1250" dirty="0"/>
          </a:p>
          <a:p>
            <a:pPr marL="342900" indent="-342900">
              <a:spcAft>
                <a:spcPts val="600"/>
              </a:spcAft>
              <a:buSzPct val="100000"/>
              <a:buChar char="•"/>
            </a:pPr>
            <a:r>
              <a:rPr lang="en-US" sz="1250" dirty="0">
                <a:solidFill>
                  <a:srgbClr val="CADBD7"/>
                </a:solidFill>
              </a:rPr>
              <a:t>Konsekuensinya, 47,2% kasus perlu cek manual dan 104 ayam layak terbuang.</a:t>
            </a:r>
            <a:endParaRPr lang="en-US" sz="1250" dirty="0"/>
          </a:p>
          <a:p>
            <a:pPr marL="342900" indent="-342900">
              <a:spcAft>
                <a:spcPts val="600"/>
              </a:spcAft>
              <a:buSzPct val="100000"/>
              <a:buChar char="•"/>
            </a:pPr>
            <a:r>
              <a:rPr lang="en-US" sz="1250" dirty="0">
                <a:solidFill>
                  <a:srgbClr val="CADBD7"/>
                </a:solidFill>
              </a:rPr>
              <a:t>Penalti −2 (eksperimen Rijal) membuat agen menjual Semi-fresh: 71 ayam busuk terjual.</a:t>
            </a:r>
            <a:endParaRPr lang="en-US" sz="1250" dirty="0"/>
          </a:p>
        </p:txBody>
      </p:sp>
      <p:sp>
        <p:nvSpPr>
          <p:cNvPr id="17" name="Shape 15"/>
          <p:cNvSpPr/>
          <p:nvPr/>
        </p:nvSpPr>
        <p:spPr>
          <a:xfrm>
            <a:off x="9040901" y="1280160"/>
            <a:ext cx="2602154" cy="4800600"/>
          </a:xfrm>
          <a:prstGeom prst="roundRect">
            <a:avLst>
              <a:gd name="adj" fmla="val 4217"/>
            </a:avLst>
          </a:prstGeom>
          <a:solidFill>
            <a:srgbClr val="0F3D3E"/>
          </a:solidFill>
          <a:ln w="12700">
            <a:solidFill>
              <a:srgbClr val="0F3D3E"/>
            </a:solidFill>
            <a:prstDash val="solid"/>
          </a:ln>
        </p:spPr>
      </p:sp>
      <p:sp>
        <p:nvSpPr>
          <p:cNvPr id="18" name="Text 16"/>
          <p:cNvSpPr txBox="1"/>
          <p:nvPr/>
        </p:nvSpPr>
        <p:spPr>
          <a:xfrm>
            <a:off x="9315221" y="1417320"/>
            <a:ext cx="914400" cy="685800"/>
          </a:xfrm>
          <a:prstGeom prst="rect">
            <a:avLst/>
          </a:prstGeom>
          <a:noFill/>
          <a:ln/>
        </p:spPr>
        <p:txBody>
          <a:bodyPr wrap="square" lIns="0" tIns="0" rIns="0" bIns="0" rtlCol="0" anchor="ctr"/>
          <a:lstStyle/>
          <a:p>
            <a:pPr indent="0" marL="0">
              <a:buNone/>
            </a:pPr>
            <a:r>
              <a:rPr lang="en-US" sz="4000" dirty="0">
                <a:solidFill>
                  <a:srgbClr val="E3A33B"/>
                </a:solidFill>
                <a:latin typeface="Cambria" pitchFamily="34" charset="0"/>
                <a:ea typeface="Cambria" pitchFamily="34" charset="-122"/>
                <a:cs typeface="Cambria" pitchFamily="34" charset="-120"/>
              </a:rPr>
              <a:t>4</a:t>
            </a:r>
            <a:endParaRPr lang="en-US" sz="4000" dirty="0"/>
          </a:p>
        </p:txBody>
      </p:sp>
      <p:sp>
        <p:nvSpPr>
          <p:cNvPr id="19" name="Text 17"/>
          <p:cNvSpPr txBox="1"/>
          <p:nvPr/>
        </p:nvSpPr>
        <p:spPr>
          <a:xfrm>
            <a:off x="9315221" y="2148840"/>
            <a:ext cx="2053514" cy="411480"/>
          </a:xfrm>
          <a:prstGeom prst="rect">
            <a:avLst/>
          </a:prstGeom>
          <a:noFill/>
          <a:ln/>
        </p:spPr>
        <p:txBody>
          <a:bodyPr wrap="square" lIns="0" tIns="0" rIns="0" bIns="0" rtlCol="0" anchor="ctr"/>
          <a:lstStyle/>
          <a:p>
            <a:pPr indent="0" marL="0">
              <a:buNone/>
            </a:pPr>
            <a:r>
              <a:rPr lang="en-US" sz="1800" b="1" dirty="0">
                <a:solidFill>
                  <a:srgbClr val="FFFFFF"/>
                </a:solidFill>
              </a:rPr>
              <a:t>Insight</a:t>
            </a:r>
            <a:endParaRPr lang="en-US" sz="1800" dirty="0"/>
          </a:p>
        </p:txBody>
      </p:sp>
      <p:sp>
        <p:nvSpPr>
          <p:cNvPr id="20" name="Text 18"/>
          <p:cNvSpPr txBox="1"/>
          <p:nvPr/>
        </p:nvSpPr>
        <p:spPr>
          <a:xfrm>
            <a:off x="9315221" y="2651760"/>
            <a:ext cx="2144954" cy="33375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CADBD7"/>
                </a:solidFill>
              </a:rPr>
              <a:t>Random split melebih-lebihkan akurasi (96,9% vs 77,6%).</a:t>
            </a:r>
            <a:endParaRPr lang="en-US" sz="1250" dirty="0"/>
          </a:p>
          <a:p>
            <a:pPr marL="342900" indent="-342900">
              <a:spcAft>
                <a:spcPts val="600"/>
              </a:spcAft>
              <a:buSzPct val="100000"/>
              <a:buChar char="•"/>
            </a:pPr>
            <a:r>
              <a:rPr lang="en-US" sz="1250" dirty="0">
                <a:solidFill>
                  <a:srgbClr val="CADBD7"/>
                </a:solidFill>
              </a:rPr>
              <a:t>Rekayasa fitur lebih berpengaruh daripada pemilihan model.</a:t>
            </a:r>
            <a:endParaRPr lang="en-US" sz="1250" dirty="0"/>
          </a:p>
          <a:p>
            <a:pPr marL="342900" indent="-342900">
              <a:spcAft>
                <a:spcPts val="600"/>
              </a:spcAft>
              <a:buSzPct val="100000"/>
              <a:buChar char="•"/>
            </a:pPr>
            <a:r>
              <a:rPr lang="en-US" sz="1250" dirty="0">
                <a:solidFill>
                  <a:srgbClr val="CADBD7"/>
                </a:solidFill>
              </a:rPr>
              <a:t>Data asli lebih efektif daripada augmentasi sintetis.</a:t>
            </a:r>
            <a:endParaRPr lang="en-US" sz="1250" dirty="0"/>
          </a:p>
          <a:p>
            <a:pPr marL="342900" indent="-342900">
              <a:spcAft>
                <a:spcPts val="600"/>
              </a:spcAft>
              <a:buSzPct val="100000"/>
              <a:buChar char="•"/>
            </a:pPr>
            <a:r>
              <a:rPr lang="en-US" sz="1250" dirty="0">
                <a:solidFill>
                  <a:srgbClr val="CADBD7"/>
                </a:solidFill>
              </a:rPr>
              <a:t>Sensor paling berpengaruh: MQ-7 dan MQ-3; MQ-135 peringkat ke-4.</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0F3D3E"/>
          </a:solidFill>
          <a:ln w="12700">
            <a:solidFill>
              <a:srgbClr val="0F3D3E"/>
            </a:solidFill>
            <a:prstDash val="solid"/>
          </a:ln>
        </p:spPr>
      </p:sp>
      <p:sp>
        <p:nvSpPr>
          <p:cNvPr id="3" name="Text 1"/>
          <p:cNvSpPr txBox="1"/>
          <p:nvPr/>
        </p:nvSpPr>
        <p:spPr>
          <a:xfrm>
            <a:off x="457200" y="4023360"/>
            <a:ext cx="3749040" cy="2194560"/>
          </a:xfrm>
          <a:prstGeom prst="rect">
            <a:avLst/>
          </a:prstGeom>
          <a:noFill/>
          <a:ln/>
        </p:spPr>
        <p:txBody>
          <a:bodyPr wrap="square" lIns="0" tIns="0" rIns="0" bIns="0" rtlCol="0" anchor="b"/>
          <a:lstStyle/>
          <a:p>
            <a:pPr indent="0" marL="0">
              <a:buNone/>
            </a:pPr>
            <a:r>
              <a:rPr lang="en-US" sz="3400" b="1" dirty="0">
                <a:solidFill>
                  <a:srgbClr val="FFFFFF"/>
                </a:solidFill>
                <a:latin typeface="Cambria" pitchFamily="34" charset="0"/>
                <a:ea typeface="Cambria" pitchFamily="34" charset="-122"/>
                <a:cs typeface="Cambria" pitchFamily="34" charset="-120"/>
              </a:rPr>
              <a:t>Celah</a:t>
            </a:r>
            <a:endParaRPr lang="en-US" sz="3400" dirty="0"/>
          </a:p>
          <a:p>
            <a:pPr indent="0" marL="0">
              <a:buNone/>
            </a:pPr>
            <a:r>
              <a:rPr lang="en-US" sz="3400" b="1" dirty="0">
                <a:solidFill>
                  <a:srgbClr val="FFFFFF"/>
                </a:solidFill>
                <a:latin typeface="Cambria" pitchFamily="34" charset="0"/>
                <a:ea typeface="Cambria" pitchFamily="34" charset="-122"/>
                <a:cs typeface="Cambria" pitchFamily="34" charset="-120"/>
              </a:rPr>
              <a:t>Pengembangan</a:t>
            </a:r>
            <a:endParaRPr lang="en-US" sz="3400" dirty="0"/>
          </a:p>
        </p:txBody>
      </p:sp>
      <p:sp>
        <p:nvSpPr>
          <p:cNvPr id="4" name="Shape 2"/>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5" name="Text 3"/>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Erlangga</a:t>
            </a:r>
            <a:endParaRPr lang="en-US" sz="1200" dirty="0"/>
          </a:p>
        </p:txBody>
      </p:sp>
      <p:sp>
        <p:nvSpPr>
          <p:cNvPr id="6" name="Shape 4"/>
          <p:cNvSpPr/>
          <p:nvPr/>
        </p:nvSpPr>
        <p:spPr>
          <a:xfrm>
            <a:off x="4846320" y="1188720"/>
            <a:ext cx="502920" cy="502920"/>
          </a:xfrm>
          <a:prstGeom prst="rect">
            <a:avLst/>
          </a:prstGeom>
          <a:solidFill>
            <a:srgbClr val="0F3D3E"/>
          </a:solidFill>
          <a:ln w="12700">
            <a:solidFill>
              <a:srgbClr val="0F3D3E"/>
            </a:solidFill>
            <a:prstDash val="solid"/>
          </a:ln>
        </p:spPr>
      </p:sp>
      <p:sp>
        <p:nvSpPr>
          <p:cNvPr id="7" name="Text 5"/>
          <p:cNvSpPr txBox="1"/>
          <p:nvPr/>
        </p:nvSpPr>
        <p:spPr>
          <a:xfrm>
            <a:off x="4846320" y="11887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A</a:t>
            </a:r>
            <a:endParaRPr lang="en-US" sz="2000" dirty="0"/>
          </a:p>
        </p:txBody>
      </p:sp>
      <p:sp>
        <p:nvSpPr>
          <p:cNvPr id="8" name="Text 6"/>
          <p:cNvSpPr txBox="1"/>
          <p:nvPr/>
        </p:nvSpPr>
        <p:spPr>
          <a:xfrm>
            <a:off x="5577840" y="1143000"/>
            <a:ext cx="6035040" cy="822960"/>
          </a:xfrm>
          <a:prstGeom prst="rect">
            <a:avLst/>
          </a:prstGeom>
          <a:noFill/>
          <a:ln/>
        </p:spPr>
        <p:txBody>
          <a:bodyPr wrap="square" lIns="0" tIns="0" rIns="0" bIns="0" rtlCol="0" anchor="t"/>
          <a:lstStyle/>
          <a:p>
            <a:pPr indent="0" marL="0">
              <a:buNone/>
            </a:pPr>
            <a:r>
              <a:rPr lang="en-US" sz="1500" b="1" dirty="0">
                <a:solidFill>
                  <a:srgbClr val="0F3D3E"/>
                </a:solidFill>
              </a:rPr>
              <a:t>Penambahan data</a:t>
            </a:r>
            <a:endParaRPr lang="en-US" sz="1500" dirty="0"/>
          </a:p>
          <a:p>
            <a:pPr indent="0" marL="0">
              <a:buNone/>
            </a:pPr>
            <a:r>
              <a:rPr lang="en-US" sz="1500" dirty="0">
                <a:solidFill>
                  <a:srgbClr val="16262B"/>
                </a:solidFill>
              </a:rPr>
              <a:t>jumlah sesi dan variasi kondisi penyimpanan (suhu, jenis potongan daging)</a:t>
            </a:r>
            <a:endParaRPr lang="en-US" sz="1500" dirty="0"/>
          </a:p>
        </p:txBody>
      </p:sp>
      <p:sp>
        <p:nvSpPr>
          <p:cNvPr id="9" name="Shape 7"/>
          <p:cNvSpPr/>
          <p:nvPr/>
        </p:nvSpPr>
        <p:spPr>
          <a:xfrm>
            <a:off x="4846320" y="2176272"/>
            <a:ext cx="502920" cy="502920"/>
          </a:xfrm>
          <a:prstGeom prst="rect">
            <a:avLst/>
          </a:prstGeom>
          <a:solidFill>
            <a:srgbClr val="0F3D3E"/>
          </a:solidFill>
          <a:ln w="12700">
            <a:solidFill>
              <a:srgbClr val="0F3D3E"/>
            </a:solidFill>
            <a:prstDash val="solid"/>
          </a:ln>
        </p:spPr>
      </p:sp>
      <p:sp>
        <p:nvSpPr>
          <p:cNvPr id="10" name="Text 8"/>
          <p:cNvSpPr txBox="1"/>
          <p:nvPr/>
        </p:nvSpPr>
        <p:spPr>
          <a:xfrm>
            <a:off x="4846320" y="21762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B</a:t>
            </a:r>
            <a:endParaRPr lang="en-US" sz="2000" dirty="0"/>
          </a:p>
        </p:txBody>
      </p:sp>
      <p:sp>
        <p:nvSpPr>
          <p:cNvPr id="11" name="Text 9"/>
          <p:cNvSpPr txBox="1"/>
          <p:nvPr/>
        </p:nvSpPr>
        <p:spPr>
          <a:xfrm>
            <a:off x="5577840" y="2130552"/>
            <a:ext cx="6035040" cy="822960"/>
          </a:xfrm>
          <a:prstGeom prst="rect">
            <a:avLst/>
          </a:prstGeom>
          <a:noFill/>
          <a:ln/>
        </p:spPr>
        <p:txBody>
          <a:bodyPr wrap="square" lIns="0" tIns="0" rIns="0" bIns="0" rtlCol="0" anchor="t"/>
          <a:lstStyle/>
          <a:p>
            <a:pPr indent="0" marL="0">
              <a:buNone/>
            </a:pPr>
            <a:r>
              <a:rPr lang="en-US" sz="1500" b="1" dirty="0">
                <a:solidFill>
                  <a:srgbClr val="0F3D3E"/>
                </a:solidFill>
              </a:rPr>
              <a:t>Label berbasis laboratorium</a:t>
            </a:r>
            <a:endParaRPr lang="en-US" sz="1500" dirty="0"/>
          </a:p>
          <a:p>
            <a:pPr indent="0" marL="0">
              <a:buNone/>
            </a:pPr>
            <a:r>
              <a:rPr lang="en-US" sz="1500" dirty="0">
                <a:solidFill>
                  <a:srgbClr val="16262B"/>
                </a:solidFill>
              </a:rPr>
              <a:t>uji TVB-N atau Total Plate Count sebagai ground truth</a:t>
            </a:r>
            <a:endParaRPr lang="en-US" sz="1500" dirty="0"/>
          </a:p>
        </p:txBody>
      </p:sp>
      <p:sp>
        <p:nvSpPr>
          <p:cNvPr id="12" name="Shape 10"/>
          <p:cNvSpPr/>
          <p:nvPr/>
        </p:nvSpPr>
        <p:spPr>
          <a:xfrm>
            <a:off x="4846320" y="3163824"/>
            <a:ext cx="502920" cy="502920"/>
          </a:xfrm>
          <a:prstGeom prst="rect">
            <a:avLst/>
          </a:prstGeom>
          <a:solidFill>
            <a:srgbClr val="0F3D3E"/>
          </a:solidFill>
          <a:ln w="12700">
            <a:solidFill>
              <a:srgbClr val="0F3D3E"/>
            </a:solidFill>
            <a:prstDash val="solid"/>
          </a:ln>
        </p:spPr>
      </p:sp>
      <p:sp>
        <p:nvSpPr>
          <p:cNvPr id="13" name="Text 11"/>
          <p:cNvSpPr txBox="1"/>
          <p:nvPr/>
        </p:nvSpPr>
        <p:spPr>
          <a:xfrm>
            <a:off x="4846320" y="3163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C</a:t>
            </a:r>
            <a:endParaRPr lang="en-US" sz="2000" dirty="0"/>
          </a:p>
        </p:txBody>
      </p:sp>
      <p:sp>
        <p:nvSpPr>
          <p:cNvPr id="14" name="Text 12"/>
          <p:cNvSpPr txBox="1"/>
          <p:nvPr/>
        </p:nvSpPr>
        <p:spPr>
          <a:xfrm>
            <a:off x="5577840" y="3118104"/>
            <a:ext cx="6035040" cy="822960"/>
          </a:xfrm>
          <a:prstGeom prst="rect">
            <a:avLst/>
          </a:prstGeom>
          <a:noFill/>
          <a:ln/>
        </p:spPr>
        <p:txBody>
          <a:bodyPr wrap="square" lIns="0" tIns="0" rIns="0" bIns="0" rtlCol="0" anchor="t"/>
          <a:lstStyle/>
          <a:p>
            <a:pPr indent="0" marL="0">
              <a:buNone/>
            </a:pPr>
            <a:r>
              <a:rPr lang="en-US" sz="1500" b="1" dirty="0">
                <a:solidFill>
                  <a:srgbClr val="0F3D3E"/>
                </a:solidFill>
              </a:rPr>
              <a:t>Penerapan pada data skripsi</a:t>
            </a:r>
            <a:endParaRPr lang="en-US" sz="1500" dirty="0"/>
          </a:p>
          <a:p>
            <a:pPr indent="0" marL="0">
              <a:buNone/>
            </a:pPr>
            <a:r>
              <a:rPr lang="en-US" sz="1500" dirty="0">
                <a:solidFill>
                  <a:srgbClr val="16262B"/>
                </a:solidFill>
              </a:rPr>
              <a:t>16 batch data sensor MQ-135 dan DHT22</a:t>
            </a:r>
            <a:endParaRPr lang="en-US" sz="1500" dirty="0"/>
          </a:p>
        </p:txBody>
      </p:sp>
      <p:sp>
        <p:nvSpPr>
          <p:cNvPr id="15" name="Shape 13"/>
          <p:cNvSpPr/>
          <p:nvPr/>
        </p:nvSpPr>
        <p:spPr>
          <a:xfrm>
            <a:off x="4846320" y="4151376"/>
            <a:ext cx="502920" cy="502920"/>
          </a:xfrm>
          <a:prstGeom prst="rect">
            <a:avLst/>
          </a:prstGeom>
          <a:solidFill>
            <a:srgbClr val="0F3D3E"/>
          </a:solidFill>
          <a:ln w="12700">
            <a:solidFill>
              <a:srgbClr val="0F3D3E"/>
            </a:solidFill>
            <a:prstDash val="solid"/>
          </a:ln>
        </p:spPr>
      </p:sp>
      <p:sp>
        <p:nvSpPr>
          <p:cNvPr id="16" name="Text 14"/>
          <p:cNvSpPr txBox="1"/>
          <p:nvPr/>
        </p:nvSpPr>
        <p:spPr>
          <a:xfrm>
            <a:off x="4846320" y="415137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D</a:t>
            </a:r>
            <a:endParaRPr lang="en-US" sz="2000" dirty="0"/>
          </a:p>
        </p:txBody>
      </p:sp>
      <p:sp>
        <p:nvSpPr>
          <p:cNvPr id="17" name="Text 15"/>
          <p:cNvSpPr txBox="1"/>
          <p:nvPr/>
        </p:nvSpPr>
        <p:spPr>
          <a:xfrm>
            <a:off x="5577840" y="4105656"/>
            <a:ext cx="6035040" cy="822960"/>
          </a:xfrm>
          <a:prstGeom prst="rect">
            <a:avLst/>
          </a:prstGeom>
          <a:noFill/>
          <a:ln/>
        </p:spPr>
        <p:txBody>
          <a:bodyPr wrap="square" lIns="0" tIns="0" rIns="0" bIns="0" rtlCol="0" anchor="t"/>
          <a:lstStyle/>
          <a:p>
            <a:pPr indent="0" marL="0">
              <a:buNone/>
            </a:pPr>
            <a:r>
              <a:rPr lang="en-US" sz="1500" b="1" dirty="0">
                <a:solidFill>
                  <a:srgbClr val="0F3D3E"/>
                </a:solidFill>
              </a:rPr>
              <a:t>Reinforcement learning multi-step</a:t>
            </a:r>
            <a:endParaRPr lang="en-US" sz="1500" dirty="0"/>
          </a:p>
          <a:p>
            <a:pPr indent="0" marL="0">
              <a:buNone/>
            </a:pPr>
            <a:r>
              <a:rPr lang="en-US" sz="1500" dirty="0">
                <a:solidFill>
                  <a:srgbClr val="16262B"/>
                </a:solidFill>
              </a:rPr>
              <a:t>misalnya Q-learning untuk menjadwalkan pemeriksaan selama penyimpanan</a:t>
            </a:r>
            <a:endParaRPr lang="en-US" sz="1500" dirty="0"/>
          </a:p>
        </p:txBody>
      </p:sp>
      <p:sp>
        <p:nvSpPr>
          <p:cNvPr id="18" name="Shape 16"/>
          <p:cNvSpPr/>
          <p:nvPr/>
        </p:nvSpPr>
        <p:spPr>
          <a:xfrm>
            <a:off x="4846320" y="5138928"/>
            <a:ext cx="502920" cy="502920"/>
          </a:xfrm>
          <a:prstGeom prst="rect">
            <a:avLst/>
          </a:prstGeom>
          <a:solidFill>
            <a:srgbClr val="0F3D3E"/>
          </a:solidFill>
          <a:ln w="12700">
            <a:solidFill>
              <a:srgbClr val="0F3D3E"/>
            </a:solidFill>
            <a:prstDash val="solid"/>
          </a:ln>
        </p:spPr>
      </p:sp>
      <p:sp>
        <p:nvSpPr>
          <p:cNvPr id="19" name="Text 17"/>
          <p:cNvSpPr txBox="1"/>
          <p:nvPr/>
        </p:nvSpPr>
        <p:spPr>
          <a:xfrm>
            <a:off x="4846320" y="51389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rPr>
              <a:t>E</a:t>
            </a:r>
            <a:endParaRPr lang="en-US" sz="2000" dirty="0"/>
          </a:p>
        </p:txBody>
      </p:sp>
      <p:sp>
        <p:nvSpPr>
          <p:cNvPr id="20" name="Text 18"/>
          <p:cNvSpPr txBox="1"/>
          <p:nvPr/>
        </p:nvSpPr>
        <p:spPr>
          <a:xfrm>
            <a:off x="5577840" y="5093208"/>
            <a:ext cx="6035040" cy="822960"/>
          </a:xfrm>
          <a:prstGeom prst="rect">
            <a:avLst/>
          </a:prstGeom>
          <a:noFill/>
          <a:ln/>
        </p:spPr>
        <p:txBody>
          <a:bodyPr wrap="square" lIns="0" tIns="0" rIns="0" bIns="0" rtlCol="0" anchor="t"/>
          <a:lstStyle/>
          <a:p>
            <a:pPr indent="0" marL="0">
              <a:buNone/>
            </a:pPr>
            <a:r>
              <a:rPr lang="en-US" sz="1500" b="1" dirty="0">
                <a:solidFill>
                  <a:srgbClr val="0F3D3E"/>
                </a:solidFill>
              </a:rPr>
              <a:t>Deep learning sekuensial</a:t>
            </a:r>
            <a:endParaRPr lang="en-US" sz="1500" dirty="0"/>
          </a:p>
          <a:p>
            <a:pPr indent="0" marL="0">
              <a:buNone/>
            </a:pPr>
            <a:r>
              <a:rPr lang="en-US" sz="1500" dirty="0">
                <a:solidFill>
                  <a:srgbClr val="16262B"/>
                </a:solidFill>
              </a:rPr>
              <a:t>1D-CNN atau LSTM untuk memanfaatkan pola temporal sensor</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651760"/>
            <a:ext cx="3291840" cy="1188720"/>
          </a:xfrm>
          <a:prstGeom prst="rect">
            <a:avLst/>
          </a:prstGeom>
          <a:noFill/>
          <a:ln/>
        </p:spPr>
        <p:txBody>
          <a:bodyPr wrap="square" lIns="0" tIns="0" rIns="0" bIns="0" rtlCol="0" anchor="ctr"/>
          <a:lstStyle/>
          <a:p>
            <a:pPr indent="0" marL="0">
              <a:buNone/>
            </a:pPr>
            <a:r>
              <a:rPr lang="en-US" sz="4800" b="1" dirty="0">
                <a:solidFill>
                  <a:srgbClr val="0F3D3E"/>
                </a:solidFill>
                <a:latin typeface="Cambria" pitchFamily="34" charset="0"/>
                <a:ea typeface="Cambria" pitchFamily="34" charset="-122"/>
                <a:cs typeface="Cambria" pitchFamily="34" charset="-120"/>
              </a:rPr>
              <a:t>Simpulan</a:t>
            </a:r>
            <a:endParaRPr lang="en-US" sz="4800" dirty="0"/>
          </a:p>
        </p:txBody>
      </p:sp>
      <p:sp>
        <p:nvSpPr>
          <p:cNvPr id="3" name="Shape 1"/>
          <p:cNvSpPr/>
          <p:nvPr/>
        </p:nvSpPr>
        <p:spPr>
          <a:xfrm>
            <a:off x="9814255" y="502920"/>
            <a:ext cx="1828800" cy="411480"/>
          </a:xfrm>
          <a:prstGeom prst="roundRect">
            <a:avLst>
              <a:gd name="adj" fmla="val 48889"/>
            </a:avLst>
          </a:prstGeom>
          <a:solidFill>
            <a:srgbClr val="EEF4F2"/>
          </a:solidFill>
          <a:ln w="12700">
            <a:solidFill>
              <a:srgbClr val="EEF4F2"/>
            </a:solidFill>
            <a:prstDash val="solid"/>
          </a:ln>
        </p:spPr>
      </p:sp>
      <p:sp>
        <p:nvSpPr>
          <p:cNvPr id="4" name="Text 2"/>
          <p:cNvSpPr txBox="1"/>
          <p:nvPr/>
        </p:nvSpPr>
        <p:spPr>
          <a:xfrm>
            <a:off x="9814255" y="502920"/>
            <a:ext cx="1828800" cy="411480"/>
          </a:xfrm>
          <a:prstGeom prst="rect">
            <a:avLst/>
          </a:prstGeom>
          <a:noFill/>
          <a:ln/>
        </p:spPr>
        <p:txBody>
          <a:bodyPr wrap="square" lIns="0" tIns="0" rIns="0" bIns="0" rtlCol="0" anchor="ctr"/>
          <a:lstStyle/>
          <a:p>
            <a:pPr algn="ctr" indent="0" marL="0">
              <a:buNone/>
            </a:pPr>
            <a:r>
              <a:rPr lang="en-US" sz="1200" b="1" dirty="0">
                <a:solidFill>
                  <a:srgbClr val="0F5257"/>
                </a:solidFill>
              </a:rPr>
              <a:t>Pembicara: Erlangga</a:t>
            </a:r>
            <a:endParaRPr lang="en-US" sz="1200" dirty="0"/>
          </a:p>
        </p:txBody>
      </p:sp>
      <p:sp>
        <p:nvSpPr>
          <p:cNvPr id="5" name="Shape 3"/>
          <p:cNvSpPr/>
          <p:nvPr/>
        </p:nvSpPr>
        <p:spPr>
          <a:xfrm>
            <a:off x="4206240" y="1143000"/>
            <a:ext cx="502920" cy="502920"/>
          </a:xfrm>
          <a:prstGeom prst="ellipse">
            <a:avLst/>
          </a:prstGeom>
          <a:solidFill>
            <a:srgbClr val="0F5257"/>
          </a:solidFill>
          <a:ln w="12700">
            <a:solidFill>
              <a:srgbClr val="0F5257"/>
            </a:solidFill>
            <a:prstDash val="solid"/>
          </a:ln>
        </p:spPr>
      </p:sp>
      <p:sp>
        <p:nvSpPr>
          <p:cNvPr id="6" name="Text 4"/>
          <p:cNvSpPr txBox="1"/>
          <p:nvPr/>
        </p:nvSpPr>
        <p:spPr>
          <a:xfrm>
            <a:off x="4206240" y="11430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5"/>
          <p:cNvSpPr txBox="1"/>
          <p:nvPr/>
        </p:nvSpPr>
        <p:spPr>
          <a:xfrm>
            <a:off x="4937760" y="1097280"/>
            <a:ext cx="6675120" cy="1097280"/>
          </a:xfrm>
          <a:prstGeom prst="rect">
            <a:avLst/>
          </a:prstGeom>
          <a:noFill/>
          <a:ln/>
        </p:spPr>
        <p:txBody>
          <a:bodyPr wrap="square" lIns="0" tIns="0" rIns="0" bIns="0" rtlCol="0" anchor="t"/>
          <a:lstStyle/>
          <a:p>
            <a:pPr indent="0" marL="0">
              <a:buNone/>
            </a:pPr>
            <a:r>
              <a:rPr lang="en-US" sz="1700" b="1" dirty="0">
                <a:solidFill>
                  <a:srgbClr val="0F3D3E"/>
                </a:solidFill>
              </a:rPr>
              <a:t>Skema validasi menentukan keandalan hasil.</a:t>
            </a:r>
            <a:endParaRPr lang="en-US" sz="1400" dirty="0"/>
          </a:p>
          <a:p>
            <a:pPr indent="0" marL="0">
              <a:buNone/>
            </a:pPr>
            <a:r>
              <a:rPr lang="en-US" sz="1400" dirty="0">
                <a:solidFill>
                  <a:srgbClr val="16262B"/>
                </a:solidFill>
              </a:rPr>
              <a:t>LOSO memberi estimasi realistis (77,6%); random split terdampak data leakage (96,9%).</a:t>
            </a:r>
            <a:endParaRPr lang="en-US" sz="1400" dirty="0"/>
          </a:p>
        </p:txBody>
      </p:sp>
      <p:sp>
        <p:nvSpPr>
          <p:cNvPr id="8" name="Shape 6"/>
          <p:cNvSpPr/>
          <p:nvPr/>
        </p:nvSpPr>
        <p:spPr>
          <a:xfrm>
            <a:off x="4937760" y="2258568"/>
            <a:ext cx="6675120" cy="0"/>
          </a:xfrm>
          <a:prstGeom prst="line">
            <a:avLst/>
          </a:prstGeom>
          <a:noFill/>
          <a:ln w="12700">
            <a:solidFill>
              <a:srgbClr val="DCE5E2"/>
            </a:solidFill>
            <a:prstDash val="solid"/>
          </a:ln>
        </p:spPr>
      </p:sp>
      <p:sp>
        <p:nvSpPr>
          <p:cNvPr id="9" name="Shape 7"/>
          <p:cNvSpPr/>
          <p:nvPr/>
        </p:nvSpPr>
        <p:spPr>
          <a:xfrm>
            <a:off x="4206240" y="2404872"/>
            <a:ext cx="502920" cy="502920"/>
          </a:xfrm>
          <a:prstGeom prst="ellipse">
            <a:avLst/>
          </a:prstGeom>
          <a:solidFill>
            <a:srgbClr val="0F5257"/>
          </a:solidFill>
          <a:ln w="12700">
            <a:solidFill>
              <a:srgbClr val="0F5257"/>
            </a:solidFill>
            <a:prstDash val="solid"/>
          </a:ln>
        </p:spPr>
      </p:sp>
      <p:sp>
        <p:nvSpPr>
          <p:cNvPr id="10" name="Text 8"/>
          <p:cNvSpPr txBox="1"/>
          <p:nvPr/>
        </p:nvSpPr>
        <p:spPr>
          <a:xfrm>
            <a:off x="4206240" y="24048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4937760" y="2359152"/>
            <a:ext cx="6675120" cy="1097280"/>
          </a:xfrm>
          <a:prstGeom prst="rect">
            <a:avLst/>
          </a:prstGeom>
          <a:noFill/>
          <a:ln/>
        </p:spPr>
        <p:txBody>
          <a:bodyPr wrap="square" lIns="0" tIns="0" rIns="0" bIns="0" rtlCol="0" anchor="t"/>
          <a:lstStyle/>
          <a:p>
            <a:pPr indent="0" marL="0">
              <a:buNone/>
            </a:pPr>
            <a:r>
              <a:rPr lang="en-US" sz="1700" b="1" dirty="0">
                <a:solidFill>
                  <a:srgbClr val="0F3D3E"/>
                </a:solidFill>
              </a:rPr>
              <a:t>Data wrangling memberi peningkatan terbesar.</a:t>
            </a:r>
            <a:endParaRPr lang="en-US" sz="1400" dirty="0"/>
          </a:p>
          <a:p>
            <a:pPr indent="0" marL="0">
              <a:buNone/>
            </a:pPr>
            <a:r>
              <a:rPr lang="en-US" sz="1400" dirty="0">
                <a:solidFill>
                  <a:srgbClr val="16262B"/>
                </a:solidFill>
              </a:rPr>
              <a:t>Fitur relatif terhadap baseline menaikkan F1-Macro 0,681 → 0,782; augmentasi sintetis tidak meningkatkan performa.</a:t>
            </a:r>
            <a:endParaRPr lang="en-US" sz="1400" dirty="0"/>
          </a:p>
        </p:txBody>
      </p:sp>
      <p:sp>
        <p:nvSpPr>
          <p:cNvPr id="12" name="Shape 10"/>
          <p:cNvSpPr/>
          <p:nvPr/>
        </p:nvSpPr>
        <p:spPr>
          <a:xfrm>
            <a:off x="4937760" y="3520440"/>
            <a:ext cx="6675120" cy="0"/>
          </a:xfrm>
          <a:prstGeom prst="line">
            <a:avLst/>
          </a:prstGeom>
          <a:noFill/>
          <a:ln w="12700">
            <a:solidFill>
              <a:srgbClr val="DCE5E2"/>
            </a:solidFill>
            <a:prstDash val="solid"/>
          </a:ln>
        </p:spPr>
      </p:sp>
      <p:sp>
        <p:nvSpPr>
          <p:cNvPr id="13" name="Shape 11"/>
          <p:cNvSpPr/>
          <p:nvPr/>
        </p:nvSpPr>
        <p:spPr>
          <a:xfrm>
            <a:off x="4206240" y="3666744"/>
            <a:ext cx="502920" cy="502920"/>
          </a:xfrm>
          <a:prstGeom prst="ellipse">
            <a:avLst/>
          </a:prstGeom>
          <a:solidFill>
            <a:srgbClr val="0F5257"/>
          </a:solidFill>
          <a:ln w="12700">
            <a:solidFill>
              <a:srgbClr val="0F5257"/>
            </a:solidFill>
            <a:prstDash val="solid"/>
          </a:ln>
        </p:spPr>
      </p:sp>
      <p:sp>
        <p:nvSpPr>
          <p:cNvPr id="14" name="Text 12"/>
          <p:cNvSpPr txBox="1"/>
          <p:nvPr/>
        </p:nvSpPr>
        <p:spPr>
          <a:xfrm>
            <a:off x="4206240" y="366674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ext 13"/>
          <p:cNvSpPr txBox="1"/>
          <p:nvPr/>
        </p:nvSpPr>
        <p:spPr>
          <a:xfrm>
            <a:off x="4937760" y="3621024"/>
            <a:ext cx="6675120" cy="1097280"/>
          </a:xfrm>
          <a:prstGeom prst="rect">
            <a:avLst/>
          </a:prstGeom>
          <a:noFill/>
          <a:ln/>
        </p:spPr>
        <p:txBody>
          <a:bodyPr wrap="square" lIns="0" tIns="0" rIns="0" bIns="0" rtlCol="0" anchor="t"/>
          <a:lstStyle/>
          <a:p>
            <a:pPr indent="0" marL="0">
              <a:buNone/>
            </a:pPr>
            <a:r>
              <a:rPr lang="en-US" sz="1700" b="1" dirty="0">
                <a:solidFill>
                  <a:srgbClr val="0F3D3E"/>
                </a:solidFill>
              </a:rPr>
              <a:t>Ensemble learning mengungguli model tunggal.</a:t>
            </a:r>
            <a:endParaRPr lang="en-US" sz="1400" dirty="0"/>
          </a:p>
          <a:p>
            <a:pPr indent="0" marL="0">
              <a:buNone/>
            </a:pPr>
            <a:r>
              <a:rPr lang="en-US" sz="1400" dirty="0">
                <a:solidFill>
                  <a:srgbClr val="16262B"/>
                </a:solidFill>
              </a:rPr>
              <a:t>Rata-rata F1-Macro 0,768 vs 0,726; terbaik Random Forest (0,782).</a:t>
            </a:r>
            <a:endParaRPr lang="en-US" sz="1400" dirty="0"/>
          </a:p>
        </p:txBody>
      </p:sp>
      <p:sp>
        <p:nvSpPr>
          <p:cNvPr id="16" name="Shape 14"/>
          <p:cNvSpPr/>
          <p:nvPr/>
        </p:nvSpPr>
        <p:spPr>
          <a:xfrm>
            <a:off x="4937760" y="4782312"/>
            <a:ext cx="6675120" cy="0"/>
          </a:xfrm>
          <a:prstGeom prst="line">
            <a:avLst/>
          </a:prstGeom>
          <a:noFill/>
          <a:ln w="12700">
            <a:solidFill>
              <a:srgbClr val="DCE5E2"/>
            </a:solidFill>
            <a:prstDash val="solid"/>
          </a:ln>
        </p:spPr>
      </p:sp>
      <p:sp>
        <p:nvSpPr>
          <p:cNvPr id="17" name="Shape 15"/>
          <p:cNvSpPr/>
          <p:nvPr/>
        </p:nvSpPr>
        <p:spPr>
          <a:xfrm>
            <a:off x="4206240" y="4928616"/>
            <a:ext cx="502920" cy="502920"/>
          </a:xfrm>
          <a:prstGeom prst="ellipse">
            <a:avLst/>
          </a:prstGeom>
          <a:solidFill>
            <a:srgbClr val="0F5257"/>
          </a:solidFill>
          <a:ln w="12700">
            <a:solidFill>
              <a:srgbClr val="0F5257"/>
            </a:solidFill>
            <a:prstDash val="solid"/>
          </a:ln>
        </p:spPr>
      </p:sp>
      <p:sp>
        <p:nvSpPr>
          <p:cNvPr id="18" name="Text 16"/>
          <p:cNvSpPr txBox="1"/>
          <p:nvPr/>
        </p:nvSpPr>
        <p:spPr>
          <a:xfrm>
            <a:off x="4206240" y="492861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9" name="Text 17"/>
          <p:cNvSpPr txBox="1"/>
          <p:nvPr/>
        </p:nvSpPr>
        <p:spPr>
          <a:xfrm>
            <a:off x="4937760" y="4882896"/>
            <a:ext cx="6675120" cy="1097280"/>
          </a:xfrm>
          <a:prstGeom prst="rect">
            <a:avLst/>
          </a:prstGeom>
          <a:noFill/>
          <a:ln/>
        </p:spPr>
        <p:txBody>
          <a:bodyPr wrap="square" lIns="0" tIns="0" rIns="0" bIns="0" rtlCol="0" anchor="t"/>
          <a:lstStyle/>
          <a:p>
            <a:pPr indent="0" marL="0">
              <a:buNone/>
            </a:pPr>
            <a:r>
              <a:rPr lang="en-US" sz="1700" b="1" dirty="0">
                <a:solidFill>
                  <a:srgbClr val="0F3D3E"/>
                </a:solidFill>
              </a:rPr>
              <a:t>Reinforcement learning menghasilkan keputusan yang lebih aman.</a:t>
            </a:r>
            <a:endParaRPr lang="en-US" sz="1400" dirty="0"/>
          </a:p>
          <a:p>
            <a:pPr indent="0" marL="0">
              <a:buNone/>
            </a:pPr>
            <a:r>
              <a:rPr lang="en-US" sz="1400" dirty="0">
                <a:solidFill>
                  <a:srgbClr val="16262B"/>
                </a:solidFill>
              </a:rPr>
              <a:t>Reward −0,80 → 0,61 seiring iterasi; ayam busuk terjual 254 → 0. Tambahan sesi latih menaikkan F1-Macro 0,58 → 0,75.</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91295" cy="777240"/>
          </a:xfrm>
          <a:prstGeom prst="rect">
            <a:avLst/>
          </a:prstGeom>
          <a:noFill/>
          <a:ln/>
        </p:spPr>
        <p:txBody>
          <a:bodyPr wrap="square" lIns="0" tIns="0" rIns="0" bIns="0" rtlCol="0" anchor="ctr"/>
          <a:lstStyle/>
          <a:p>
            <a:pPr algn="l" indent="0" marL="0">
              <a:buNone/>
            </a:pPr>
            <a:r>
              <a:rPr lang="en-US" sz="2600" b="1" dirty="0">
                <a:solidFill>
                  <a:schemeClr val="tx2"/>
                </a:solidFill>
                <a:latin typeface="Cambria" pitchFamily="34" charset="0"/>
                <a:ea typeface="Cambria" pitchFamily="34" charset="-122"/>
                <a:cs typeface="Cambria" pitchFamily="34" charset="-120"/>
              </a:rPr>
              <a:t>Daftar Pustaka</a:t>
            </a:r>
            <a:endParaRPr lang="en-US" sz="2600" dirty="0"/>
          </a:p>
        </p:txBody>
      </p:sp>
      <p:sp>
        <p:nvSpPr>
          <p:cNvPr id="3" name="Text 1"/>
          <p:cNvSpPr txBox="1"/>
          <p:nvPr/>
        </p:nvSpPr>
        <p:spPr>
          <a:xfrm>
            <a:off x="548640" y="1234440"/>
            <a:ext cx="11094415" cy="4846320"/>
          </a:xfrm>
          <a:prstGeom prst="rect">
            <a:avLst/>
          </a:prstGeom>
          <a:noFill/>
          <a:ln/>
        </p:spPr>
        <p:txBody>
          <a:bodyPr wrap="square" lIns="0" tIns="0" rIns="0" bIns="0" rtlCol="0" anchor="t"/>
          <a:lstStyle/>
          <a:p>
            <a:pPr indent="0" marL="0">
              <a:spcAft>
                <a:spcPts val="900"/>
              </a:spcAft>
              <a:buNone/>
            </a:pPr>
            <a:r>
              <a:rPr lang="en-US" sz="1400" dirty="0">
                <a:solidFill>
                  <a:srgbClr val="16262B"/>
                </a:solidFill>
              </a:rPr>
              <a:t>[1] Anwar, H., &amp; Anwar, T. (2025). Quality assessment of chicken using machine learning and electronic nose. Sensing and Bio-Sensing Research, 47, 100739. https://doi.org/10.1016/j.sbsr.2025.100739</a:t>
            </a:r>
            <a:endParaRPr lang="en-US" sz="1400" dirty="0"/>
          </a:p>
          <a:p>
            <a:pPr indent="0" marL="0">
              <a:spcAft>
                <a:spcPts val="900"/>
              </a:spcAft>
              <a:buNone/>
            </a:pPr>
            <a:r>
              <a:rPr lang="en-US" sz="1400" dirty="0">
                <a:solidFill>
                  <a:srgbClr val="16262B"/>
                </a:solidFill>
              </a:rPr>
              <a:t>[2] Zhou, Z.-H. (2012). Ensemble Methods: Foundations and Algorithms. CRC Press.</a:t>
            </a:r>
            <a:endParaRPr lang="en-US" sz="1400" dirty="0"/>
          </a:p>
          <a:p>
            <a:pPr indent="0" marL="0">
              <a:spcAft>
                <a:spcPts val="900"/>
              </a:spcAft>
              <a:buNone/>
            </a:pPr>
            <a:r>
              <a:rPr lang="en-US" sz="1400" dirty="0">
                <a:solidFill>
                  <a:srgbClr val="16262B"/>
                </a:solidFill>
              </a:rPr>
              <a:t>[3] Breiman, L. (2001). Random forests. Machine Learning, 45(1), 5–32.</a:t>
            </a:r>
            <a:endParaRPr lang="en-US" sz="1400" dirty="0"/>
          </a:p>
          <a:p>
            <a:pPr indent="0" marL="0">
              <a:spcAft>
                <a:spcPts val="900"/>
              </a:spcAft>
              <a:buNone/>
            </a:pPr>
            <a:r>
              <a:rPr lang="en-US" sz="1400" dirty="0">
                <a:solidFill>
                  <a:srgbClr val="16262B"/>
                </a:solidFill>
              </a:rPr>
              <a:t>[4] Chen, T., &amp; Guestrin, C. (2016). XGBoost: A scalable tree boosting system. Proceedings of the 22nd ACM SIGKDD International Conference on Knowledge Discovery and Data Mining, 785–794.</a:t>
            </a:r>
            <a:endParaRPr lang="en-US" sz="1400" dirty="0"/>
          </a:p>
          <a:p>
            <a:pPr indent="0" marL="0">
              <a:spcAft>
                <a:spcPts val="900"/>
              </a:spcAft>
              <a:buNone/>
            </a:pPr>
            <a:r>
              <a:rPr lang="en-US" sz="1400" dirty="0">
                <a:solidFill>
                  <a:srgbClr val="16262B"/>
                </a:solidFill>
              </a:rPr>
              <a:t>[5] Sutton, R. S., &amp; Barto, A. G. (2018). Reinforcement Learning: An Introduction (2nd ed.). MIT Press.</a:t>
            </a:r>
            <a:endParaRPr lang="en-US" sz="1400" dirty="0"/>
          </a:p>
          <a:p>
            <a:pPr indent="0" marL="0">
              <a:spcAft>
                <a:spcPts val="900"/>
              </a:spcAft>
              <a:buNone/>
            </a:pPr>
            <a:r>
              <a:rPr lang="en-US" sz="1400" dirty="0">
                <a:solidFill>
                  <a:srgbClr val="16262B"/>
                </a:solidFill>
              </a:rPr>
              <a:t>Materi kuliah Machine Learning II: Ensemble_Learning.pptx dan reinforcement.pptx (github.com/jendralhxr/machinelearning).</a:t>
            </a:r>
            <a:endParaRPr lang="en-US" sz="1400" dirty="0"/>
          </a:p>
          <a:p>
            <a:pPr indent="0" marL="0">
              <a:spcAft>
                <a:spcPts val="900"/>
              </a:spcAft>
              <a:buNone/>
            </a:pPr>
            <a:r>
              <a:rPr lang="en-US" sz="1400" dirty="0">
                <a:solidFill>
                  <a:srgbClr val="16262B"/>
                </a:solidFill>
              </a:rPr>
              <a:t>Data dan kode penulis: github.com/talhaanwarch/chicken_assessment_e-nose (commit e7e3ca6).</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A8C"/>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777240"/>
            <a:ext cx="5486400" cy="274320"/>
          </a:xfrm>
          <a:prstGeom prst="rect">
            <a:avLst/>
          </a:prstGeom>
          <a:noFill/>
          <a:ln/>
        </p:spPr>
        <p:txBody>
          <a:bodyPr wrap="square" lIns="0" tIns="0" rIns="0" bIns="0" rtlCol="0" anchor="ctr"/>
          <a:lstStyle/>
          <a:p>
            <a:pPr indent="0" marL="0">
              <a:buNone/>
            </a:pPr>
            <a:r>
              <a:rPr lang="en-US" sz="1200" b="1" spc="200" kern="0" dirty="0">
                <a:solidFill>
                  <a:srgbClr val="E3A33B"/>
                </a:solidFill>
              </a:rPr>
              <a:t>MACHINE LEARNING II</a:t>
            </a:r>
            <a:endParaRPr lang="en-US" sz="1200" dirty="0"/>
          </a:p>
        </p:txBody>
      </p:sp>
      <p:sp>
        <p:nvSpPr>
          <p:cNvPr id="3" name="Text 1"/>
          <p:cNvSpPr txBox="1"/>
          <p:nvPr/>
        </p:nvSpPr>
        <p:spPr>
          <a:xfrm>
            <a:off x="548640" y="2011680"/>
            <a:ext cx="11094415" cy="1371600"/>
          </a:xfrm>
          <a:prstGeom prst="rect">
            <a:avLst/>
          </a:prstGeom>
          <a:noFill/>
          <a:ln/>
        </p:spPr>
        <p:txBody>
          <a:bodyPr wrap="square" lIns="0" tIns="0" rIns="0" bIns="0" rtlCol="0" anchor="ctr"/>
          <a:lstStyle/>
          <a:p>
            <a:pPr algn="ctr" indent="0" marL="0">
              <a:buNone/>
            </a:pPr>
            <a:r>
              <a:rPr lang="en-US" sz="6600" b="1" dirty="0">
                <a:solidFill>
                  <a:srgbClr val="FFFFFF"/>
                </a:solidFill>
                <a:latin typeface="Cambria" pitchFamily="34" charset="0"/>
                <a:ea typeface="Cambria" pitchFamily="34" charset="-122"/>
                <a:cs typeface="Cambria" pitchFamily="34" charset="-120"/>
              </a:rPr>
              <a:t>TERIMA KASIH</a:t>
            </a:r>
            <a:endParaRPr lang="en-US" sz="6600" dirty="0"/>
          </a:p>
        </p:txBody>
      </p:sp>
      <p:sp>
        <p:nvSpPr>
          <p:cNvPr id="4" name="Text 2"/>
          <p:cNvSpPr txBox="1"/>
          <p:nvPr/>
        </p:nvSpPr>
        <p:spPr>
          <a:xfrm>
            <a:off x="548640" y="3429000"/>
            <a:ext cx="11094415" cy="457200"/>
          </a:xfrm>
          <a:prstGeom prst="rect">
            <a:avLst/>
          </a:prstGeom>
          <a:noFill/>
          <a:ln/>
        </p:spPr>
        <p:txBody>
          <a:bodyPr wrap="square" lIns="0" tIns="0" rIns="0" bIns="0" rtlCol="0" anchor="ctr"/>
          <a:lstStyle/>
          <a:p>
            <a:pPr algn="ctr" indent="0" marL="0">
              <a:buNone/>
            </a:pPr>
            <a:r>
              <a:rPr lang="en-US" sz="2000" i="1" dirty="0">
                <a:solidFill>
                  <a:srgbClr val="CADBD7"/>
                </a:solidFill>
              </a:rPr>
              <a:t>Sesi tanya jawab</a:t>
            </a:r>
            <a:endParaRPr lang="en-US" sz="2000" dirty="0"/>
          </a:p>
        </p:txBody>
      </p:sp>
      <p:sp>
        <p:nvSpPr>
          <p:cNvPr id="5" name="Text 3"/>
          <p:cNvSpPr txBox="1"/>
          <p:nvPr/>
        </p:nvSpPr>
        <p:spPr>
          <a:xfrm>
            <a:off x="548640" y="4297680"/>
            <a:ext cx="11094415" cy="411480"/>
          </a:xfrm>
          <a:prstGeom prst="rect">
            <a:avLst/>
          </a:prstGeom>
          <a:noFill/>
          <a:ln/>
        </p:spPr>
        <p:txBody>
          <a:bodyPr wrap="square" lIns="0" tIns="0" rIns="0" bIns="0" rtlCol="0" anchor="ctr"/>
          <a:lstStyle/>
          <a:p>
            <a:pPr algn="ctr" indent="0" marL="0">
              <a:buNone/>
            </a:pPr>
            <a:r>
              <a:rPr lang="en-US" sz="1500" dirty="0">
                <a:solidFill>
                  <a:srgbClr val="CADBD7"/>
                </a:solidFill>
              </a:rPr>
              <a:t>Kode dan notebook: </a:t>
            </a:r>
            <a:pPr algn="ctr" indent="0" marL="0">
              <a:buNone/>
            </a:pPr>
            <a:r>
              <a:rPr lang="en-US" sz="1500" b="1" dirty="0">
                <a:solidFill>
                  <a:srgbClr val="FFFFFF"/>
                </a:solidFill>
              </a:rPr>
              <a:t>github.com/MuhammadErlanggaKurniawan/ets-ml2-kelompok</a:t>
            </a:r>
            <a:endParaRPr lang="en-US" sz="1500" dirty="0"/>
          </a:p>
        </p:txBody>
      </p:sp>
      <p:sp>
        <p:nvSpPr>
          <p:cNvPr id="6" name="Shape 4"/>
          <p:cNvSpPr/>
          <p:nvPr/>
        </p:nvSpPr>
        <p:spPr>
          <a:xfrm>
            <a:off x="548640" y="5852160"/>
            <a:ext cx="11094415" cy="0"/>
          </a:xfrm>
          <a:prstGeom prst="line">
            <a:avLst/>
          </a:prstGeom>
          <a:noFill/>
          <a:ln w="12700">
            <a:solidFill>
              <a:srgbClr val="3E6466"/>
            </a:solidFill>
            <a:prstDash val="solid"/>
          </a:ln>
        </p:spPr>
      </p:sp>
      <p:sp>
        <p:nvSpPr>
          <p:cNvPr id="7" name="Text 5"/>
          <p:cNvSpPr txBox="1"/>
          <p:nvPr/>
        </p:nvSpPr>
        <p:spPr>
          <a:xfrm>
            <a:off x="548640" y="5989320"/>
            <a:ext cx="9144000" cy="320040"/>
          </a:xfrm>
          <a:prstGeom prst="rect">
            <a:avLst/>
          </a:prstGeom>
          <a:noFill/>
          <a:ln/>
        </p:spPr>
        <p:txBody>
          <a:bodyPr wrap="square" lIns="0" tIns="0" rIns="0" bIns="0" rtlCol="0" anchor="ctr"/>
          <a:lstStyle/>
          <a:p>
            <a:pPr indent="0" marL="0">
              <a:buNone/>
            </a:pPr>
            <a:r>
              <a:rPr lang="en-US" sz="1200" dirty="0">
                <a:solidFill>
                  <a:srgbClr val="9FB8B3"/>
                </a:solidFill>
              </a:rPr>
              <a:t>Muhammad Erlangga Kurniawan · Michael Valencio Erasmo Bagas Ganendra · Rijal Apuila Khufi</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BD7"/>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ETS ML2">
  <a:themeElements>
    <a:clrScheme name="ETS ML2">
      <a:dk1>
        <a:srgbClr val="16262B"/>
      </a:dk1>
      <a:lt1>
        <a:srgbClr val="FFFFFF"/>
      </a:lt1>
      <a:dk2>
        <a:srgbClr val="0F3D3E"/>
      </a:dk2>
      <a:lt2>
        <a:srgbClr val="EEF4F2"/>
      </a:lt2>
      <a:accent1>
        <a:srgbClr val="0F5257"/>
      </a:accent1>
      <a:accent2>
        <a:srgbClr val="E3A33B"/>
      </a:accent2>
      <a:accent3>
        <a:srgbClr val="9AA5A6"/>
      </a:accent3>
      <a:accent4>
        <a:srgbClr val="C4553B"/>
      </a:accent4>
      <a:accent5>
        <a:srgbClr val="6C8F7D"/>
      </a:accent5>
      <a:accent6>
        <a:srgbClr val="2E6F95"/>
      </a:accent6>
      <a:hlink>
        <a:srgbClr val="2E6F95"/>
      </a:hlink>
      <a:folHlink>
        <a:srgbClr val="6C8F7D"/>
      </a:folHlink>
    </a:clrScheme>
    <a:fontScheme name="ETS ML2">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Klasifikasi Kesegaran Daging Ayam Berbasis Ensemble dan Reinforcement Learning</dc:title>
  <dc:subject>PptxGenJS Presentation</dc:subject>
  <dc:creator>Kelompok ETS ML II</dc:creator>
  <cp:lastModifiedBy>Kelompok ETS ML II</cp:lastModifiedBy>
  <cp:revision>1</cp:revision>
  <dcterms:created xsi:type="dcterms:W3CDTF">2026-10-22T00:33:49Z</dcterms:created>
  <dcterms:modified xsi:type="dcterms:W3CDTF">2026-10-22T00:33:49Z</dcterms:modified>
</cp:coreProperties>
</file>