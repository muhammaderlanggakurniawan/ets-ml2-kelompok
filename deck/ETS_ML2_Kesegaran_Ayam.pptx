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rlangga: latar belakang, data, pengolahan" id="{2c4b4686-aa44-bc9b-9452-618d8e39dd71}">
          <p14:sldIdLst>
            <p14:sldId id="256"/>
            <p14:sldId id="257"/>
            <p14:sldId id="258"/>
            <p14:sldId id="259"/>
          </p14:sldIdLst>
        </p14:section>
        <p14:section name="Michael: uji jujur, ensemble, augmentasi" id="{b98aa088-c491-e13c-ac8e-08bbca826713}">
          <p14:sldIdLst>
            <p14:sldId id="260"/>
            <p14:sldId id="261"/>
            <p14:sldId id="262"/>
          </p14:sldIdLst>
        </p14:section>
        <p14:section name="Rijal: reinforcement, diskusi, kesimpulan" id="{7891ed85-8d21-ed7e-ddb5-5e6e3cd6377f}">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Selamat pagi. Kami kelompok Erlangga, Michael, dan Rijal. Judul proyek kami: Deteksi Kesegaran Daging Ayam dengan Sensor Gas dan Machine Learning. Saya membuka dengan latar belakang, data, dan pengolahan data. Michael menjelaskan cara menguji yang jujur, ensemble, dan augmentasi. Rijal menjelaskan reinforcement learning, diskusi, dan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Daging ayam yang mulai busuk mengeluarkan gas. Sensor gas murah seri MQ bisa mencium gas itu. Kalau beberapa sensor digabung, namanya hidung elektronik atau e-nose. Pertanyaan kami: dari bacaan sensor saja, bisakah komputer menebak ayam masih Fresh, Semi-fresh, atau sudah Spoiled? Topik ini irisan skripsi kami: saya meneliti kesegaran makanan termasuk ayam dengan sensor MQ-135, Rijal meneliti mutu produk unggas yaitu telur puyuh, dan Michael memakai gradient boosting yang kami pakai di bagian ensemble. Manfaatnya: cek kesegaran yang cepat, murah, dan tanpa merusak sampel.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Alur kerja kami ada lima tahap. Akuisisi: data diunduh dari repositori penulis dan dicek keasliannya. Pengolahan: data dirangkum dan diubah menjadi fitur. Pemodelan: kami membandingkan model tunggal dengan ensemble. Uji jujur: model selalu diuji di sesi ayam yang belum pernah ia lihat. Terakhir, agen reinforcement learning memilih keputusan. Datanya satu dataset: e-nose daging ayam dari Anwar dan Anwar 2025, 15 sesi rekaman dengan 218.318 bacaan dari tujuh sensor. Labelnya dibuat dari lama penyimpanan. Jumlah tiap kelas cukup seimbang, jadi kami tidak memakai SMOTE.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Ada tiga langkah pengolahan. Pertama, sensor membaca sekitar 12 kali per menit, jadi kami rata-ratakan per 5 menit: 218.318 bacaan menjadi 3.828 jendela. Kedua, dua jam pertama dianggap masa kalibrasi karena sensor perlu stabil, dan bacaan jam pertama dipakai sebagai titik pembanding. Ketiga, kami membuat 19 fitur yang menggambarkan gas dengan tiga cara: seberapa banyak, bagaimana porsinya antar sensor, dan seberapa jauh naik dibanding jam pertama. Yang terakhir mirip Rs per R0 di skripsi saya. Grafik di kanan menunjukkan efeknya: Random Forest naik dari 0,681 ke 0,782. Satu hal penting: waktu tidak kami pakai sebagai fitur, karena label dibuat dari waktu. Selanjutnya Michael.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Terima kasih Erlangga. Sebelum membandingkan model, kami harus memastikan cara mengujinya jujur. Kalau data dibagi acak, Random Forest mendapat akurasi 96,9%, hampir sempurna. Tapi kalau diuji di sesi ayam yang belum pernah dilihat, akurasinya 77,6%. Penyebabnya: jendela 5 menit yang berurutan isinya hampir sama, jadi dengan pembagian acak model cukup menghafal sesi itu, seperti ujian yang soalnya bocor. Paper aslinya menemukan hal yang sama: 100 persen dengan data acak, 69 persen tanpa pembagian acak. Karena itu kami memakai Leave-One-Session-Out: satu sesi disembunyikan sebagai ujian, model dilatih dengan 14 sesi lain, diulang 15 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Ini bagian ensemble. Idenya seperti minta pendapat banyak orang sebelum memutuskan. Kami membandingkan tiga model tunggal, yaitu Logistic Regression, KNN, dan Decision Tree, dengan tiga ensemble. Random Forest menggabungkan 300 pohon lalu voting. XGBoost membuat pohon berurutan, tiap pohon memperbaiki kesalahan sebelumnya. Voting merata-ratakan peluang dari tiga model berbeda. Hasilnya, ketiga ensemble di atas semua model tunggal. Terbaik Random Forest dengan macro-F1 0,782, sedangkan model tunggal terbaik KNN 0,736. Yang paling adil dibandingkan: Random Forest 0,782 lawan Decision Tree 0,713, dengan kedalaman pohon yang sama. Bedanya cuma satu pohon versus 300 pohon. Pengaturan semua model ditetapkan dari awal, tidak diutak-atik pakai data uji.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Terakhir dari saya: augmentasi. Kenapa perlu? Kami hanya punya 15 sesi, padahal alat sungguhan bisa punya sensor yang lebih atau kurang peka dan lebih berisik. Jadi kami membuat data latih buatan dengan dua cara. Jitter menambah derau acak kecil. Variasi kepekaan mengalikan bacaan tiap sensor sekitar plus minus 30 persen, seolah-olah dari alat lain. Ini hanya untuk data latih, data uji selalu asli. Hasilnya jujur saja: skor tidak naik. Random Forest malah turun sedikit, Decision Tree hanya naik tipis dengan variasi kepekaan. Pelajarannya: variasi buatan tidak sama dengan perbedaan nyata antar sesi ayam. Rijal akan menunjukkan bahwa sesi asli tambahan jauh lebih berguna. Selanjutnya Rijal.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Terima kasih Michael. Bagian saya reinforcement learning. Tujuan sistem kami bukan cuma menebak kelas, tapi mengambil keputusan: jual, cek manual, atau buang. Agen belajar lewat trial and error. State-nya adalah tebakan Random Forest ditambah apakah model yakin atau ragu, jadi ada enam kemungkinan. Aksinya tiga. Reward-nya dari tabel ini, angkanya asumsi kami: menjual ayam busuk paling berbahaya, jadi minus lima. Cek manual selalu aman tapi ada biayanya. Agen memakai ε-greedy: 90 persen memilih aksi terbaik sejauh ini, 10 persen mencoba acak, dan nilai tiap aksi diperbarui dengan rata-rata reward, seperti materi multi-armed bandit. Hasilnya agen belajar sendiri: tebakan Fresh dijual, Semi-fresh dicek manual, Spoiled yang yakin dibuang, dan Spoiled yang ragu dicek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Rubrik reinforcement bertanya bagaimana tambahan iterasi dan data meningkatkan performa. Grafik kiri: tambahan iterasi. Di awal agen belum tahu apa-apa, reward-nya -0,80. Setelah 100 iterasi sudah 0,53, lalu stabil di 0,61. Ini lebih baik dari selalu ikut tebakan model (0,44) maupun selalu cek manual (0,50). Agen dinilai di sesi yang tidak dipakai untuk belajar. Grafik kanan: tambahan data. Kalau Random Forest dilatih dengan 1 sesi, macro-F1-nya 0,58. Dengan 14 sesi naik ke 0,75. Jadi menambah sesi ayam asli jelas menaikkan performa, berbeda dengan data buatan di bagian augmentasi.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Analisis dan diskusi. Batasan: hanya 15 sesi, labelnya dari lama penyimpanan bukan uji lab, dan reward agen adalah asumsi kami. Trade-off: cek manual lebih aman tapi ada biaya; kalau ambang yakin dinaikkan, keputusan lebih aman tapi lebih sering cek manual; ensemble lebih akurat tapi lebih sulit dijelaskan. Sumber galat: kelas Semi-fresh paling sulit karena letaknya di tengah, level gas tiap sesi berbeda jauh, dan sesi terburuk akurasinya hanya 55,3%. Pengembangan: pipeline ini siap dipakai untuk 16 batch data skripsi Erlangga, label sebaiknya dari panel sensori atau uji lab, dan sensor MQ-7 dan MQ-3 paling berpengaruh, sedangkan MQ-135 urutan ke-4. Ini masukan untuk pemilihan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Kesimpulan kami ada empat. Pertama, cara menguji menentukan segalanya: 96,9% dengan data acak itu palsu, 77,6% per sesi yang jujur. Kedua, pengolahan data paling berpengaruh: kalibrasi per sesi menaikkan Random Forest dari 0,681 ke 0,782. Ketiga, ensemble lebih baik dari model tunggal. Keempat, agen reinforcement learning mengambil keputusan yang lebih aman daripada sekadar mengikuti tebakan model, dan menambah sesi ayam asli lebih berguna daripada data buatan. Semua kode dan notebook ada di GitHub. Terima kasih, kami siap menerima pertanyaan.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3D3E"/>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7A8A8C"/>
                </a:solidFill>
              </a:rPr>
              <a:t>ETS Machine Learning II · Deteksi Kesegaran Daging Ayam</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68680"/>
            <a:ext cx="731520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TUGAS ETS · MACHINE LEARNING II</a:t>
            </a:r>
            <a:endParaRPr lang="en-US" sz="1200" dirty="0"/>
          </a:p>
        </p:txBody>
      </p:sp>
      <p:sp>
        <p:nvSpPr>
          <p:cNvPr id="3" name="Text 1"/>
          <p:cNvSpPr txBox="1"/>
          <p:nvPr/>
        </p:nvSpPr>
        <p:spPr>
          <a:xfrm>
            <a:off x="548640" y="1234440"/>
            <a:ext cx="10607040" cy="210312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Deteksi Kesegaran Daging Ayam</a:t>
            </a:r>
            <a:endParaRPr lang="en-US" sz="4000" dirty="0"/>
          </a:p>
          <a:p>
            <a:pPr indent="0" marL="0">
              <a:buNone/>
            </a:pPr>
            <a:r>
              <a:rPr lang="en-US" sz="4000" b="1" dirty="0">
                <a:solidFill>
                  <a:schemeClr val="bg1"/>
                </a:solidFill>
                <a:latin typeface="Cambria" pitchFamily="34" charset="0"/>
                <a:ea typeface="Cambria" pitchFamily="34" charset="-122"/>
                <a:cs typeface="Cambria" pitchFamily="34" charset="-120"/>
              </a:rPr>
              <a:t>dengan Sensor Gas</a:t>
            </a:r>
            <a:endParaRPr lang="en-US" sz="4000" dirty="0"/>
          </a:p>
          <a:p>
            <a:pPr indent="0" marL="0">
              <a:buNone/>
            </a:pPr>
            <a:r>
              <a:rPr lang="en-US" sz="4000" b="1" dirty="0">
                <a:solidFill>
                  <a:schemeClr val="bg1"/>
                </a:solidFill>
                <a:latin typeface="Cambria" pitchFamily="34" charset="0"/>
                <a:ea typeface="Cambria" pitchFamily="34" charset="-122"/>
                <a:cs typeface="Cambria" pitchFamily="34" charset="-120"/>
              </a:rPr>
              <a:t>dan Machine Learning</a:t>
            </a:r>
            <a:endParaRPr lang="en-US" sz="4000" dirty="0"/>
          </a:p>
        </p:txBody>
      </p:sp>
      <p:sp>
        <p:nvSpPr>
          <p:cNvPr id="4" name="Text 2"/>
          <p:cNvSpPr txBox="1"/>
          <p:nvPr/>
        </p:nvSpPr>
        <p:spPr>
          <a:xfrm>
            <a:off x="548640" y="3474720"/>
            <a:ext cx="9601200" cy="731520"/>
          </a:xfrm>
          <a:prstGeom prst="rect">
            <a:avLst/>
          </a:prstGeom>
          <a:noFill/>
          <a:ln/>
        </p:spPr>
        <p:txBody>
          <a:bodyPr wrap="square" lIns="0" tIns="0" rIns="0" bIns="0" rtlCol="0" anchor="ctr"/>
          <a:lstStyle/>
          <a:p>
            <a:pPr indent="0" marL="0">
              <a:buNone/>
            </a:pPr>
            <a:r>
              <a:rPr lang="en-US" sz="1900" dirty="0">
                <a:solidFill>
                  <a:srgbClr val="CADBD7"/>
                </a:solidFill>
              </a:rPr>
              <a:t>Satu dataset e-nose, tiga teknik ML II: augmentasi data, ensemble learning, dan reinforcement learning</a:t>
            </a:r>
            <a:endParaRPr lang="en-US" sz="1900" dirty="0"/>
          </a:p>
        </p:txBody>
      </p:sp>
      <p:sp>
        <p:nvSpPr>
          <p:cNvPr id="5" name="Text 3"/>
          <p:cNvSpPr txBox="1"/>
          <p:nvPr/>
        </p:nvSpPr>
        <p:spPr>
          <a:xfrm>
            <a:off x="548640" y="4526280"/>
            <a:ext cx="7315200" cy="1097280"/>
          </a:xfrm>
          <a:prstGeom prst="rect">
            <a:avLst/>
          </a:prstGeom>
          <a:noFill/>
          <a:ln/>
        </p:spPr>
        <p:txBody>
          <a:bodyPr wrap="square" lIns="0" tIns="0" rIns="0" bIns="0" rtlCol="0" anchor="ctr"/>
          <a:lstStyle/>
          <a:p>
            <a:pPr indent="0" marL="0">
              <a:spcAft>
                <a:spcPts val="400"/>
              </a:spcAft>
              <a:buNone/>
            </a:pPr>
            <a:r>
              <a:rPr lang="en-US" sz="1500" dirty="0">
                <a:solidFill>
                  <a:schemeClr val="bg1"/>
                </a:solidFill>
              </a:rPr>
              <a:t>Muhammad Erlangga Kurniawan · 23083010045</a:t>
            </a:r>
            <a:endParaRPr lang="en-US" sz="1500" dirty="0"/>
          </a:p>
          <a:p>
            <a:pPr indent="0" marL="0">
              <a:spcAft>
                <a:spcPts val="400"/>
              </a:spcAft>
              <a:buNone/>
            </a:pPr>
            <a:r>
              <a:rPr lang="en-US" sz="1500" dirty="0">
                <a:solidFill>
                  <a:schemeClr val="bg1"/>
                </a:solidFill>
              </a:rPr>
              <a:t>Michael Valencio Erasmo Bagas Ganendra · 23083010042</a:t>
            </a:r>
            <a:endParaRPr lang="en-US" sz="1500" dirty="0"/>
          </a:p>
          <a:p>
            <a:pPr indent="0" marL="0">
              <a:spcAft>
                <a:spcPts val="400"/>
              </a:spcAft>
              <a:buNone/>
            </a:pPr>
            <a:r>
              <a:rPr lang="en-US" sz="1500" dirty="0">
                <a:solidFill>
                  <a:schemeClr val="bg1"/>
                </a:solidFill>
              </a:rPr>
              <a:t>Rijal Apuila Khufi · 23083010033</a:t>
            </a:r>
            <a:endParaRPr lang="en-US" sz="1500" dirty="0"/>
          </a:p>
        </p:txBody>
      </p:sp>
      <p:sp>
        <p:nvSpPr>
          <p:cNvPr id="6" name="Text 4"/>
          <p:cNvSpPr txBox="1"/>
          <p:nvPr/>
        </p:nvSpPr>
        <p:spPr>
          <a:xfrm>
            <a:off x="548640" y="5989320"/>
            <a:ext cx="10058400" cy="365760"/>
          </a:xfrm>
          <a:prstGeom prst="rect">
            <a:avLst/>
          </a:prstGeom>
          <a:noFill/>
          <a:ln/>
        </p:spPr>
        <p:txBody>
          <a:bodyPr wrap="square" lIns="0" tIns="0" rIns="0" bIns="0" rtlCol="0" anchor="ctr"/>
          <a:lstStyle/>
          <a:p>
            <a:pPr indent="0" marL="0">
              <a:buNone/>
            </a:pPr>
            <a:r>
              <a:rPr lang="en-US" sz="1200" dirty="0">
                <a:solidFill>
                  <a:srgbClr val="9FB8B3"/>
                </a:solidFill>
              </a:rPr>
              <a:t>Program Studi Sains Data · UPN "Veteran" Jawa Timur · Oktober 2026</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Kenapa topik ini?</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Erlangga</a:t>
            </a:r>
            <a:endParaRPr lang="en-US" sz="1200" dirty="0"/>
          </a:p>
        </p:txBody>
      </p:sp>
      <p:sp>
        <p:nvSpPr>
          <p:cNvPr id="5" name="Shape 3"/>
          <p:cNvSpPr/>
          <p:nvPr/>
        </p:nvSpPr>
        <p:spPr>
          <a:xfrm>
            <a:off x="548640" y="1280160"/>
            <a:ext cx="5760720" cy="3794760"/>
          </a:xfrm>
          <a:prstGeom prst="roundRect">
            <a:avLst>
              <a:gd name="adj" fmla="val 2892"/>
            </a:avLst>
          </a:prstGeom>
          <a:solidFill>
            <a:schemeClr val="tx2"/>
          </a:solidFill>
          <a:ln w="12700">
            <a:solidFill>
              <a:schemeClr val="tx2"/>
            </a:solidFill>
            <a:prstDash val="solid"/>
          </a:ln>
        </p:spPr>
      </p:sp>
      <p:sp>
        <p:nvSpPr>
          <p:cNvPr id="6" name="Text 4"/>
          <p:cNvSpPr txBox="1"/>
          <p:nvPr/>
        </p:nvSpPr>
        <p:spPr>
          <a:xfrm>
            <a:off x="868680" y="1508760"/>
            <a:ext cx="512064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MASALAHNYA</a:t>
            </a:r>
            <a:endParaRPr lang="en-US" sz="1200" dirty="0"/>
          </a:p>
        </p:txBody>
      </p:sp>
      <p:sp>
        <p:nvSpPr>
          <p:cNvPr id="7" name="Shape 5"/>
          <p:cNvSpPr/>
          <p:nvPr/>
        </p:nvSpPr>
        <p:spPr>
          <a:xfrm>
            <a:off x="868680" y="1965960"/>
            <a:ext cx="438912" cy="438912"/>
          </a:xfrm>
          <a:prstGeom prst="ellipse">
            <a:avLst/>
          </a:prstGeom>
          <a:solidFill>
            <a:schemeClr val="accent2"/>
          </a:solidFill>
          <a:ln w="12700">
            <a:solidFill>
              <a:schemeClr val="accent2"/>
            </a:solidFill>
            <a:prstDash val="solid"/>
          </a:ln>
        </p:spPr>
      </p:sp>
      <p:sp>
        <p:nvSpPr>
          <p:cNvPr id="8" name="Text 6"/>
          <p:cNvSpPr txBox="1"/>
          <p:nvPr/>
        </p:nvSpPr>
        <p:spPr>
          <a:xfrm>
            <a:off x="868680" y="1965960"/>
            <a:ext cx="438912" cy="438912"/>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9" name="Text 7"/>
          <p:cNvSpPr txBox="1"/>
          <p:nvPr/>
        </p:nvSpPr>
        <p:spPr>
          <a:xfrm>
            <a:off x="1463040" y="1920240"/>
            <a:ext cx="4572000" cy="365760"/>
          </a:xfrm>
          <a:prstGeom prst="rect">
            <a:avLst/>
          </a:prstGeom>
          <a:noFill/>
          <a:ln/>
        </p:spPr>
        <p:txBody>
          <a:bodyPr wrap="square" lIns="0" tIns="0" rIns="0" bIns="0" rtlCol="0" anchor="ctr"/>
          <a:lstStyle/>
          <a:p>
            <a:pPr indent="0" marL="0">
              <a:buNone/>
            </a:pPr>
            <a:r>
              <a:rPr lang="en-US" sz="1600" b="1" dirty="0">
                <a:solidFill>
                  <a:schemeClr val="bg1"/>
                </a:solidFill>
              </a:rPr>
              <a:t>Ayam yang mulai busuk mengeluarkan gas</a:t>
            </a:r>
            <a:endParaRPr lang="en-US" sz="1600" dirty="0"/>
          </a:p>
        </p:txBody>
      </p:sp>
      <p:sp>
        <p:nvSpPr>
          <p:cNvPr id="10" name="Text 8"/>
          <p:cNvSpPr txBox="1"/>
          <p:nvPr/>
        </p:nvSpPr>
        <p:spPr>
          <a:xfrm>
            <a:off x="1463040" y="2304288"/>
            <a:ext cx="4572000" cy="365760"/>
          </a:xfrm>
          <a:prstGeom prst="rect">
            <a:avLst/>
          </a:prstGeom>
          <a:noFill/>
          <a:ln/>
        </p:spPr>
        <p:txBody>
          <a:bodyPr wrap="square" lIns="0" tIns="0" rIns="0" bIns="0" rtlCol="0" anchor="ctr"/>
          <a:lstStyle/>
          <a:p>
            <a:pPr indent="0" marL="0">
              <a:buNone/>
            </a:pPr>
            <a:r>
              <a:rPr lang="en-US" sz="1300" dirty="0">
                <a:solidFill>
                  <a:srgbClr val="CADBD7"/>
                </a:solidFill>
              </a:rPr>
              <a:t>misalnya amonia dan senyawa organik yang mudah menguap</a:t>
            </a:r>
            <a:endParaRPr lang="en-US" sz="1300" dirty="0"/>
          </a:p>
        </p:txBody>
      </p:sp>
      <p:sp>
        <p:nvSpPr>
          <p:cNvPr id="11" name="Shape 9"/>
          <p:cNvSpPr/>
          <p:nvPr/>
        </p:nvSpPr>
        <p:spPr>
          <a:xfrm>
            <a:off x="868680" y="2971800"/>
            <a:ext cx="438912" cy="438912"/>
          </a:xfrm>
          <a:prstGeom prst="ellipse">
            <a:avLst/>
          </a:prstGeom>
          <a:solidFill>
            <a:schemeClr val="accent2"/>
          </a:solidFill>
          <a:ln w="12700">
            <a:solidFill>
              <a:schemeClr val="accent2"/>
            </a:solidFill>
            <a:prstDash val="solid"/>
          </a:ln>
        </p:spPr>
      </p:sp>
      <p:sp>
        <p:nvSpPr>
          <p:cNvPr id="12" name="Text 10"/>
          <p:cNvSpPr txBox="1"/>
          <p:nvPr/>
        </p:nvSpPr>
        <p:spPr>
          <a:xfrm>
            <a:off x="868680" y="2971800"/>
            <a:ext cx="438912" cy="438912"/>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3" name="Text 11"/>
          <p:cNvSpPr txBox="1"/>
          <p:nvPr/>
        </p:nvSpPr>
        <p:spPr>
          <a:xfrm>
            <a:off x="1463040" y="2926080"/>
            <a:ext cx="4572000" cy="365760"/>
          </a:xfrm>
          <a:prstGeom prst="rect">
            <a:avLst/>
          </a:prstGeom>
          <a:noFill/>
          <a:ln/>
        </p:spPr>
        <p:txBody>
          <a:bodyPr wrap="square" lIns="0" tIns="0" rIns="0" bIns="0" rtlCol="0" anchor="ctr"/>
          <a:lstStyle/>
          <a:p>
            <a:pPr indent="0" marL="0">
              <a:buNone/>
            </a:pPr>
            <a:r>
              <a:rPr lang="en-US" sz="1600" b="1" dirty="0">
                <a:solidFill>
                  <a:schemeClr val="bg1"/>
                </a:solidFill>
              </a:rPr>
              <a:t>Sensor gas murah (seri MQ) bisa "mencium" gas itu</a:t>
            </a:r>
            <a:endParaRPr lang="en-US" sz="1600" dirty="0"/>
          </a:p>
        </p:txBody>
      </p:sp>
      <p:sp>
        <p:nvSpPr>
          <p:cNvPr id="14" name="Text 12"/>
          <p:cNvSpPr txBox="1"/>
          <p:nvPr/>
        </p:nvSpPr>
        <p:spPr>
          <a:xfrm>
            <a:off x="1463040" y="3310128"/>
            <a:ext cx="4572000" cy="365760"/>
          </a:xfrm>
          <a:prstGeom prst="rect">
            <a:avLst/>
          </a:prstGeom>
          <a:noFill/>
          <a:ln/>
        </p:spPr>
        <p:txBody>
          <a:bodyPr wrap="square" lIns="0" tIns="0" rIns="0" bIns="0" rtlCol="0" anchor="ctr"/>
          <a:lstStyle/>
          <a:p>
            <a:pPr indent="0" marL="0">
              <a:buNone/>
            </a:pPr>
            <a:r>
              <a:rPr lang="en-US" sz="1300" dirty="0">
                <a:solidFill>
                  <a:srgbClr val="CADBD7"/>
                </a:solidFill>
              </a:rPr>
              <a:t>rangkaian beberapa sensor = hidung elektronik (e-nose)</a:t>
            </a:r>
            <a:endParaRPr lang="en-US" sz="1300" dirty="0"/>
          </a:p>
        </p:txBody>
      </p:sp>
      <p:sp>
        <p:nvSpPr>
          <p:cNvPr id="15" name="Shape 13"/>
          <p:cNvSpPr/>
          <p:nvPr/>
        </p:nvSpPr>
        <p:spPr>
          <a:xfrm>
            <a:off x="868680" y="3977640"/>
            <a:ext cx="438912" cy="438912"/>
          </a:xfrm>
          <a:prstGeom prst="ellipse">
            <a:avLst/>
          </a:prstGeom>
          <a:solidFill>
            <a:schemeClr val="accent2"/>
          </a:solidFill>
          <a:ln w="12700">
            <a:solidFill>
              <a:schemeClr val="accent2"/>
            </a:solidFill>
            <a:prstDash val="solid"/>
          </a:ln>
        </p:spPr>
      </p:sp>
      <p:sp>
        <p:nvSpPr>
          <p:cNvPr id="16" name="Text 14"/>
          <p:cNvSpPr txBox="1"/>
          <p:nvPr/>
        </p:nvSpPr>
        <p:spPr>
          <a:xfrm>
            <a:off x="868680" y="3977640"/>
            <a:ext cx="438912" cy="438912"/>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7" name="Text 15"/>
          <p:cNvSpPr txBox="1"/>
          <p:nvPr/>
        </p:nvSpPr>
        <p:spPr>
          <a:xfrm>
            <a:off x="1463040" y="3931920"/>
            <a:ext cx="4572000" cy="365760"/>
          </a:xfrm>
          <a:prstGeom prst="rect">
            <a:avLst/>
          </a:prstGeom>
          <a:noFill/>
          <a:ln/>
        </p:spPr>
        <p:txBody>
          <a:bodyPr wrap="square" lIns="0" tIns="0" rIns="0" bIns="0" rtlCol="0" anchor="ctr"/>
          <a:lstStyle/>
          <a:p>
            <a:pPr indent="0" marL="0">
              <a:buNone/>
            </a:pPr>
            <a:r>
              <a:rPr lang="en-US" sz="1600" b="1" dirty="0">
                <a:solidFill>
                  <a:schemeClr val="bg1"/>
                </a:solidFill>
              </a:rPr>
              <a:t>Bisakah komputer menebak kondisi ayam dari sensor saja?</a:t>
            </a:r>
            <a:endParaRPr lang="en-US" sz="1600" dirty="0"/>
          </a:p>
        </p:txBody>
      </p:sp>
      <p:sp>
        <p:nvSpPr>
          <p:cNvPr id="18" name="Text 16"/>
          <p:cNvSpPr txBox="1"/>
          <p:nvPr/>
        </p:nvSpPr>
        <p:spPr>
          <a:xfrm>
            <a:off x="1463040" y="4315968"/>
            <a:ext cx="4572000" cy="365760"/>
          </a:xfrm>
          <a:prstGeom prst="rect">
            <a:avLst/>
          </a:prstGeom>
          <a:noFill/>
          <a:ln/>
        </p:spPr>
        <p:txBody>
          <a:bodyPr wrap="square" lIns="0" tIns="0" rIns="0" bIns="0" rtlCol="0" anchor="ctr"/>
          <a:lstStyle/>
          <a:p>
            <a:pPr indent="0" marL="0">
              <a:buNone/>
            </a:pPr>
            <a:r>
              <a:rPr lang="en-US" sz="1300" dirty="0">
                <a:solidFill>
                  <a:srgbClr val="CADBD7"/>
                </a:solidFill>
              </a:rPr>
              <a:t>Fresh · Semi-fresh · Spoiled</a:t>
            </a:r>
            <a:endParaRPr lang="en-US" sz="1300" dirty="0"/>
          </a:p>
        </p:txBody>
      </p:sp>
      <p:sp>
        <p:nvSpPr>
          <p:cNvPr id="19" name="Text 17"/>
          <p:cNvSpPr txBox="1"/>
          <p:nvPr/>
        </p:nvSpPr>
        <p:spPr>
          <a:xfrm>
            <a:off x="6583680" y="1325880"/>
            <a:ext cx="505937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IRISAN SKRIPSI KAMI BERTIGA</a:t>
            </a:r>
            <a:endParaRPr lang="en-US" sz="1200" dirty="0"/>
          </a:p>
        </p:txBody>
      </p:sp>
      <p:sp>
        <p:nvSpPr>
          <p:cNvPr id="20" name="Shape 18"/>
          <p:cNvSpPr/>
          <p:nvPr/>
        </p:nvSpPr>
        <p:spPr>
          <a:xfrm>
            <a:off x="6583680" y="1691640"/>
            <a:ext cx="5059375" cy="1005840"/>
          </a:xfrm>
          <a:prstGeom prst="roundRect">
            <a:avLst>
              <a:gd name="adj" fmla="val 10909"/>
            </a:avLst>
          </a:prstGeom>
          <a:solidFill>
            <a:schemeClr val="bg2"/>
          </a:solidFill>
          <a:ln w="12700">
            <a:solidFill>
              <a:schemeClr val="bg2"/>
            </a:solidFill>
            <a:prstDash val="solid"/>
          </a:ln>
        </p:spPr>
      </p:sp>
      <p:sp>
        <p:nvSpPr>
          <p:cNvPr id="21" name="Text 19"/>
          <p:cNvSpPr txBox="1"/>
          <p:nvPr/>
        </p:nvSpPr>
        <p:spPr>
          <a:xfrm>
            <a:off x="6858000" y="1801368"/>
            <a:ext cx="4510735" cy="292608"/>
          </a:xfrm>
          <a:prstGeom prst="rect">
            <a:avLst/>
          </a:prstGeom>
          <a:noFill/>
          <a:ln/>
        </p:spPr>
        <p:txBody>
          <a:bodyPr wrap="square" lIns="0" tIns="0" rIns="0" bIns="0" rtlCol="0" anchor="ctr"/>
          <a:lstStyle/>
          <a:p>
            <a:pPr indent="0" marL="0">
              <a:buNone/>
            </a:pPr>
            <a:r>
              <a:rPr lang="en-US" sz="1500" b="1" dirty="0">
                <a:solidFill>
                  <a:schemeClr val="accent1"/>
                </a:solidFill>
              </a:rPr>
              <a:t>Erlangga</a:t>
            </a:r>
            <a:endParaRPr lang="en-US" sz="1500" dirty="0"/>
          </a:p>
        </p:txBody>
      </p:sp>
      <p:sp>
        <p:nvSpPr>
          <p:cNvPr id="22" name="Text 20"/>
          <p:cNvSpPr txBox="1"/>
          <p:nvPr/>
        </p:nvSpPr>
        <p:spPr>
          <a:xfrm>
            <a:off x="6858000" y="2103120"/>
            <a:ext cx="4510735" cy="548640"/>
          </a:xfrm>
          <a:prstGeom prst="rect">
            <a:avLst/>
          </a:prstGeom>
          <a:noFill/>
          <a:ln/>
        </p:spPr>
        <p:txBody>
          <a:bodyPr wrap="square" lIns="0" tIns="0" rIns="0" bIns="0" rtlCol="0" anchor="t"/>
          <a:lstStyle/>
          <a:p>
            <a:pPr indent="0" marL="0">
              <a:buNone/>
            </a:pPr>
            <a:r>
              <a:rPr lang="en-US" sz="1300" dirty="0">
                <a:solidFill>
                  <a:schemeClr val="tx1"/>
                </a:solidFill>
              </a:rPr>
              <a:t>Kesegaran makanan (termasuk ayam) dengan sensor MQ-135. Sensor yang sama ada di dataset ini.</a:t>
            </a:r>
            <a:endParaRPr lang="en-US" sz="1300" dirty="0"/>
          </a:p>
        </p:txBody>
      </p:sp>
      <p:sp>
        <p:nvSpPr>
          <p:cNvPr id="23" name="Shape 21"/>
          <p:cNvSpPr/>
          <p:nvPr/>
        </p:nvSpPr>
        <p:spPr>
          <a:xfrm>
            <a:off x="6583680" y="2834640"/>
            <a:ext cx="5059375" cy="1005840"/>
          </a:xfrm>
          <a:prstGeom prst="roundRect">
            <a:avLst>
              <a:gd name="adj" fmla="val 10909"/>
            </a:avLst>
          </a:prstGeom>
          <a:solidFill>
            <a:schemeClr val="bg2"/>
          </a:solidFill>
          <a:ln w="12700">
            <a:solidFill>
              <a:schemeClr val="bg2"/>
            </a:solidFill>
            <a:prstDash val="solid"/>
          </a:ln>
        </p:spPr>
      </p:sp>
      <p:sp>
        <p:nvSpPr>
          <p:cNvPr id="24" name="Text 22"/>
          <p:cNvSpPr txBox="1"/>
          <p:nvPr/>
        </p:nvSpPr>
        <p:spPr>
          <a:xfrm>
            <a:off x="6858000" y="2944368"/>
            <a:ext cx="4510735" cy="292608"/>
          </a:xfrm>
          <a:prstGeom prst="rect">
            <a:avLst/>
          </a:prstGeom>
          <a:noFill/>
          <a:ln/>
        </p:spPr>
        <p:txBody>
          <a:bodyPr wrap="square" lIns="0" tIns="0" rIns="0" bIns="0" rtlCol="0" anchor="ctr"/>
          <a:lstStyle/>
          <a:p>
            <a:pPr indent="0" marL="0">
              <a:buNone/>
            </a:pPr>
            <a:r>
              <a:rPr lang="en-US" sz="1500" b="1" dirty="0">
                <a:solidFill>
                  <a:schemeClr val="accent1"/>
                </a:solidFill>
              </a:rPr>
              <a:t>Rijal</a:t>
            </a:r>
            <a:endParaRPr lang="en-US" sz="1500" dirty="0"/>
          </a:p>
        </p:txBody>
      </p:sp>
      <p:sp>
        <p:nvSpPr>
          <p:cNvPr id="25" name="Text 23"/>
          <p:cNvSpPr txBox="1"/>
          <p:nvPr/>
        </p:nvSpPr>
        <p:spPr>
          <a:xfrm>
            <a:off x="6858000" y="3246120"/>
            <a:ext cx="4510735" cy="548640"/>
          </a:xfrm>
          <a:prstGeom prst="rect">
            <a:avLst/>
          </a:prstGeom>
          <a:noFill/>
          <a:ln/>
        </p:spPr>
        <p:txBody>
          <a:bodyPr wrap="square" lIns="0" tIns="0" rIns="0" bIns="0" rtlCol="0" anchor="t"/>
          <a:lstStyle/>
          <a:p>
            <a:pPr indent="0" marL="0">
              <a:buNone/>
            </a:pPr>
            <a:r>
              <a:rPr lang="en-US" sz="1300" dirty="0">
                <a:solidFill>
                  <a:schemeClr val="tx1"/>
                </a:solidFill>
              </a:rPr>
              <a:t>Mutu produk unggas: kuning telur puyuh.</a:t>
            </a:r>
            <a:endParaRPr lang="en-US" sz="1300" dirty="0"/>
          </a:p>
        </p:txBody>
      </p:sp>
      <p:sp>
        <p:nvSpPr>
          <p:cNvPr id="26" name="Shape 24"/>
          <p:cNvSpPr/>
          <p:nvPr/>
        </p:nvSpPr>
        <p:spPr>
          <a:xfrm>
            <a:off x="6583680" y="3977640"/>
            <a:ext cx="5059375" cy="1005840"/>
          </a:xfrm>
          <a:prstGeom prst="roundRect">
            <a:avLst>
              <a:gd name="adj" fmla="val 10909"/>
            </a:avLst>
          </a:prstGeom>
          <a:solidFill>
            <a:schemeClr val="bg2"/>
          </a:solidFill>
          <a:ln w="12700">
            <a:solidFill>
              <a:schemeClr val="bg2"/>
            </a:solidFill>
            <a:prstDash val="solid"/>
          </a:ln>
        </p:spPr>
      </p:sp>
      <p:sp>
        <p:nvSpPr>
          <p:cNvPr id="27" name="Text 25"/>
          <p:cNvSpPr txBox="1"/>
          <p:nvPr/>
        </p:nvSpPr>
        <p:spPr>
          <a:xfrm>
            <a:off x="6858000" y="4087368"/>
            <a:ext cx="4510735" cy="292608"/>
          </a:xfrm>
          <a:prstGeom prst="rect">
            <a:avLst/>
          </a:prstGeom>
          <a:noFill/>
          <a:ln/>
        </p:spPr>
        <p:txBody>
          <a:bodyPr wrap="square" lIns="0" tIns="0" rIns="0" bIns="0" rtlCol="0" anchor="ctr"/>
          <a:lstStyle/>
          <a:p>
            <a:pPr indent="0" marL="0">
              <a:buNone/>
            </a:pPr>
            <a:r>
              <a:rPr lang="en-US" sz="1500" b="1" dirty="0">
                <a:solidFill>
                  <a:schemeClr val="accent1"/>
                </a:solidFill>
              </a:rPr>
              <a:t>Michael</a:t>
            </a:r>
            <a:endParaRPr lang="en-US" sz="1500" dirty="0"/>
          </a:p>
        </p:txBody>
      </p:sp>
      <p:sp>
        <p:nvSpPr>
          <p:cNvPr id="28" name="Text 26"/>
          <p:cNvSpPr txBox="1"/>
          <p:nvPr/>
        </p:nvSpPr>
        <p:spPr>
          <a:xfrm>
            <a:off x="6858000" y="4389120"/>
            <a:ext cx="4510735" cy="548640"/>
          </a:xfrm>
          <a:prstGeom prst="rect">
            <a:avLst/>
          </a:prstGeom>
          <a:noFill/>
          <a:ln/>
        </p:spPr>
        <p:txBody>
          <a:bodyPr wrap="square" lIns="0" tIns="0" rIns="0" bIns="0" rtlCol="0" anchor="t"/>
          <a:lstStyle/>
          <a:p>
            <a:pPr indent="0" marL="0">
              <a:buNone/>
            </a:pPr>
            <a:r>
              <a:rPr lang="en-US" sz="1300" dirty="0">
                <a:solidFill>
                  <a:schemeClr val="tx1"/>
                </a:solidFill>
              </a:rPr>
              <a:t>Model gradient boosting (XGBoost), dipakai di bagian ensemble.</a:t>
            </a:r>
            <a:endParaRPr lang="en-US" sz="1300" dirty="0"/>
          </a:p>
        </p:txBody>
      </p:sp>
      <p:sp>
        <p:nvSpPr>
          <p:cNvPr id="29" name="Shape 27"/>
          <p:cNvSpPr/>
          <p:nvPr/>
        </p:nvSpPr>
        <p:spPr>
          <a:xfrm>
            <a:off x="548640" y="5349240"/>
            <a:ext cx="11094415" cy="731520"/>
          </a:xfrm>
          <a:prstGeom prst="roundRect">
            <a:avLst>
              <a:gd name="adj" fmla="val 15000"/>
            </a:avLst>
          </a:prstGeom>
          <a:solidFill>
            <a:schemeClr val="tx2"/>
          </a:solidFill>
          <a:ln w="12700">
            <a:solidFill>
              <a:schemeClr val="tx2"/>
            </a:solidFill>
            <a:prstDash val="solid"/>
          </a:ln>
        </p:spPr>
      </p:sp>
      <p:sp>
        <p:nvSpPr>
          <p:cNvPr id="30" name="Text 28"/>
          <p:cNvSpPr txBox="1"/>
          <p:nvPr/>
        </p:nvSpPr>
        <p:spPr>
          <a:xfrm>
            <a:off x="868680" y="5349240"/>
            <a:ext cx="10454335" cy="731520"/>
          </a:xfrm>
          <a:prstGeom prst="rect">
            <a:avLst/>
          </a:prstGeom>
          <a:noFill/>
          <a:ln/>
        </p:spPr>
        <p:txBody>
          <a:bodyPr wrap="square" lIns="0" tIns="0" rIns="0" bIns="0" rtlCol="0" anchor="ctr"/>
          <a:lstStyle/>
          <a:p>
            <a:pPr indent="0" marL="0">
              <a:buNone/>
            </a:pPr>
            <a:r>
              <a:rPr lang="en-US" sz="1600" b="1" dirty="0">
                <a:solidFill>
                  <a:schemeClr val="accent2"/>
                </a:solidFill>
              </a:rPr>
              <a:t>Manfaat: </a:t>
            </a:r>
            <a:pPr indent="0" marL="0">
              <a:buNone/>
            </a:pPr>
            <a:r>
              <a:rPr lang="en-US" sz="1600" dirty="0">
                <a:solidFill>
                  <a:schemeClr val="bg1"/>
                </a:solidFill>
              </a:rPr>
              <a:t>cek kesegaran yang cepat, murah, dan tanpa merusak sampel, misalnya di toko atau kulkas.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 dan alur kerja</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Erlangga</a:t>
            </a:r>
            <a:endParaRPr lang="en-US" sz="1200" dirty="0"/>
          </a:p>
        </p:txBody>
      </p:sp>
      <p:sp>
        <p:nvSpPr>
          <p:cNvPr id="5" name="Shape 3"/>
          <p:cNvSpPr/>
          <p:nvPr/>
        </p:nvSpPr>
        <p:spPr>
          <a:xfrm>
            <a:off x="548640" y="1280160"/>
            <a:ext cx="1962851" cy="2057400"/>
          </a:xfrm>
          <a:prstGeom prst="roundRect">
            <a:avLst>
              <a:gd name="adj" fmla="val 5590"/>
            </a:avLst>
          </a:prstGeom>
          <a:solidFill>
            <a:schemeClr val="bg2"/>
          </a:solidFill>
          <a:ln w="12700">
            <a:solidFill>
              <a:schemeClr val="bg2"/>
            </a:solidFill>
            <a:prstDash val="solid"/>
          </a:ln>
        </p:spPr>
      </p:sp>
      <p:sp>
        <p:nvSpPr>
          <p:cNvPr id="6" name="Shape 4"/>
          <p:cNvSpPr/>
          <p:nvPr/>
        </p:nvSpPr>
        <p:spPr>
          <a:xfrm>
            <a:off x="731520" y="1463040"/>
            <a:ext cx="411480" cy="411480"/>
          </a:xfrm>
          <a:prstGeom prst="ellipse">
            <a:avLst/>
          </a:prstGeom>
          <a:solidFill>
            <a:schemeClr val="accent1"/>
          </a:solidFill>
          <a:ln w="12700">
            <a:solidFill>
              <a:schemeClr val="accent1"/>
            </a:solidFill>
            <a:prstDash val="solid"/>
          </a:ln>
        </p:spPr>
      </p:sp>
      <p:sp>
        <p:nvSpPr>
          <p:cNvPr id="7" name="Text 5"/>
          <p:cNvSpPr txBox="1"/>
          <p:nvPr/>
        </p:nvSpPr>
        <p:spPr>
          <a:xfrm>
            <a:off x="731520"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234440" y="1463040"/>
            <a:ext cx="1139891" cy="411480"/>
          </a:xfrm>
          <a:prstGeom prst="rect">
            <a:avLst/>
          </a:prstGeom>
          <a:noFill/>
          <a:ln/>
        </p:spPr>
        <p:txBody>
          <a:bodyPr wrap="square" lIns="0" tIns="0" rIns="0" bIns="0" rtlCol="0" anchor="ctr"/>
          <a:lstStyle/>
          <a:p>
            <a:pPr indent="0" marL="0">
              <a:buNone/>
            </a:pPr>
            <a:r>
              <a:rPr lang="en-US" sz="1600" b="1" dirty="0">
                <a:solidFill>
                  <a:schemeClr val="tx2"/>
                </a:solidFill>
              </a:rPr>
              <a:t>Akuisisi</a:t>
            </a:r>
            <a:endParaRPr lang="en-US" sz="1600" dirty="0"/>
          </a:p>
        </p:txBody>
      </p:sp>
      <p:sp>
        <p:nvSpPr>
          <p:cNvPr id="9" name="Text 7"/>
          <p:cNvSpPr txBox="1"/>
          <p:nvPr/>
        </p:nvSpPr>
        <p:spPr>
          <a:xfrm>
            <a:off x="731520" y="2011680"/>
            <a:ext cx="1597091" cy="777240"/>
          </a:xfrm>
          <a:prstGeom prst="rect">
            <a:avLst/>
          </a:prstGeom>
          <a:noFill/>
          <a:ln/>
        </p:spPr>
        <p:txBody>
          <a:bodyPr wrap="square" lIns="0" tIns="0" rIns="0" bIns="0" rtlCol="0" anchor="ctr"/>
          <a:lstStyle/>
          <a:p>
            <a:pPr indent="0" marL="0">
              <a:buNone/>
            </a:pPr>
            <a:r>
              <a:rPr lang="en-US" sz="1300" dirty="0">
                <a:solidFill>
                  <a:schemeClr val="tx1"/>
                </a:solidFill>
              </a:rPr>
              <a:t>Unduh data, cek keaslian file (SHA-256)</a:t>
            </a:r>
            <a:endParaRPr lang="en-US" sz="1300" dirty="0"/>
          </a:p>
        </p:txBody>
      </p:sp>
      <p:sp>
        <p:nvSpPr>
          <p:cNvPr id="10" name="Shape 8"/>
          <p:cNvSpPr/>
          <p:nvPr/>
        </p:nvSpPr>
        <p:spPr>
          <a:xfrm>
            <a:off x="2557211" y="2308860"/>
            <a:ext cx="228600" cy="0"/>
          </a:xfrm>
          <a:prstGeom prst="line">
            <a:avLst/>
          </a:prstGeom>
          <a:noFill/>
          <a:ln w="25400">
            <a:solidFill>
              <a:srgbClr val="0F5257"/>
            </a:solidFill>
            <a:prstDash val="solid"/>
            <a:tailEnd type="triangle"/>
          </a:ln>
        </p:spPr>
      </p:sp>
      <p:sp>
        <p:nvSpPr>
          <p:cNvPr id="11" name="Shape 9"/>
          <p:cNvSpPr/>
          <p:nvPr/>
        </p:nvSpPr>
        <p:spPr>
          <a:xfrm>
            <a:off x="2831531" y="1280160"/>
            <a:ext cx="1962851" cy="2057400"/>
          </a:xfrm>
          <a:prstGeom prst="roundRect">
            <a:avLst>
              <a:gd name="adj" fmla="val 5590"/>
            </a:avLst>
          </a:prstGeom>
          <a:solidFill>
            <a:schemeClr val="bg2"/>
          </a:solidFill>
          <a:ln w="12700">
            <a:solidFill>
              <a:schemeClr val="bg2"/>
            </a:solidFill>
            <a:prstDash val="solid"/>
          </a:ln>
        </p:spPr>
      </p:sp>
      <p:sp>
        <p:nvSpPr>
          <p:cNvPr id="12" name="Shape 10"/>
          <p:cNvSpPr/>
          <p:nvPr/>
        </p:nvSpPr>
        <p:spPr>
          <a:xfrm>
            <a:off x="3014411" y="1463040"/>
            <a:ext cx="411480" cy="411480"/>
          </a:xfrm>
          <a:prstGeom prst="ellipse">
            <a:avLst/>
          </a:prstGeom>
          <a:solidFill>
            <a:schemeClr val="accent1"/>
          </a:solidFill>
          <a:ln w="12700">
            <a:solidFill>
              <a:schemeClr val="accent1"/>
            </a:solidFill>
            <a:prstDash val="solid"/>
          </a:ln>
        </p:spPr>
      </p:sp>
      <p:sp>
        <p:nvSpPr>
          <p:cNvPr id="13" name="Text 11"/>
          <p:cNvSpPr txBox="1"/>
          <p:nvPr/>
        </p:nvSpPr>
        <p:spPr>
          <a:xfrm>
            <a:off x="3014411"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2"/>
          <p:cNvSpPr txBox="1"/>
          <p:nvPr/>
        </p:nvSpPr>
        <p:spPr>
          <a:xfrm>
            <a:off x="3517331" y="1463040"/>
            <a:ext cx="1139891" cy="411480"/>
          </a:xfrm>
          <a:prstGeom prst="rect">
            <a:avLst/>
          </a:prstGeom>
          <a:noFill/>
          <a:ln/>
        </p:spPr>
        <p:txBody>
          <a:bodyPr wrap="square" lIns="0" tIns="0" rIns="0" bIns="0" rtlCol="0" anchor="ctr"/>
          <a:lstStyle/>
          <a:p>
            <a:pPr indent="0" marL="0">
              <a:buNone/>
            </a:pPr>
            <a:r>
              <a:rPr lang="en-US" sz="1600" b="1" dirty="0">
                <a:solidFill>
                  <a:schemeClr val="tx2"/>
                </a:solidFill>
              </a:rPr>
              <a:t>Pengolahan</a:t>
            </a:r>
            <a:endParaRPr lang="en-US" sz="1600" dirty="0"/>
          </a:p>
        </p:txBody>
      </p:sp>
      <p:sp>
        <p:nvSpPr>
          <p:cNvPr id="15" name="Text 13"/>
          <p:cNvSpPr txBox="1"/>
          <p:nvPr/>
        </p:nvSpPr>
        <p:spPr>
          <a:xfrm>
            <a:off x="3014411" y="2011680"/>
            <a:ext cx="1597091" cy="777240"/>
          </a:xfrm>
          <a:prstGeom prst="rect">
            <a:avLst/>
          </a:prstGeom>
          <a:noFill/>
          <a:ln/>
        </p:spPr>
        <p:txBody>
          <a:bodyPr wrap="square" lIns="0" tIns="0" rIns="0" bIns="0" rtlCol="0" anchor="ctr"/>
          <a:lstStyle/>
          <a:p>
            <a:pPr indent="0" marL="0">
              <a:buNone/>
            </a:pPr>
            <a:r>
              <a:rPr lang="en-US" sz="1300" dirty="0">
                <a:solidFill>
                  <a:schemeClr val="tx1"/>
                </a:solidFill>
              </a:rPr>
              <a:t>Rata-rata 5 menit, kalibrasi, 19 fitur</a:t>
            </a:r>
            <a:endParaRPr lang="en-US" sz="1300" dirty="0"/>
          </a:p>
        </p:txBody>
      </p:sp>
      <p:sp>
        <p:nvSpPr>
          <p:cNvPr id="16" name="Shape 14"/>
          <p:cNvSpPr/>
          <p:nvPr/>
        </p:nvSpPr>
        <p:spPr>
          <a:xfrm>
            <a:off x="2968691" y="2834640"/>
            <a:ext cx="1688531" cy="365760"/>
          </a:xfrm>
          <a:prstGeom prst="roundRect">
            <a:avLst>
              <a:gd name="adj" fmla="val 50000"/>
            </a:avLst>
          </a:prstGeom>
          <a:solidFill>
            <a:schemeClr val="accent2"/>
          </a:solidFill>
          <a:ln w="12700">
            <a:solidFill>
              <a:schemeClr val="accent2"/>
            </a:solidFill>
            <a:prstDash val="solid"/>
          </a:ln>
        </p:spPr>
      </p:sp>
      <p:sp>
        <p:nvSpPr>
          <p:cNvPr id="17" name="Text 15"/>
          <p:cNvSpPr txBox="1"/>
          <p:nvPr/>
        </p:nvSpPr>
        <p:spPr>
          <a:xfrm>
            <a:off x="2968691" y="2834640"/>
            <a:ext cx="1688531" cy="365760"/>
          </a:xfrm>
          <a:prstGeom prst="rect">
            <a:avLst/>
          </a:prstGeom>
          <a:noFill/>
          <a:ln/>
        </p:spPr>
        <p:txBody>
          <a:bodyPr wrap="square" lIns="0" tIns="0" rIns="0" bIns="0" rtlCol="0" anchor="ctr"/>
          <a:lstStyle/>
          <a:p>
            <a:pPr algn="ctr" indent="0" marL="0">
              <a:buNone/>
            </a:pPr>
            <a:r>
              <a:rPr lang="en-US" sz="1200" b="1" dirty="0">
                <a:solidFill>
                  <a:schemeClr val="tx2"/>
                </a:solidFill>
              </a:rPr>
              <a:t>Augmentasi</a:t>
            </a:r>
            <a:endParaRPr lang="en-US" sz="1200" dirty="0"/>
          </a:p>
        </p:txBody>
      </p:sp>
      <p:sp>
        <p:nvSpPr>
          <p:cNvPr id="18" name="Shape 16"/>
          <p:cNvSpPr/>
          <p:nvPr/>
        </p:nvSpPr>
        <p:spPr>
          <a:xfrm>
            <a:off x="4840102" y="2308860"/>
            <a:ext cx="228600" cy="0"/>
          </a:xfrm>
          <a:prstGeom prst="line">
            <a:avLst/>
          </a:prstGeom>
          <a:noFill/>
          <a:ln w="25400">
            <a:solidFill>
              <a:srgbClr val="0F5257"/>
            </a:solidFill>
            <a:prstDash val="solid"/>
            <a:tailEnd type="triangle"/>
          </a:ln>
        </p:spPr>
      </p:sp>
      <p:sp>
        <p:nvSpPr>
          <p:cNvPr id="19" name="Shape 17"/>
          <p:cNvSpPr/>
          <p:nvPr/>
        </p:nvSpPr>
        <p:spPr>
          <a:xfrm>
            <a:off x="5114422" y="1280160"/>
            <a:ext cx="1962851" cy="2057400"/>
          </a:xfrm>
          <a:prstGeom prst="roundRect">
            <a:avLst>
              <a:gd name="adj" fmla="val 5590"/>
            </a:avLst>
          </a:prstGeom>
          <a:solidFill>
            <a:schemeClr val="bg2"/>
          </a:solidFill>
          <a:ln w="12700">
            <a:solidFill>
              <a:schemeClr val="bg2"/>
            </a:solidFill>
            <a:prstDash val="solid"/>
          </a:ln>
        </p:spPr>
      </p:sp>
      <p:sp>
        <p:nvSpPr>
          <p:cNvPr id="20" name="Shape 18"/>
          <p:cNvSpPr/>
          <p:nvPr/>
        </p:nvSpPr>
        <p:spPr>
          <a:xfrm>
            <a:off x="5297302" y="1463040"/>
            <a:ext cx="411480" cy="411480"/>
          </a:xfrm>
          <a:prstGeom prst="ellipse">
            <a:avLst/>
          </a:prstGeom>
          <a:solidFill>
            <a:schemeClr val="accent1"/>
          </a:solidFill>
          <a:ln w="12700">
            <a:solidFill>
              <a:schemeClr val="accent1"/>
            </a:solidFill>
            <a:prstDash val="solid"/>
          </a:ln>
        </p:spPr>
      </p:sp>
      <p:sp>
        <p:nvSpPr>
          <p:cNvPr id="21" name="Text 19"/>
          <p:cNvSpPr txBox="1"/>
          <p:nvPr/>
        </p:nvSpPr>
        <p:spPr>
          <a:xfrm>
            <a:off x="5297302"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5800222" y="1463040"/>
            <a:ext cx="1139891" cy="411480"/>
          </a:xfrm>
          <a:prstGeom prst="rect">
            <a:avLst/>
          </a:prstGeom>
          <a:noFill/>
          <a:ln/>
        </p:spPr>
        <p:txBody>
          <a:bodyPr wrap="square" lIns="0" tIns="0" rIns="0" bIns="0" rtlCol="0" anchor="ctr"/>
          <a:lstStyle/>
          <a:p>
            <a:pPr indent="0" marL="0">
              <a:buNone/>
            </a:pPr>
            <a:r>
              <a:rPr lang="en-US" sz="1600" b="1" dirty="0">
                <a:solidFill>
                  <a:schemeClr val="tx2"/>
                </a:solidFill>
              </a:rPr>
              <a:t>Pemodelan</a:t>
            </a:r>
            <a:endParaRPr lang="en-US" sz="1600" dirty="0"/>
          </a:p>
        </p:txBody>
      </p:sp>
      <p:sp>
        <p:nvSpPr>
          <p:cNvPr id="23" name="Text 21"/>
          <p:cNvSpPr txBox="1"/>
          <p:nvPr/>
        </p:nvSpPr>
        <p:spPr>
          <a:xfrm>
            <a:off x="5297302" y="2011680"/>
            <a:ext cx="1597091" cy="777240"/>
          </a:xfrm>
          <a:prstGeom prst="rect">
            <a:avLst/>
          </a:prstGeom>
          <a:noFill/>
          <a:ln/>
        </p:spPr>
        <p:txBody>
          <a:bodyPr wrap="square" lIns="0" tIns="0" rIns="0" bIns="0" rtlCol="0" anchor="ctr"/>
          <a:lstStyle/>
          <a:p>
            <a:pPr indent="0" marL="0">
              <a:buNone/>
            </a:pPr>
            <a:r>
              <a:rPr lang="en-US" sz="1300" dirty="0">
                <a:solidFill>
                  <a:schemeClr val="tx1"/>
                </a:solidFill>
              </a:rPr>
              <a:t>Model tunggal vs gabungan</a:t>
            </a:r>
            <a:endParaRPr lang="en-US" sz="1300" dirty="0"/>
          </a:p>
        </p:txBody>
      </p:sp>
      <p:sp>
        <p:nvSpPr>
          <p:cNvPr id="24" name="Shape 22"/>
          <p:cNvSpPr/>
          <p:nvPr/>
        </p:nvSpPr>
        <p:spPr>
          <a:xfrm>
            <a:off x="5251582" y="2834640"/>
            <a:ext cx="1688531" cy="365760"/>
          </a:xfrm>
          <a:prstGeom prst="roundRect">
            <a:avLst>
              <a:gd name="adj" fmla="val 50000"/>
            </a:avLst>
          </a:prstGeom>
          <a:solidFill>
            <a:schemeClr val="accent2"/>
          </a:solidFill>
          <a:ln w="12700">
            <a:solidFill>
              <a:schemeClr val="accent2"/>
            </a:solidFill>
            <a:prstDash val="solid"/>
          </a:ln>
        </p:spPr>
      </p:sp>
      <p:sp>
        <p:nvSpPr>
          <p:cNvPr id="25" name="Text 23"/>
          <p:cNvSpPr txBox="1"/>
          <p:nvPr/>
        </p:nvSpPr>
        <p:spPr>
          <a:xfrm>
            <a:off x="5251582" y="2834640"/>
            <a:ext cx="1688531" cy="365760"/>
          </a:xfrm>
          <a:prstGeom prst="rect">
            <a:avLst/>
          </a:prstGeom>
          <a:noFill/>
          <a:ln/>
        </p:spPr>
        <p:txBody>
          <a:bodyPr wrap="square" lIns="0" tIns="0" rIns="0" bIns="0" rtlCol="0" anchor="ctr"/>
          <a:lstStyle/>
          <a:p>
            <a:pPr algn="ctr" indent="0" marL="0">
              <a:buNone/>
            </a:pPr>
            <a:r>
              <a:rPr lang="en-US" sz="1200" b="1" dirty="0">
                <a:solidFill>
                  <a:schemeClr val="tx2"/>
                </a:solidFill>
              </a:rPr>
              <a:t>Ensemble</a:t>
            </a:r>
            <a:endParaRPr lang="en-US" sz="1200" dirty="0"/>
          </a:p>
        </p:txBody>
      </p:sp>
      <p:sp>
        <p:nvSpPr>
          <p:cNvPr id="26" name="Shape 24"/>
          <p:cNvSpPr/>
          <p:nvPr/>
        </p:nvSpPr>
        <p:spPr>
          <a:xfrm>
            <a:off x="7122993" y="2308860"/>
            <a:ext cx="228600" cy="0"/>
          </a:xfrm>
          <a:prstGeom prst="line">
            <a:avLst/>
          </a:prstGeom>
          <a:noFill/>
          <a:ln w="25400">
            <a:solidFill>
              <a:srgbClr val="0F5257"/>
            </a:solidFill>
            <a:prstDash val="solid"/>
            <a:tailEnd type="triangle"/>
          </a:ln>
        </p:spPr>
      </p:sp>
      <p:sp>
        <p:nvSpPr>
          <p:cNvPr id="27" name="Shape 25"/>
          <p:cNvSpPr/>
          <p:nvPr/>
        </p:nvSpPr>
        <p:spPr>
          <a:xfrm>
            <a:off x="7397313" y="1280160"/>
            <a:ext cx="1962851" cy="2057400"/>
          </a:xfrm>
          <a:prstGeom prst="roundRect">
            <a:avLst>
              <a:gd name="adj" fmla="val 5590"/>
            </a:avLst>
          </a:prstGeom>
          <a:solidFill>
            <a:schemeClr val="bg2"/>
          </a:solidFill>
          <a:ln w="12700">
            <a:solidFill>
              <a:schemeClr val="bg2"/>
            </a:solidFill>
            <a:prstDash val="solid"/>
          </a:ln>
        </p:spPr>
      </p:sp>
      <p:sp>
        <p:nvSpPr>
          <p:cNvPr id="28" name="Shape 26"/>
          <p:cNvSpPr/>
          <p:nvPr/>
        </p:nvSpPr>
        <p:spPr>
          <a:xfrm>
            <a:off x="7580193" y="1463040"/>
            <a:ext cx="411480" cy="411480"/>
          </a:xfrm>
          <a:prstGeom prst="ellipse">
            <a:avLst/>
          </a:prstGeom>
          <a:solidFill>
            <a:schemeClr val="accent1"/>
          </a:solidFill>
          <a:ln w="12700">
            <a:solidFill>
              <a:schemeClr val="accent1"/>
            </a:solidFill>
            <a:prstDash val="solid"/>
          </a:ln>
        </p:spPr>
      </p:sp>
      <p:sp>
        <p:nvSpPr>
          <p:cNvPr id="29" name="Text 27"/>
          <p:cNvSpPr txBox="1"/>
          <p:nvPr/>
        </p:nvSpPr>
        <p:spPr>
          <a:xfrm>
            <a:off x="7580193"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0" name="Text 28"/>
          <p:cNvSpPr txBox="1"/>
          <p:nvPr/>
        </p:nvSpPr>
        <p:spPr>
          <a:xfrm>
            <a:off x="8083113" y="1463040"/>
            <a:ext cx="1139891" cy="411480"/>
          </a:xfrm>
          <a:prstGeom prst="rect">
            <a:avLst/>
          </a:prstGeom>
          <a:noFill/>
          <a:ln/>
        </p:spPr>
        <p:txBody>
          <a:bodyPr wrap="square" lIns="0" tIns="0" rIns="0" bIns="0" rtlCol="0" anchor="ctr"/>
          <a:lstStyle/>
          <a:p>
            <a:pPr indent="0" marL="0">
              <a:buNone/>
            </a:pPr>
            <a:r>
              <a:rPr lang="en-US" sz="1600" b="1" dirty="0">
                <a:solidFill>
                  <a:schemeClr val="tx2"/>
                </a:solidFill>
              </a:rPr>
              <a:t>Uji jujur</a:t>
            </a:r>
            <a:endParaRPr lang="en-US" sz="1600" dirty="0"/>
          </a:p>
        </p:txBody>
      </p:sp>
      <p:sp>
        <p:nvSpPr>
          <p:cNvPr id="31" name="Text 29"/>
          <p:cNvSpPr txBox="1"/>
          <p:nvPr/>
        </p:nvSpPr>
        <p:spPr>
          <a:xfrm>
            <a:off x="7580193" y="2011680"/>
            <a:ext cx="1597091" cy="777240"/>
          </a:xfrm>
          <a:prstGeom prst="rect">
            <a:avLst/>
          </a:prstGeom>
          <a:noFill/>
          <a:ln/>
        </p:spPr>
        <p:txBody>
          <a:bodyPr wrap="square" lIns="0" tIns="0" rIns="0" bIns="0" rtlCol="0" anchor="ctr"/>
          <a:lstStyle/>
          <a:p>
            <a:pPr indent="0" marL="0">
              <a:buNone/>
            </a:pPr>
            <a:r>
              <a:rPr lang="en-US" sz="1300" dirty="0">
                <a:solidFill>
                  <a:schemeClr val="tx1"/>
                </a:solidFill>
              </a:rPr>
              <a:t>Diuji di sesi ayam yang belum pernah dilihat</a:t>
            </a:r>
            <a:endParaRPr lang="en-US" sz="1300" dirty="0"/>
          </a:p>
        </p:txBody>
      </p:sp>
      <p:sp>
        <p:nvSpPr>
          <p:cNvPr id="32" name="Shape 30"/>
          <p:cNvSpPr/>
          <p:nvPr/>
        </p:nvSpPr>
        <p:spPr>
          <a:xfrm>
            <a:off x="9405884" y="2308860"/>
            <a:ext cx="228600" cy="0"/>
          </a:xfrm>
          <a:prstGeom prst="line">
            <a:avLst/>
          </a:prstGeom>
          <a:noFill/>
          <a:ln w="25400">
            <a:solidFill>
              <a:srgbClr val="0F5257"/>
            </a:solidFill>
            <a:prstDash val="solid"/>
            <a:tailEnd type="triangle"/>
          </a:ln>
        </p:spPr>
      </p:sp>
      <p:sp>
        <p:nvSpPr>
          <p:cNvPr id="33" name="Shape 31"/>
          <p:cNvSpPr/>
          <p:nvPr/>
        </p:nvSpPr>
        <p:spPr>
          <a:xfrm>
            <a:off x="9680204" y="1280160"/>
            <a:ext cx="1962851" cy="2057400"/>
          </a:xfrm>
          <a:prstGeom prst="roundRect">
            <a:avLst>
              <a:gd name="adj" fmla="val 5590"/>
            </a:avLst>
          </a:prstGeom>
          <a:solidFill>
            <a:schemeClr val="bg2"/>
          </a:solidFill>
          <a:ln w="12700">
            <a:solidFill>
              <a:schemeClr val="bg2"/>
            </a:solidFill>
            <a:prstDash val="solid"/>
          </a:ln>
        </p:spPr>
      </p:sp>
      <p:sp>
        <p:nvSpPr>
          <p:cNvPr id="34" name="Shape 32"/>
          <p:cNvSpPr/>
          <p:nvPr/>
        </p:nvSpPr>
        <p:spPr>
          <a:xfrm>
            <a:off x="9863084" y="1463040"/>
            <a:ext cx="411480" cy="411480"/>
          </a:xfrm>
          <a:prstGeom prst="ellipse">
            <a:avLst/>
          </a:prstGeom>
          <a:solidFill>
            <a:schemeClr val="accent1"/>
          </a:solidFill>
          <a:ln w="12700">
            <a:solidFill>
              <a:schemeClr val="accent1"/>
            </a:solidFill>
            <a:prstDash val="solid"/>
          </a:ln>
        </p:spPr>
      </p:sp>
      <p:sp>
        <p:nvSpPr>
          <p:cNvPr id="35" name="Text 33"/>
          <p:cNvSpPr txBox="1"/>
          <p:nvPr/>
        </p:nvSpPr>
        <p:spPr>
          <a:xfrm>
            <a:off x="9863084"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6" name="Text 34"/>
          <p:cNvSpPr txBox="1"/>
          <p:nvPr/>
        </p:nvSpPr>
        <p:spPr>
          <a:xfrm>
            <a:off x="10366004" y="1463040"/>
            <a:ext cx="1139891" cy="411480"/>
          </a:xfrm>
          <a:prstGeom prst="rect">
            <a:avLst/>
          </a:prstGeom>
          <a:noFill/>
          <a:ln/>
        </p:spPr>
        <p:txBody>
          <a:bodyPr wrap="square" lIns="0" tIns="0" rIns="0" bIns="0" rtlCol="0" anchor="ctr"/>
          <a:lstStyle/>
          <a:p>
            <a:pPr indent="0" marL="0">
              <a:buNone/>
            </a:pPr>
            <a:r>
              <a:rPr lang="en-US" sz="1600" b="1" dirty="0">
                <a:solidFill>
                  <a:schemeClr val="tx2"/>
                </a:solidFill>
              </a:rPr>
              <a:t>Keputusan</a:t>
            </a:r>
            <a:endParaRPr lang="en-US" sz="1600" dirty="0"/>
          </a:p>
        </p:txBody>
      </p:sp>
      <p:sp>
        <p:nvSpPr>
          <p:cNvPr id="37" name="Text 35"/>
          <p:cNvSpPr txBox="1"/>
          <p:nvPr/>
        </p:nvSpPr>
        <p:spPr>
          <a:xfrm>
            <a:off x="9863084" y="2011680"/>
            <a:ext cx="1597091" cy="777240"/>
          </a:xfrm>
          <a:prstGeom prst="rect">
            <a:avLst/>
          </a:prstGeom>
          <a:noFill/>
          <a:ln/>
        </p:spPr>
        <p:txBody>
          <a:bodyPr wrap="square" lIns="0" tIns="0" rIns="0" bIns="0" rtlCol="0" anchor="ctr"/>
          <a:lstStyle/>
          <a:p>
            <a:pPr indent="0" marL="0">
              <a:buNone/>
            </a:pPr>
            <a:r>
              <a:rPr lang="en-US" sz="1300" dirty="0">
                <a:solidFill>
                  <a:schemeClr val="tx1"/>
                </a:solidFill>
              </a:rPr>
              <a:t>Agen memilih: jual, cek manual, buang</a:t>
            </a:r>
            <a:endParaRPr lang="en-US" sz="1300" dirty="0"/>
          </a:p>
        </p:txBody>
      </p:sp>
      <p:sp>
        <p:nvSpPr>
          <p:cNvPr id="38" name="Shape 36"/>
          <p:cNvSpPr/>
          <p:nvPr/>
        </p:nvSpPr>
        <p:spPr>
          <a:xfrm>
            <a:off x="9817364" y="2834640"/>
            <a:ext cx="1688531" cy="365760"/>
          </a:xfrm>
          <a:prstGeom prst="roundRect">
            <a:avLst>
              <a:gd name="adj" fmla="val 50000"/>
            </a:avLst>
          </a:prstGeom>
          <a:solidFill>
            <a:schemeClr val="accent2"/>
          </a:solidFill>
          <a:ln w="12700">
            <a:solidFill>
              <a:schemeClr val="accent2"/>
            </a:solidFill>
            <a:prstDash val="solid"/>
          </a:ln>
        </p:spPr>
      </p:sp>
      <p:sp>
        <p:nvSpPr>
          <p:cNvPr id="39" name="Text 37"/>
          <p:cNvSpPr txBox="1"/>
          <p:nvPr/>
        </p:nvSpPr>
        <p:spPr>
          <a:xfrm>
            <a:off x="9817364" y="2834640"/>
            <a:ext cx="1688531" cy="365760"/>
          </a:xfrm>
          <a:prstGeom prst="rect">
            <a:avLst/>
          </a:prstGeom>
          <a:noFill/>
          <a:ln/>
        </p:spPr>
        <p:txBody>
          <a:bodyPr wrap="square" lIns="0" tIns="0" rIns="0" bIns="0" rtlCol="0" anchor="ctr"/>
          <a:lstStyle/>
          <a:p>
            <a:pPr algn="ctr" indent="0" marL="0">
              <a:buNone/>
            </a:pPr>
            <a:r>
              <a:rPr lang="en-US" sz="1200" b="1" dirty="0">
                <a:solidFill>
                  <a:schemeClr val="tx2"/>
                </a:solidFill>
              </a:rPr>
              <a:t>Reinforcement</a:t>
            </a:r>
            <a:endParaRPr lang="en-US" sz="1200" dirty="0"/>
          </a:p>
        </p:txBody>
      </p:sp>
      <p:sp>
        <p:nvSpPr>
          <p:cNvPr id="40" name="Shape 38"/>
          <p:cNvSpPr/>
          <p:nvPr/>
        </p:nvSpPr>
        <p:spPr>
          <a:xfrm>
            <a:off x="548640" y="3566160"/>
            <a:ext cx="6766560" cy="2331720"/>
          </a:xfrm>
          <a:prstGeom prst="roundRect">
            <a:avLst>
              <a:gd name="adj" fmla="val 4706"/>
            </a:avLst>
          </a:prstGeom>
          <a:solidFill>
            <a:schemeClr val="bg1"/>
          </a:solidFill>
          <a:ln w="15875">
            <a:solidFill>
              <a:schemeClr val="accent1"/>
            </a:solidFill>
            <a:prstDash val="solid"/>
          </a:ln>
        </p:spPr>
      </p:sp>
      <p:sp>
        <p:nvSpPr>
          <p:cNvPr id="41" name="Text 39"/>
          <p:cNvSpPr txBox="1"/>
          <p:nvPr/>
        </p:nvSpPr>
        <p:spPr>
          <a:xfrm>
            <a:off x="822960" y="3749040"/>
            <a:ext cx="6217920" cy="36576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E-nose daging ayam</a:t>
            </a:r>
            <a:endParaRPr lang="en-US" sz="1900" dirty="0"/>
          </a:p>
        </p:txBody>
      </p:sp>
      <p:sp>
        <p:nvSpPr>
          <p:cNvPr id="42" name="Text 40"/>
          <p:cNvSpPr txBox="1"/>
          <p:nvPr/>
        </p:nvSpPr>
        <p:spPr>
          <a:xfrm>
            <a:off x="822960" y="4133088"/>
            <a:ext cx="6217920" cy="274320"/>
          </a:xfrm>
          <a:prstGeom prst="rect">
            <a:avLst/>
          </a:prstGeom>
          <a:noFill/>
          <a:ln/>
        </p:spPr>
        <p:txBody>
          <a:bodyPr wrap="square" lIns="0" tIns="0" rIns="0" bIns="0" rtlCol="0" anchor="ctr"/>
          <a:lstStyle/>
          <a:p>
            <a:pPr indent="0" marL="0">
              <a:buNone/>
            </a:pPr>
            <a:r>
              <a:rPr lang="en-US" sz="1200" dirty="0">
                <a:solidFill>
                  <a:srgbClr val="56676A"/>
                </a:solidFill>
              </a:rPr>
              <a:t>Anwar &amp; Anwar (2025), Sensing and Bio-Sensing Research 47, 100739</a:t>
            </a:r>
            <a:endParaRPr lang="en-US" sz="1200" dirty="0"/>
          </a:p>
        </p:txBody>
      </p:sp>
      <p:sp>
        <p:nvSpPr>
          <p:cNvPr id="43" name="Text 41"/>
          <p:cNvSpPr txBox="1"/>
          <p:nvPr/>
        </p:nvSpPr>
        <p:spPr>
          <a:xfrm>
            <a:off x="822960" y="4526280"/>
            <a:ext cx="621792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15 sesi rekaman, 218.318 bacaan sensor</a:t>
            </a:r>
            <a:endParaRPr lang="en-US" sz="1400" dirty="0"/>
          </a:p>
          <a:p>
            <a:pPr marL="342900" indent="-342900">
              <a:spcAft>
                <a:spcPts val="400"/>
              </a:spcAft>
              <a:buSzPct val="100000"/>
              <a:buChar char="•"/>
            </a:pPr>
            <a:r>
              <a:rPr lang="en-US" sz="1400" dirty="0">
                <a:solidFill>
                  <a:schemeClr val="tx1"/>
                </a:solidFill>
              </a:rPr>
              <a:t>7 sensor: MQ-135, MQ-2, MQ-3, MQ-6, MQ-7, MQ-9, kelembapan</a:t>
            </a:r>
            <a:endParaRPr lang="en-US" sz="1400" dirty="0"/>
          </a:p>
          <a:p>
            <a:pPr marL="342900" indent="-342900">
              <a:spcAft>
                <a:spcPts val="400"/>
              </a:spcAft>
              <a:buSzPct val="100000"/>
              <a:buChar char="•"/>
            </a:pPr>
            <a:r>
              <a:rPr lang="en-US" sz="1400" dirty="0">
                <a:solidFill>
                  <a:schemeClr val="tx1"/>
                </a:solidFill>
              </a:rPr>
              <a:t>Label dari lama penyimpanan: Fresh · Semi-fresh · Spoiled</a:t>
            </a:r>
            <a:endParaRPr lang="en-US" sz="1400" dirty="0"/>
          </a:p>
        </p:txBody>
      </p:sp>
      <p:sp>
        <p:nvSpPr>
          <p:cNvPr id="44" name="Shape 42"/>
          <p:cNvSpPr/>
          <p:nvPr/>
        </p:nvSpPr>
        <p:spPr>
          <a:xfrm>
            <a:off x="7589520" y="3566160"/>
            <a:ext cx="4053535" cy="2331720"/>
          </a:xfrm>
          <a:prstGeom prst="roundRect">
            <a:avLst>
              <a:gd name="adj" fmla="val 4706"/>
            </a:avLst>
          </a:prstGeom>
          <a:solidFill>
            <a:schemeClr val="bg2"/>
          </a:solidFill>
          <a:ln w="12700">
            <a:solidFill>
              <a:schemeClr val="bg2"/>
            </a:solidFill>
            <a:prstDash val="solid"/>
          </a:ln>
        </p:spPr>
      </p:sp>
      <p:sp>
        <p:nvSpPr>
          <p:cNvPr id="45" name="Text 43"/>
          <p:cNvSpPr txBox="1"/>
          <p:nvPr/>
        </p:nvSpPr>
        <p:spPr>
          <a:xfrm>
            <a:off x="7863840" y="3749040"/>
            <a:ext cx="350489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JUMLAH DATA PER KELAS</a:t>
            </a:r>
            <a:endParaRPr lang="en-US" sz="1200" dirty="0"/>
          </a:p>
        </p:txBody>
      </p:sp>
      <p:sp>
        <p:nvSpPr>
          <p:cNvPr id="46" name="Text 44"/>
          <p:cNvSpPr txBox="1"/>
          <p:nvPr/>
        </p:nvSpPr>
        <p:spPr>
          <a:xfrm>
            <a:off x="7863840" y="4160520"/>
            <a:ext cx="1463040" cy="347472"/>
          </a:xfrm>
          <a:prstGeom prst="rect">
            <a:avLst/>
          </a:prstGeom>
          <a:noFill/>
          <a:ln/>
        </p:spPr>
        <p:txBody>
          <a:bodyPr wrap="square" lIns="0" tIns="0" rIns="0" bIns="0" rtlCol="0" anchor="ctr"/>
          <a:lstStyle/>
          <a:p>
            <a:pPr indent="0" marL="0">
              <a:buNone/>
            </a:pPr>
            <a:r>
              <a:rPr lang="en-US" sz="1400" dirty="0">
                <a:solidFill>
                  <a:schemeClr val="tx1"/>
                </a:solidFill>
              </a:rPr>
              <a:t>Fresh</a:t>
            </a:r>
            <a:endParaRPr lang="en-US" sz="1400" dirty="0"/>
          </a:p>
        </p:txBody>
      </p:sp>
      <p:sp>
        <p:nvSpPr>
          <p:cNvPr id="47" name="Text 45"/>
          <p:cNvSpPr txBox="1"/>
          <p:nvPr/>
        </p:nvSpPr>
        <p:spPr>
          <a:xfrm>
            <a:off x="9326880" y="4160520"/>
            <a:ext cx="1097280" cy="347472"/>
          </a:xfrm>
          <a:prstGeom prst="rect">
            <a:avLst/>
          </a:prstGeom>
          <a:noFill/>
          <a:ln/>
        </p:spPr>
        <p:txBody>
          <a:bodyPr wrap="square" lIns="0" tIns="0" rIns="0" bIns="0" rtlCol="0" anchor="ctr"/>
          <a:lstStyle/>
          <a:p>
            <a:pPr indent="0" marL="0">
              <a:buNone/>
            </a:pPr>
            <a:r>
              <a:rPr lang="en-US" sz="1500" b="1" dirty="0">
                <a:solidFill>
                  <a:srgbClr val="13866B"/>
                </a:solidFill>
              </a:rPr>
              <a:t>1.080</a:t>
            </a:r>
            <a:endParaRPr lang="en-US" sz="1500" dirty="0"/>
          </a:p>
        </p:txBody>
      </p:sp>
      <p:sp>
        <p:nvSpPr>
          <p:cNvPr id="48" name="Text 46"/>
          <p:cNvSpPr txBox="1"/>
          <p:nvPr/>
        </p:nvSpPr>
        <p:spPr>
          <a:xfrm>
            <a:off x="7863840" y="4572000"/>
            <a:ext cx="1463040" cy="347472"/>
          </a:xfrm>
          <a:prstGeom prst="rect">
            <a:avLst/>
          </a:prstGeom>
          <a:noFill/>
          <a:ln/>
        </p:spPr>
        <p:txBody>
          <a:bodyPr wrap="square" lIns="0" tIns="0" rIns="0" bIns="0" rtlCol="0" anchor="ctr"/>
          <a:lstStyle/>
          <a:p>
            <a:pPr indent="0" marL="0">
              <a:buNone/>
            </a:pPr>
            <a:r>
              <a:rPr lang="en-US" sz="1400" dirty="0">
                <a:solidFill>
                  <a:schemeClr val="tx1"/>
                </a:solidFill>
              </a:rPr>
              <a:t>Semi-fresh</a:t>
            </a:r>
            <a:endParaRPr lang="en-US" sz="1400" dirty="0"/>
          </a:p>
        </p:txBody>
      </p:sp>
      <p:sp>
        <p:nvSpPr>
          <p:cNvPr id="49" name="Text 47"/>
          <p:cNvSpPr txBox="1"/>
          <p:nvPr/>
        </p:nvSpPr>
        <p:spPr>
          <a:xfrm>
            <a:off x="9326880" y="4572000"/>
            <a:ext cx="1097280" cy="347472"/>
          </a:xfrm>
          <a:prstGeom prst="rect">
            <a:avLst/>
          </a:prstGeom>
          <a:noFill/>
          <a:ln/>
        </p:spPr>
        <p:txBody>
          <a:bodyPr wrap="square" lIns="0" tIns="0" rIns="0" bIns="0" rtlCol="0" anchor="ctr"/>
          <a:lstStyle/>
          <a:p>
            <a:pPr indent="0" marL="0">
              <a:buNone/>
            </a:pPr>
            <a:r>
              <a:rPr lang="en-US" sz="1500" b="1" dirty="0">
                <a:solidFill>
                  <a:srgbClr val="E3A33B"/>
                </a:solidFill>
              </a:rPr>
              <a:t>1.260</a:t>
            </a:r>
            <a:endParaRPr lang="en-US" sz="1500" dirty="0"/>
          </a:p>
        </p:txBody>
      </p:sp>
      <p:sp>
        <p:nvSpPr>
          <p:cNvPr id="50" name="Text 48"/>
          <p:cNvSpPr txBox="1"/>
          <p:nvPr/>
        </p:nvSpPr>
        <p:spPr>
          <a:xfrm>
            <a:off x="7863840" y="4983480"/>
            <a:ext cx="1463040" cy="347472"/>
          </a:xfrm>
          <a:prstGeom prst="rect">
            <a:avLst/>
          </a:prstGeom>
          <a:noFill/>
          <a:ln/>
        </p:spPr>
        <p:txBody>
          <a:bodyPr wrap="square" lIns="0" tIns="0" rIns="0" bIns="0" rtlCol="0" anchor="ctr"/>
          <a:lstStyle/>
          <a:p>
            <a:pPr indent="0" marL="0">
              <a:buNone/>
            </a:pPr>
            <a:r>
              <a:rPr lang="en-US" sz="1400" dirty="0">
                <a:solidFill>
                  <a:schemeClr val="tx1"/>
                </a:solidFill>
              </a:rPr>
              <a:t>Spoiled</a:t>
            </a:r>
            <a:endParaRPr lang="en-US" sz="1400" dirty="0"/>
          </a:p>
        </p:txBody>
      </p:sp>
      <p:sp>
        <p:nvSpPr>
          <p:cNvPr id="51" name="Text 49"/>
          <p:cNvSpPr txBox="1"/>
          <p:nvPr/>
        </p:nvSpPr>
        <p:spPr>
          <a:xfrm>
            <a:off x="9326880" y="4983480"/>
            <a:ext cx="1097280" cy="347472"/>
          </a:xfrm>
          <a:prstGeom prst="rect">
            <a:avLst/>
          </a:prstGeom>
          <a:noFill/>
          <a:ln/>
        </p:spPr>
        <p:txBody>
          <a:bodyPr wrap="square" lIns="0" tIns="0" rIns="0" bIns="0" rtlCol="0" anchor="ctr"/>
          <a:lstStyle/>
          <a:p>
            <a:pPr indent="0" marL="0">
              <a:buNone/>
            </a:pPr>
            <a:r>
              <a:rPr lang="en-US" sz="1500" b="1" dirty="0">
                <a:solidFill>
                  <a:srgbClr val="C4553B"/>
                </a:solidFill>
              </a:rPr>
              <a:t>1.128</a:t>
            </a:r>
            <a:endParaRPr lang="en-US" sz="1500" dirty="0"/>
          </a:p>
        </p:txBody>
      </p:sp>
      <p:sp>
        <p:nvSpPr>
          <p:cNvPr id="52" name="Text 50"/>
          <p:cNvSpPr txBox="1"/>
          <p:nvPr/>
        </p:nvSpPr>
        <p:spPr>
          <a:xfrm>
            <a:off x="7863840" y="5394960"/>
            <a:ext cx="3504895" cy="411480"/>
          </a:xfrm>
          <a:prstGeom prst="rect">
            <a:avLst/>
          </a:prstGeom>
          <a:noFill/>
          <a:ln/>
        </p:spPr>
        <p:txBody>
          <a:bodyPr wrap="square" lIns="0" tIns="0" rIns="0" bIns="0" rtlCol="0" anchor="ctr"/>
          <a:lstStyle/>
          <a:p>
            <a:pPr indent="0" marL="0">
              <a:buNone/>
            </a:pPr>
            <a:r>
              <a:rPr lang="en-US" sz="1250" dirty="0">
                <a:solidFill>
                  <a:srgbClr val="56676A"/>
                </a:solidFill>
              </a:rPr>
              <a:t>Cukup seimbang (rasio 1,17), jadi tidak perlu SMOTE.</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Pengolahan data (wrangling)</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Erlangga</a:t>
            </a:r>
            <a:endParaRPr lang="en-US" sz="1200" dirty="0"/>
          </a:p>
        </p:txBody>
      </p:sp>
      <p:sp>
        <p:nvSpPr>
          <p:cNvPr id="5" name="Shape 3"/>
          <p:cNvSpPr/>
          <p:nvPr/>
        </p:nvSpPr>
        <p:spPr>
          <a:xfrm>
            <a:off x="548640" y="1371600"/>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548640" y="1371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188720" y="1325880"/>
            <a:ext cx="5029200" cy="365760"/>
          </a:xfrm>
          <a:prstGeom prst="rect">
            <a:avLst/>
          </a:prstGeom>
          <a:noFill/>
          <a:ln/>
        </p:spPr>
        <p:txBody>
          <a:bodyPr wrap="square" lIns="0" tIns="0" rIns="0" bIns="0" rtlCol="0" anchor="ctr"/>
          <a:lstStyle/>
          <a:p>
            <a:pPr indent="0" marL="0">
              <a:buNone/>
            </a:pPr>
            <a:r>
              <a:rPr lang="en-US" sz="1700" b="1" dirty="0">
                <a:solidFill>
                  <a:schemeClr val="tx2"/>
                </a:solidFill>
              </a:rPr>
              <a:t>Rata-rata per 5 menit</a:t>
            </a:r>
            <a:endParaRPr lang="en-US" sz="1700" dirty="0"/>
          </a:p>
        </p:txBody>
      </p:sp>
      <p:sp>
        <p:nvSpPr>
          <p:cNvPr id="8" name="Text 6"/>
          <p:cNvSpPr txBox="1"/>
          <p:nvPr/>
        </p:nvSpPr>
        <p:spPr>
          <a:xfrm>
            <a:off x="1188720" y="1709928"/>
            <a:ext cx="5029200" cy="777240"/>
          </a:xfrm>
          <a:prstGeom prst="rect">
            <a:avLst/>
          </a:prstGeom>
          <a:noFill/>
          <a:ln/>
        </p:spPr>
        <p:txBody>
          <a:bodyPr wrap="square" lIns="0" tIns="0" rIns="0" bIns="0" rtlCol="0" anchor="t"/>
          <a:lstStyle/>
          <a:p>
            <a:pPr indent="0" marL="0">
              <a:buNone/>
            </a:pPr>
            <a:r>
              <a:rPr lang="en-US" sz="1400" dirty="0">
                <a:solidFill>
                  <a:schemeClr val="tx1"/>
                </a:solidFill>
              </a:rPr>
              <a:t>Sensor membaca ±12 kali per menit. 218.318 bacaan → 3.828 jendela 5 menit.</a:t>
            </a:r>
            <a:endParaRPr lang="en-US" sz="1400" dirty="0"/>
          </a:p>
        </p:txBody>
      </p:sp>
      <p:sp>
        <p:nvSpPr>
          <p:cNvPr id="9" name="Shape 7"/>
          <p:cNvSpPr/>
          <p:nvPr/>
        </p:nvSpPr>
        <p:spPr>
          <a:xfrm>
            <a:off x="548640" y="265176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48640" y="2651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1188720" y="2606040"/>
            <a:ext cx="5029200" cy="365760"/>
          </a:xfrm>
          <a:prstGeom prst="rect">
            <a:avLst/>
          </a:prstGeom>
          <a:noFill/>
          <a:ln/>
        </p:spPr>
        <p:txBody>
          <a:bodyPr wrap="square" lIns="0" tIns="0" rIns="0" bIns="0" rtlCol="0" anchor="ctr"/>
          <a:lstStyle/>
          <a:p>
            <a:pPr indent="0" marL="0">
              <a:buNone/>
            </a:pPr>
            <a:r>
              <a:rPr lang="en-US" sz="1700" b="1" dirty="0">
                <a:solidFill>
                  <a:schemeClr val="tx2"/>
                </a:solidFill>
              </a:rPr>
              <a:t>2 jam pertama = masa kalibrasi</a:t>
            </a:r>
            <a:endParaRPr lang="en-US" sz="1700" dirty="0"/>
          </a:p>
        </p:txBody>
      </p:sp>
      <p:sp>
        <p:nvSpPr>
          <p:cNvPr id="12" name="Text 10"/>
          <p:cNvSpPr txBox="1"/>
          <p:nvPr/>
        </p:nvSpPr>
        <p:spPr>
          <a:xfrm>
            <a:off x="1188720" y="2990088"/>
            <a:ext cx="5029200" cy="777240"/>
          </a:xfrm>
          <a:prstGeom prst="rect">
            <a:avLst/>
          </a:prstGeom>
          <a:noFill/>
          <a:ln/>
        </p:spPr>
        <p:txBody>
          <a:bodyPr wrap="square" lIns="0" tIns="0" rIns="0" bIns="0" rtlCol="0" anchor="t"/>
          <a:lstStyle/>
          <a:p>
            <a:pPr indent="0" marL="0">
              <a:buNone/>
            </a:pPr>
            <a:r>
              <a:rPr lang="en-US" sz="1400" dirty="0">
                <a:solidFill>
                  <a:schemeClr val="tx1"/>
                </a:solidFill>
              </a:rPr>
              <a:t>Sensor butuh waktu stabil. Bacaan jam ke-1 jadi titik pembanding; sisa 3.468 jendela.</a:t>
            </a:r>
            <a:endParaRPr lang="en-US" sz="1400" dirty="0"/>
          </a:p>
        </p:txBody>
      </p:sp>
      <p:sp>
        <p:nvSpPr>
          <p:cNvPr id="13" name="Shape 11"/>
          <p:cNvSpPr/>
          <p:nvPr/>
        </p:nvSpPr>
        <p:spPr>
          <a:xfrm>
            <a:off x="548640" y="3931920"/>
            <a:ext cx="457200" cy="457200"/>
          </a:xfrm>
          <a:prstGeom prst="ellipse">
            <a:avLst/>
          </a:prstGeom>
          <a:solidFill>
            <a:schemeClr val="accent1"/>
          </a:solidFill>
          <a:ln w="12700">
            <a:solidFill>
              <a:schemeClr val="accent1"/>
            </a:solidFill>
            <a:prstDash val="solid"/>
          </a:ln>
        </p:spPr>
      </p:sp>
      <p:sp>
        <p:nvSpPr>
          <p:cNvPr id="14" name="Text 12"/>
          <p:cNvSpPr txBox="1"/>
          <p:nvPr/>
        </p:nvSpPr>
        <p:spPr>
          <a:xfrm>
            <a:off x="54864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1188720" y="3886200"/>
            <a:ext cx="5029200" cy="365760"/>
          </a:xfrm>
          <a:prstGeom prst="rect">
            <a:avLst/>
          </a:prstGeom>
          <a:noFill/>
          <a:ln/>
        </p:spPr>
        <p:txBody>
          <a:bodyPr wrap="square" lIns="0" tIns="0" rIns="0" bIns="0" rtlCol="0" anchor="ctr"/>
          <a:lstStyle/>
          <a:p>
            <a:pPr indent="0" marL="0">
              <a:buNone/>
            </a:pPr>
            <a:r>
              <a:rPr lang="en-US" sz="1700" b="1" dirty="0">
                <a:solidFill>
                  <a:schemeClr val="tx2"/>
                </a:solidFill>
              </a:rPr>
              <a:t>19 fitur, 3 cara menggambarkan gas</a:t>
            </a:r>
            <a:endParaRPr lang="en-US" sz="1700" dirty="0"/>
          </a:p>
        </p:txBody>
      </p:sp>
      <p:sp>
        <p:nvSpPr>
          <p:cNvPr id="16" name="Text 14"/>
          <p:cNvSpPr txBox="1"/>
          <p:nvPr/>
        </p:nvSpPr>
        <p:spPr>
          <a:xfrm>
            <a:off x="1188720" y="4270248"/>
            <a:ext cx="5029200" cy="777240"/>
          </a:xfrm>
          <a:prstGeom prst="rect">
            <a:avLst/>
          </a:prstGeom>
          <a:noFill/>
          <a:ln/>
        </p:spPr>
        <p:txBody>
          <a:bodyPr wrap="square" lIns="0" tIns="0" rIns="0" bIns="0" rtlCol="0" anchor="t"/>
          <a:lstStyle/>
          <a:p>
            <a:pPr indent="0" marL="0">
              <a:buNone/>
            </a:pPr>
            <a:r>
              <a:rPr lang="en-US" sz="1400" dirty="0">
                <a:solidFill>
                  <a:schemeClr val="tx1"/>
                </a:solidFill>
              </a:rPr>
              <a:t>Level (seberapa banyak) · porsi tiap sensor (polanya) · kenaikan dibanding jam ke-1 (mirip Rs/R0) · kelembapan.</a:t>
            </a:r>
            <a:endParaRPr lang="en-US" sz="1400" dirty="0"/>
          </a:p>
        </p:txBody>
      </p:sp>
      <p:pic>
        <p:nvPicPr>
          <p:cNvPr id="17" name="Image 0" descr="/Users/angga0704/ets-ml2-kelompok/hasil/05_efek_wrangling.png">    </p:cNvPr>
          <p:cNvPicPr>
            <a:picLocks noChangeAspect="1"/>
          </p:cNvPicPr>
          <p:nvPr/>
        </p:nvPicPr>
        <p:blipFill>
          <a:blip r:embed="rId1"/>
          <a:stretch>
            <a:fillRect/>
          </a:stretch>
        </p:blipFill>
        <p:spPr>
          <a:xfrm>
            <a:off x="6400800" y="1494658"/>
            <a:ext cx="5242255" cy="3411485"/>
          </a:xfrm>
          <a:prstGeom prst="rect">
            <a:avLst/>
          </a:prstGeom>
        </p:spPr>
      </p:pic>
      <p:sp>
        <p:nvSpPr>
          <p:cNvPr id="18" name="Shape 15"/>
          <p:cNvSpPr/>
          <p:nvPr/>
        </p:nvSpPr>
        <p:spPr>
          <a:xfrm>
            <a:off x="548640" y="5486400"/>
            <a:ext cx="11094415" cy="685800"/>
          </a:xfrm>
          <a:prstGeom prst="roundRect">
            <a:avLst>
              <a:gd name="adj" fmla="val 16000"/>
            </a:avLst>
          </a:prstGeom>
          <a:solidFill>
            <a:schemeClr val="tx2"/>
          </a:solidFill>
          <a:ln w="12700">
            <a:solidFill>
              <a:schemeClr val="tx2"/>
            </a:solidFill>
            <a:prstDash val="solid"/>
          </a:ln>
        </p:spPr>
      </p:sp>
      <p:sp>
        <p:nvSpPr>
          <p:cNvPr id="19" name="Text 16"/>
          <p:cNvSpPr txBox="1"/>
          <p:nvPr/>
        </p:nvSpPr>
        <p:spPr>
          <a:xfrm>
            <a:off x="868680" y="5486400"/>
            <a:ext cx="10454335" cy="685800"/>
          </a:xfrm>
          <a:prstGeom prst="rect">
            <a:avLst/>
          </a:prstGeom>
          <a:noFill/>
          <a:ln/>
        </p:spPr>
        <p:txBody>
          <a:bodyPr wrap="square" lIns="0" tIns="0" rIns="0" bIns="0" rtlCol="0" anchor="ctr"/>
          <a:lstStyle/>
          <a:p>
            <a:pPr indent="0" marL="0">
              <a:buNone/>
            </a:pPr>
            <a:r>
              <a:rPr lang="en-US" sz="1600" b="1" dirty="0">
                <a:solidFill>
                  <a:schemeClr val="accent2"/>
                </a:solidFill>
              </a:rPr>
              <a:t>Kenapa waktu tidak jadi fitur? </a:t>
            </a:r>
            <a:pPr indent="0" marL="0">
              <a:buNone/>
            </a:pPr>
            <a:r>
              <a:rPr lang="en-US" sz="1600" dirty="0">
                <a:solidFill>
                  <a:schemeClr val="bg1"/>
                </a:solidFill>
              </a:rPr>
              <a:t>Label dibuat dari waktu. Kalau waktu dipakai, model cuma "membaca jam", bukan mencium ayam.</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Jebakan akurasi 97%</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Michael</a:t>
            </a:r>
            <a:endParaRPr lang="en-US" sz="1200" dirty="0"/>
          </a:p>
        </p:txBody>
      </p:sp>
      <p:sp>
        <p:nvSpPr>
          <p:cNvPr id="5" name="Shape 3"/>
          <p:cNvSpPr/>
          <p:nvPr/>
        </p:nvSpPr>
        <p:spPr>
          <a:xfrm>
            <a:off x="548640" y="1325880"/>
            <a:ext cx="5852160" cy="3108960"/>
          </a:xfrm>
          <a:prstGeom prst="roundRect">
            <a:avLst>
              <a:gd name="adj" fmla="val 3529"/>
            </a:avLst>
          </a:prstGeom>
          <a:solidFill>
            <a:schemeClr val="bg2"/>
          </a:solidFill>
          <a:ln w="12700">
            <a:solidFill>
              <a:schemeClr val="bg2"/>
            </a:solidFill>
            <a:prstDash val="solid"/>
          </a:ln>
        </p:spPr>
      </p:sp>
      <p:sp>
        <p:nvSpPr>
          <p:cNvPr id="6" name="Text 4"/>
          <p:cNvSpPr txBox="1"/>
          <p:nvPr/>
        </p:nvSpPr>
        <p:spPr>
          <a:xfrm>
            <a:off x="868680" y="1508760"/>
            <a:ext cx="530352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RANDOM FOREST · AKURASI</a:t>
            </a:r>
            <a:endParaRPr lang="en-US" sz="1200" dirty="0"/>
          </a:p>
        </p:txBody>
      </p:sp>
      <p:sp>
        <p:nvSpPr>
          <p:cNvPr id="7" name="Text 5"/>
          <p:cNvSpPr txBox="1"/>
          <p:nvPr/>
        </p:nvSpPr>
        <p:spPr>
          <a:xfrm>
            <a:off x="868680" y="1920240"/>
            <a:ext cx="2651760" cy="868680"/>
          </a:xfrm>
          <a:prstGeom prst="rect">
            <a:avLst/>
          </a:prstGeom>
          <a:noFill/>
          <a:ln/>
        </p:spPr>
        <p:txBody>
          <a:bodyPr wrap="square" lIns="0" tIns="0" rIns="0" bIns="0" rtlCol="0" anchor="b"/>
          <a:lstStyle/>
          <a:p>
            <a:pPr indent="0" marL="0">
              <a:buNone/>
            </a:pPr>
            <a:r>
              <a:rPr lang="en-US" sz="5400" b="1" dirty="0">
                <a:solidFill>
                  <a:schemeClr val="accent4"/>
                </a:solidFill>
                <a:latin typeface="Cambria" pitchFamily="34" charset="0"/>
                <a:ea typeface="Cambria" pitchFamily="34" charset="-122"/>
                <a:cs typeface="Cambria" pitchFamily="34" charset="-120"/>
              </a:rPr>
              <a:t>96,9%</a:t>
            </a:r>
            <a:endParaRPr lang="en-US" sz="5400" dirty="0"/>
          </a:p>
        </p:txBody>
      </p:sp>
      <p:sp>
        <p:nvSpPr>
          <p:cNvPr id="8" name="Text 6"/>
          <p:cNvSpPr txBox="1"/>
          <p:nvPr/>
        </p:nvSpPr>
        <p:spPr>
          <a:xfrm>
            <a:off x="868680" y="2834640"/>
            <a:ext cx="2651760" cy="548640"/>
          </a:xfrm>
          <a:prstGeom prst="rect">
            <a:avLst/>
          </a:prstGeom>
          <a:noFill/>
          <a:ln/>
        </p:spPr>
        <p:txBody>
          <a:bodyPr wrap="square" lIns="0" tIns="0" rIns="0" bIns="0" rtlCol="0" anchor="ctr"/>
          <a:lstStyle/>
          <a:p>
            <a:pPr indent="0" marL="0">
              <a:buNone/>
            </a:pPr>
            <a:r>
              <a:rPr lang="en-US" sz="1400" dirty="0">
                <a:solidFill>
                  <a:srgbClr val="56676A"/>
                </a:solidFill>
              </a:rPr>
              <a:t>data dibagi acak</a:t>
            </a:r>
            <a:endParaRPr lang="en-US" sz="1400" dirty="0"/>
          </a:p>
        </p:txBody>
      </p:sp>
      <p:sp>
        <p:nvSpPr>
          <p:cNvPr id="9" name="Text 7"/>
          <p:cNvSpPr txBox="1"/>
          <p:nvPr/>
        </p:nvSpPr>
        <p:spPr>
          <a:xfrm>
            <a:off x="3566160" y="1920240"/>
            <a:ext cx="2651760" cy="86868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77,6%</a:t>
            </a:r>
            <a:endParaRPr lang="en-US" sz="5400" dirty="0"/>
          </a:p>
        </p:txBody>
      </p:sp>
      <p:sp>
        <p:nvSpPr>
          <p:cNvPr id="10" name="Text 8"/>
          <p:cNvSpPr txBox="1"/>
          <p:nvPr/>
        </p:nvSpPr>
        <p:spPr>
          <a:xfrm>
            <a:off x="3566160" y="2834640"/>
            <a:ext cx="2651760" cy="548640"/>
          </a:xfrm>
          <a:prstGeom prst="rect">
            <a:avLst/>
          </a:prstGeom>
          <a:noFill/>
          <a:ln/>
        </p:spPr>
        <p:txBody>
          <a:bodyPr wrap="square" lIns="0" tIns="0" rIns="0" bIns="0" rtlCol="0" anchor="ctr"/>
          <a:lstStyle/>
          <a:p>
            <a:pPr indent="0" marL="0">
              <a:buNone/>
            </a:pPr>
            <a:r>
              <a:rPr lang="en-US" sz="1400" dirty="0">
                <a:solidFill>
                  <a:srgbClr val="56676A"/>
                </a:solidFill>
              </a:rPr>
              <a:t>diuji di sesi ayam baru</a:t>
            </a:r>
            <a:endParaRPr lang="en-US" sz="1400" dirty="0"/>
          </a:p>
        </p:txBody>
      </p:sp>
      <p:sp>
        <p:nvSpPr>
          <p:cNvPr id="11" name="Text 9"/>
          <p:cNvSpPr txBox="1"/>
          <p:nvPr/>
        </p:nvSpPr>
        <p:spPr>
          <a:xfrm>
            <a:off x="868680" y="3474720"/>
            <a:ext cx="2377440" cy="320040"/>
          </a:xfrm>
          <a:prstGeom prst="rect">
            <a:avLst/>
          </a:prstGeom>
          <a:noFill/>
          <a:ln/>
        </p:spPr>
        <p:txBody>
          <a:bodyPr wrap="square" lIns="0" tIns="0" rIns="0" bIns="0" rtlCol="0" anchor="ctr"/>
          <a:lstStyle/>
          <a:p>
            <a:pPr indent="0" marL="0">
              <a:buNone/>
            </a:pPr>
            <a:r>
              <a:rPr lang="en-US" sz="1300" i="1" dirty="0">
                <a:solidFill>
                  <a:schemeClr val="accent4"/>
                </a:solidFill>
              </a:rPr>
              <a:t>terlalu bagus</a:t>
            </a:r>
            <a:endParaRPr lang="en-US" sz="1300" dirty="0"/>
          </a:p>
        </p:txBody>
      </p:sp>
      <p:sp>
        <p:nvSpPr>
          <p:cNvPr id="12" name="Text 10"/>
          <p:cNvSpPr txBox="1"/>
          <p:nvPr/>
        </p:nvSpPr>
        <p:spPr>
          <a:xfrm>
            <a:off x="3566160" y="3474720"/>
            <a:ext cx="2377440" cy="320040"/>
          </a:xfrm>
          <a:prstGeom prst="rect">
            <a:avLst/>
          </a:prstGeom>
          <a:noFill/>
          <a:ln/>
        </p:spPr>
        <p:txBody>
          <a:bodyPr wrap="square" lIns="0" tIns="0" rIns="0" bIns="0" rtlCol="0" anchor="ctr"/>
          <a:lstStyle/>
          <a:p>
            <a:pPr indent="0" marL="0">
              <a:buNone/>
            </a:pPr>
            <a:r>
              <a:rPr lang="en-US" sz="1300" i="1" dirty="0">
                <a:solidFill>
                  <a:schemeClr val="accent1"/>
                </a:solidFill>
              </a:rPr>
              <a:t>angka jujur</a:t>
            </a:r>
            <a:endParaRPr lang="en-US" sz="1300" dirty="0"/>
          </a:p>
        </p:txBody>
      </p:sp>
      <p:sp>
        <p:nvSpPr>
          <p:cNvPr id="13" name="Shape 11"/>
          <p:cNvSpPr/>
          <p:nvPr/>
        </p:nvSpPr>
        <p:spPr>
          <a:xfrm>
            <a:off x="6675120" y="1325880"/>
            <a:ext cx="4967935" cy="3108960"/>
          </a:xfrm>
          <a:prstGeom prst="roundRect">
            <a:avLst>
              <a:gd name="adj" fmla="val 3529"/>
            </a:avLst>
          </a:prstGeom>
          <a:solidFill>
            <a:schemeClr val="tx2"/>
          </a:solidFill>
          <a:ln w="12700">
            <a:solidFill>
              <a:schemeClr val="tx2"/>
            </a:solidFill>
            <a:prstDash val="solid"/>
          </a:ln>
        </p:spPr>
      </p:sp>
      <p:sp>
        <p:nvSpPr>
          <p:cNvPr id="14" name="Text 12"/>
          <p:cNvSpPr txBox="1"/>
          <p:nvPr/>
        </p:nvSpPr>
        <p:spPr>
          <a:xfrm>
            <a:off x="6949440" y="1508760"/>
            <a:ext cx="4419295"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UJI JUJUR: LEAVE-ONE-SESSION-OUT</a:t>
            </a:r>
            <a:endParaRPr lang="en-US" sz="1200" dirty="0"/>
          </a:p>
        </p:txBody>
      </p:sp>
      <p:sp>
        <p:nvSpPr>
          <p:cNvPr id="15" name="Text 13"/>
          <p:cNvSpPr txBox="1"/>
          <p:nvPr/>
        </p:nvSpPr>
        <p:spPr>
          <a:xfrm>
            <a:off x="6949440" y="1920240"/>
            <a:ext cx="4419295"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Sembunyikan 1 sesi sebagai ujian</a:t>
            </a:r>
            <a:endParaRPr lang="en-US" sz="1500" dirty="0"/>
          </a:p>
          <a:p>
            <a:pPr marL="342900" indent="-342900">
              <a:spcAft>
                <a:spcPts val="600"/>
              </a:spcAft>
              <a:buSzPct val="100000"/>
              <a:buChar char="•"/>
            </a:pPr>
            <a:r>
              <a:rPr lang="en-US" sz="1500" dirty="0">
                <a:solidFill>
                  <a:schemeClr val="bg1"/>
                </a:solidFill>
              </a:rPr>
              <a:t>Latih model dengan 14 sesi lain</a:t>
            </a:r>
            <a:endParaRPr lang="en-US" sz="1500" dirty="0"/>
          </a:p>
          <a:p>
            <a:pPr marL="342900" indent="-342900">
              <a:spcAft>
                <a:spcPts val="600"/>
              </a:spcAft>
              <a:buSzPct val="100000"/>
              <a:buChar char="•"/>
            </a:pPr>
            <a:r>
              <a:rPr lang="en-US" sz="1500" dirty="0">
                <a:solidFill>
                  <a:schemeClr val="bg1"/>
                </a:solidFill>
              </a:rPr>
              <a:t>Ulangi 15 kali sampai semua sesi pernah diuji</a:t>
            </a:r>
            <a:endParaRPr lang="en-US" sz="1500" dirty="0"/>
          </a:p>
        </p:txBody>
      </p:sp>
      <p:sp>
        <p:nvSpPr>
          <p:cNvPr id="16" name="Text 14"/>
          <p:cNvSpPr txBox="1"/>
          <p:nvPr/>
        </p:nvSpPr>
        <p:spPr>
          <a:xfrm>
            <a:off x="6949440" y="3429000"/>
            <a:ext cx="4419295" cy="731520"/>
          </a:xfrm>
          <a:prstGeom prst="rect">
            <a:avLst/>
          </a:prstGeom>
          <a:noFill/>
          <a:ln/>
        </p:spPr>
        <p:txBody>
          <a:bodyPr wrap="square" lIns="0" tIns="0" rIns="0" bIns="0" rtlCol="0" anchor="ctr"/>
          <a:lstStyle/>
          <a:p>
            <a:pPr indent="0" marL="0">
              <a:buNone/>
            </a:pPr>
            <a:r>
              <a:rPr lang="en-US" sz="1300" dirty="0">
                <a:solidFill>
                  <a:srgbClr val="CADBD7"/>
                </a:solidFill>
              </a:rPr>
              <a:t>Meniru kondisi nyata: alat dipakai untuk ayam baru.</a:t>
            </a:r>
            <a:endParaRPr lang="en-US" sz="1300" dirty="0"/>
          </a:p>
        </p:txBody>
      </p:sp>
      <p:sp>
        <p:nvSpPr>
          <p:cNvPr id="17" name="Text 15"/>
          <p:cNvSpPr txBox="1"/>
          <p:nvPr/>
        </p:nvSpPr>
        <p:spPr>
          <a:xfrm>
            <a:off x="548640" y="4617720"/>
            <a:ext cx="11094415" cy="685800"/>
          </a:xfrm>
          <a:prstGeom prst="rect">
            <a:avLst/>
          </a:prstGeom>
          <a:noFill/>
          <a:ln/>
        </p:spPr>
        <p:txBody>
          <a:bodyPr wrap="square" lIns="0" tIns="0" rIns="0" bIns="0" rtlCol="0" anchor="t"/>
          <a:lstStyle/>
          <a:p>
            <a:pPr indent="0" marL="0">
              <a:buNone/>
            </a:pPr>
            <a:r>
              <a:rPr lang="en-US" sz="1500" b="1" dirty="0">
                <a:solidFill>
                  <a:schemeClr val="tx1"/>
                </a:solidFill>
              </a:rPr>
              <a:t>Kenapa? </a:t>
            </a:r>
            <a:pPr indent="0" marL="0">
              <a:buNone/>
            </a:pPr>
            <a:r>
              <a:rPr lang="en-US" sz="1500" dirty="0">
                <a:solidFill>
                  <a:schemeClr val="tx1"/>
                </a:solidFill>
              </a:rPr>
              <a:t>Jendela 5 menit yang berurutan isinya hampir sama. Kalau dibagi acak, model cukup "menghafal" sesi itu, seperti ujian yang soalnya sudah bocor.</a:t>
            </a:r>
            <a:endParaRPr lang="en-US" sz="1500" dirty="0"/>
          </a:p>
        </p:txBody>
      </p:sp>
      <p:sp>
        <p:nvSpPr>
          <p:cNvPr id="18" name="Shape 16"/>
          <p:cNvSpPr/>
          <p:nvPr/>
        </p:nvSpPr>
        <p:spPr>
          <a:xfrm>
            <a:off x="548640" y="5486400"/>
            <a:ext cx="11094415" cy="685800"/>
          </a:xfrm>
          <a:prstGeom prst="roundRect">
            <a:avLst>
              <a:gd name="adj" fmla="val 16000"/>
            </a:avLst>
          </a:prstGeom>
          <a:solidFill>
            <a:schemeClr val="tx2"/>
          </a:solidFill>
          <a:ln w="12700">
            <a:solidFill>
              <a:schemeClr val="tx2"/>
            </a:solidFill>
            <a:prstDash val="solid"/>
          </a:ln>
        </p:spPr>
      </p:sp>
      <p:sp>
        <p:nvSpPr>
          <p:cNvPr id="19" name="Text 17"/>
          <p:cNvSpPr txBox="1"/>
          <p:nvPr/>
        </p:nvSpPr>
        <p:spPr>
          <a:xfrm>
            <a:off x="868680" y="5486400"/>
            <a:ext cx="10454335" cy="685800"/>
          </a:xfrm>
          <a:prstGeom prst="rect">
            <a:avLst/>
          </a:prstGeom>
          <a:noFill/>
          <a:ln/>
        </p:spPr>
        <p:txBody>
          <a:bodyPr wrap="square" lIns="0" tIns="0" rIns="0" bIns="0" rtlCol="0" anchor="ctr"/>
          <a:lstStyle/>
          <a:p>
            <a:pPr indent="0" marL="0">
              <a:buNone/>
            </a:pPr>
            <a:r>
              <a:rPr lang="en-US" sz="1600" b="1" dirty="0">
                <a:solidFill>
                  <a:schemeClr val="accent2"/>
                </a:solidFill>
              </a:rPr>
              <a:t>Paper aslinya menemukan hal yang sama: </a:t>
            </a:r>
            <a:pPr indent="0" marL="0">
              <a:buNone/>
            </a:pPr>
            <a:r>
              <a:rPr lang="en-US" sz="1600" dirty="0">
                <a:solidFill>
                  <a:schemeClr val="bg1"/>
                </a:solidFill>
              </a:rPr>
              <a:t>Random Forest 100% dengan data acak, tetapi 69% tanpa pembagian acak.</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Ensemble: gabungan model menang</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Michael</a:t>
            </a:r>
            <a:endParaRPr lang="en-US" sz="1200" dirty="0"/>
          </a:p>
        </p:txBody>
      </p:sp>
      <p:pic>
        <p:nvPicPr>
          <p:cNvPr id="5" name="Image 0" descr="/Users/angga0704/ets-ml2-kelompok/hasil/04_ensemble.png">    </p:cNvPr>
          <p:cNvPicPr>
            <a:picLocks noChangeAspect="1"/>
          </p:cNvPicPr>
          <p:nvPr/>
        </p:nvPicPr>
        <p:blipFill>
          <a:blip r:embed="rId1"/>
          <a:stretch>
            <a:fillRect/>
          </a:stretch>
        </p:blipFill>
        <p:spPr>
          <a:xfrm>
            <a:off x="548640" y="1237151"/>
            <a:ext cx="6949440" cy="4017938"/>
          </a:xfrm>
          <a:prstGeom prst="rect">
            <a:avLst/>
          </a:prstGeom>
        </p:spPr>
      </p:pic>
      <p:sp>
        <p:nvSpPr>
          <p:cNvPr id="6" name="Shape 3"/>
          <p:cNvSpPr/>
          <p:nvPr/>
        </p:nvSpPr>
        <p:spPr>
          <a:xfrm>
            <a:off x="7726680" y="1234440"/>
            <a:ext cx="3916375" cy="2331720"/>
          </a:xfrm>
          <a:prstGeom prst="roundRect">
            <a:avLst>
              <a:gd name="adj" fmla="val 4706"/>
            </a:avLst>
          </a:prstGeom>
          <a:solidFill>
            <a:schemeClr val="bg2"/>
          </a:solidFill>
          <a:ln w="12700">
            <a:solidFill>
              <a:schemeClr val="bg2"/>
            </a:solidFill>
            <a:prstDash val="solid"/>
          </a:ln>
        </p:spPr>
      </p:sp>
      <p:sp>
        <p:nvSpPr>
          <p:cNvPr id="7" name="Text 4"/>
          <p:cNvSpPr txBox="1"/>
          <p:nvPr/>
        </p:nvSpPr>
        <p:spPr>
          <a:xfrm>
            <a:off x="8001000" y="1371600"/>
            <a:ext cx="336773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JENIS ENSEMBLE</a:t>
            </a:r>
            <a:endParaRPr lang="en-US" sz="1200" dirty="0"/>
          </a:p>
        </p:txBody>
      </p:sp>
      <p:sp>
        <p:nvSpPr>
          <p:cNvPr id="8" name="Text 5"/>
          <p:cNvSpPr txBox="1"/>
          <p:nvPr/>
        </p:nvSpPr>
        <p:spPr>
          <a:xfrm>
            <a:off x="8001000" y="1737360"/>
            <a:ext cx="3367735" cy="1783080"/>
          </a:xfrm>
          <a:prstGeom prst="rect">
            <a:avLst/>
          </a:prstGeom>
          <a:noFill/>
          <a:ln/>
        </p:spPr>
        <p:txBody>
          <a:bodyPr wrap="square" lIns="0" tIns="0" rIns="0" bIns="0" rtlCol="0" anchor="t"/>
          <a:lstStyle/>
          <a:p>
            <a:pPr indent="0" marL="0">
              <a:spcAft>
                <a:spcPts val="500"/>
              </a:spcAft>
              <a:buNone/>
            </a:pPr>
            <a:r>
              <a:rPr lang="en-US" sz="1300" b="1" dirty="0">
                <a:solidFill>
                  <a:schemeClr val="tx1"/>
                </a:solidFill>
              </a:rPr>
              <a:t>Random Forest (bagging): </a:t>
            </a:r>
            <a:pPr indent="0" marL="0">
              <a:spcAft>
                <a:spcPts val="500"/>
              </a:spcAft>
              <a:buNone/>
            </a:pPr>
            <a:r>
              <a:rPr lang="en-US" sz="1300" dirty="0">
                <a:solidFill>
                  <a:schemeClr val="tx1"/>
                </a:solidFill>
              </a:rPr>
              <a:t>300 pohon, lalu voting</a:t>
            </a:r>
            <a:endParaRPr lang="en-US" sz="1300" dirty="0"/>
          </a:p>
          <a:p>
            <a:pPr indent="0" marL="0">
              <a:spcAft>
                <a:spcPts val="500"/>
              </a:spcAft>
              <a:buNone/>
            </a:pPr>
            <a:r>
              <a:rPr lang="en-US" sz="1300" b="1" dirty="0">
                <a:solidFill>
                  <a:schemeClr val="tx1"/>
                </a:solidFill>
              </a:rPr>
              <a:t>XGBoost (boosting): </a:t>
            </a:r>
            <a:pPr indent="0" marL="0">
              <a:spcAft>
                <a:spcPts val="500"/>
              </a:spcAft>
              <a:buNone/>
            </a:pPr>
            <a:r>
              <a:rPr lang="en-US" sz="1300" dirty="0">
                <a:solidFill>
                  <a:schemeClr val="tx1"/>
                </a:solidFill>
              </a:rPr>
              <a:t>pohon dibuat berurutan, tiap pohon memperbaiki kesalahan pohon sebelumnya</a:t>
            </a:r>
            <a:endParaRPr lang="en-US" sz="1300" dirty="0"/>
          </a:p>
          <a:p>
            <a:pPr indent="0" marL="0">
              <a:spcAft>
                <a:spcPts val="500"/>
              </a:spcAft>
              <a:buNone/>
            </a:pPr>
            <a:r>
              <a:rPr lang="en-US" sz="1300" b="1" dirty="0">
                <a:solidFill>
                  <a:schemeClr val="tx1"/>
                </a:solidFill>
              </a:rPr>
              <a:t>Voting: </a:t>
            </a:r>
            <a:pPr indent="0" marL="0">
              <a:spcAft>
                <a:spcPts val="500"/>
              </a:spcAft>
              <a:buNone/>
            </a:pPr>
            <a:r>
              <a:rPr lang="en-US" sz="1300" dirty="0">
                <a:solidFill>
                  <a:schemeClr val="tx1"/>
                </a:solidFill>
              </a:rPr>
              <a:t>rata-rata peluang dari 3 model berbeda</a:t>
            </a:r>
            <a:endParaRPr lang="en-US" sz="1300" dirty="0"/>
          </a:p>
        </p:txBody>
      </p:sp>
      <p:sp>
        <p:nvSpPr>
          <p:cNvPr id="9" name="Shape 6"/>
          <p:cNvSpPr/>
          <p:nvPr/>
        </p:nvSpPr>
        <p:spPr>
          <a:xfrm>
            <a:off x="7726680" y="3703320"/>
            <a:ext cx="3916375" cy="1600200"/>
          </a:xfrm>
          <a:prstGeom prst="roundRect">
            <a:avLst>
              <a:gd name="adj" fmla="val 6857"/>
            </a:avLst>
          </a:prstGeom>
          <a:solidFill>
            <a:schemeClr val="tx2"/>
          </a:solidFill>
          <a:ln w="12700">
            <a:solidFill>
              <a:schemeClr val="tx2"/>
            </a:solidFill>
            <a:prstDash val="solid"/>
          </a:ln>
        </p:spPr>
      </p:sp>
      <p:sp>
        <p:nvSpPr>
          <p:cNvPr id="10" name="Text 7"/>
          <p:cNvSpPr txBox="1"/>
          <p:nvPr/>
        </p:nvSpPr>
        <p:spPr>
          <a:xfrm>
            <a:off x="8001000" y="3794760"/>
            <a:ext cx="3367735" cy="141732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0,782 vs 0,713</a:t>
            </a:r>
            <a:endParaRPr lang="en-US" sz="1300" dirty="0"/>
          </a:p>
          <a:p>
            <a:pPr indent="0" marL="0">
              <a:buNone/>
            </a:pPr>
            <a:r>
              <a:rPr lang="en-US" sz="1300" dirty="0">
                <a:solidFill>
                  <a:schemeClr val="bg1"/>
                </a:solidFill>
              </a:rPr>
              <a:t>Random Forest vs Decision Tree. Kedalaman pohonnya sama (6), bedanya cuma jumlah pohon.</a:t>
            </a:r>
            <a:endParaRPr lang="en-US" sz="1300" dirty="0"/>
          </a:p>
        </p:txBody>
      </p:sp>
      <p:sp>
        <p:nvSpPr>
          <p:cNvPr id="11" name="Shape 8"/>
          <p:cNvSpPr/>
          <p:nvPr/>
        </p:nvSpPr>
        <p:spPr>
          <a:xfrm>
            <a:off x="548640" y="5486400"/>
            <a:ext cx="11094415" cy="685800"/>
          </a:xfrm>
          <a:prstGeom prst="roundRect">
            <a:avLst>
              <a:gd name="adj" fmla="val 16000"/>
            </a:avLst>
          </a:prstGeom>
          <a:solidFill>
            <a:schemeClr val="tx2"/>
          </a:solidFill>
          <a:ln w="12700">
            <a:solidFill>
              <a:schemeClr val="tx2"/>
            </a:solidFill>
            <a:prstDash val="solid"/>
          </a:ln>
        </p:spPr>
      </p:sp>
      <p:sp>
        <p:nvSpPr>
          <p:cNvPr id="12" name="Text 9"/>
          <p:cNvSpPr txBox="1"/>
          <p:nvPr/>
        </p:nvSpPr>
        <p:spPr>
          <a:xfrm>
            <a:off x="868680" y="5486400"/>
            <a:ext cx="10454335" cy="685800"/>
          </a:xfrm>
          <a:prstGeom prst="rect">
            <a:avLst/>
          </a:prstGeom>
          <a:noFill/>
          <a:ln/>
        </p:spPr>
        <p:txBody>
          <a:bodyPr wrap="square" lIns="0" tIns="0" rIns="0" bIns="0" rtlCol="0" anchor="ctr"/>
          <a:lstStyle/>
          <a:p>
            <a:pPr indent="0" marL="0">
              <a:buNone/>
            </a:pPr>
            <a:r>
              <a:rPr lang="en-US" sz="1600" b="1" dirty="0">
                <a:solidFill>
                  <a:schemeClr val="accent2"/>
                </a:solidFill>
              </a:rPr>
              <a:t>Rata-rata macro-F1: </a:t>
            </a:r>
            <a:pPr indent="0" marL="0">
              <a:buNone/>
            </a:pPr>
            <a:r>
              <a:rPr lang="en-US" sz="1600" dirty="0">
                <a:solidFill>
                  <a:schemeClr val="bg1"/>
                </a:solidFill>
              </a:rPr>
              <a:t>ensemble 0,768 vs model tunggal 0,726. Terbaik: Random Forest 0,782 (akurasi 77,6%).</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Augmentasi data</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Michael</a:t>
            </a:r>
            <a:endParaRPr lang="en-US" sz="1200" dirty="0"/>
          </a:p>
        </p:txBody>
      </p:sp>
      <p:sp>
        <p:nvSpPr>
          <p:cNvPr id="5" name="Shape 3"/>
          <p:cNvSpPr/>
          <p:nvPr/>
        </p:nvSpPr>
        <p:spPr>
          <a:xfrm>
            <a:off x="548640" y="1234440"/>
            <a:ext cx="5120640" cy="4069080"/>
          </a:xfrm>
          <a:prstGeom prst="roundRect">
            <a:avLst>
              <a:gd name="adj" fmla="val 2697"/>
            </a:avLst>
          </a:prstGeom>
          <a:solidFill>
            <a:schemeClr val="bg2"/>
          </a:solidFill>
          <a:ln w="12700">
            <a:solidFill>
              <a:schemeClr val="bg2"/>
            </a:solidFill>
            <a:prstDash val="solid"/>
          </a:ln>
        </p:spPr>
      </p:sp>
      <p:sp>
        <p:nvSpPr>
          <p:cNvPr id="6" name="Text 4"/>
          <p:cNvSpPr txBox="1"/>
          <p:nvPr/>
        </p:nvSpPr>
        <p:spPr>
          <a:xfrm>
            <a:off x="822960" y="1417320"/>
            <a:ext cx="4572000" cy="374904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Kenapa perlu?</a:t>
            </a:r>
            <a:endParaRPr lang="en-US" sz="1400" dirty="0"/>
          </a:p>
          <a:p>
            <a:pPr marL="342900" indent="-342900">
              <a:spcAft>
                <a:spcPts val="600"/>
              </a:spcAft>
              <a:buSzPct val="100000"/>
              <a:buChar char="•"/>
            </a:pPr>
            <a:r>
              <a:rPr lang="en-US" sz="1400" dirty="0">
                <a:solidFill>
                  <a:schemeClr val="tx1"/>
                </a:solidFill>
              </a:rPr>
              <a:t>Hanya 15 sesi. Alat sungguhan bisa punya sensor yang lebih/kurang peka dan lebih berisik.</a:t>
            </a:r>
            <a:endParaRPr lang="en-US" sz="1400" dirty="0"/>
          </a:p>
          <a:p>
            <a:pPr indent="0" marL="0">
              <a:spcAft>
                <a:spcPts val="600"/>
              </a:spcAft>
              <a:buNone/>
            </a:pPr>
            <a:r>
              <a:rPr lang="en-US" sz="1500" b="1" dirty="0">
                <a:solidFill>
                  <a:schemeClr val="accent1"/>
                </a:solidFill>
              </a:rPr>
              <a:t>Bagaimana?</a:t>
            </a:r>
            <a:endParaRPr lang="en-US" sz="1400" dirty="0"/>
          </a:p>
          <a:p>
            <a:pPr marL="342900" indent="-342900">
              <a:spcAft>
                <a:spcPts val="600"/>
              </a:spcAft>
              <a:buSzPct val="100000"/>
              <a:buChar char="•"/>
            </a:pPr>
            <a:r>
              <a:rPr lang="en-US" sz="1400" dirty="0">
                <a:solidFill>
                  <a:schemeClr val="tx1"/>
                </a:solidFill>
              </a:rPr>
              <a:t>Jitter: tambah derau acak kecil (5%)</a:t>
            </a:r>
            <a:endParaRPr lang="en-US" sz="1400" dirty="0"/>
          </a:p>
          <a:p>
            <a:pPr marL="342900" indent="-342900">
              <a:spcAft>
                <a:spcPts val="600"/>
              </a:spcAft>
              <a:buSzPct val="100000"/>
              <a:buChar char="•"/>
            </a:pPr>
            <a:r>
              <a:rPr lang="en-US" sz="1400" dirty="0">
                <a:solidFill>
                  <a:schemeClr val="tx1"/>
                </a:solidFill>
              </a:rPr>
              <a:t>Variasi kepekaan: kali bacaan tiap sensor ±30%, seolah alat lain</a:t>
            </a:r>
            <a:endParaRPr lang="en-US" sz="1400" dirty="0"/>
          </a:p>
          <a:p>
            <a:pPr marL="342900" indent="-342900">
              <a:spcAft>
                <a:spcPts val="600"/>
              </a:spcAft>
              <a:buSzPct val="100000"/>
              <a:buChar char="•"/>
            </a:pPr>
            <a:r>
              <a:rPr lang="en-US" sz="1400" dirty="0">
                <a:solidFill>
                  <a:schemeClr val="tx1"/>
                </a:solidFill>
              </a:rPr>
              <a:t>2 salinan buatan per sesi, hanya di data latih</a:t>
            </a:r>
            <a:endParaRPr lang="en-US" sz="1400" dirty="0"/>
          </a:p>
        </p:txBody>
      </p:sp>
      <p:pic>
        <p:nvPicPr>
          <p:cNvPr id="7" name="Image 0" descr="/Users/angga0704/ets-ml2-kelompok/hasil/07_augmentasi.png">    </p:cNvPr>
          <p:cNvPicPr>
            <a:picLocks noChangeAspect="1"/>
          </p:cNvPicPr>
          <p:nvPr/>
        </p:nvPicPr>
        <p:blipFill>
          <a:blip r:embed="rId1"/>
          <a:stretch>
            <a:fillRect/>
          </a:stretch>
        </p:blipFill>
        <p:spPr>
          <a:xfrm>
            <a:off x="5852160" y="1521970"/>
            <a:ext cx="5790895" cy="3448300"/>
          </a:xfrm>
          <a:prstGeom prst="rect">
            <a:avLst/>
          </a:prstGeom>
        </p:spPr>
      </p:pic>
      <p:sp>
        <p:nvSpPr>
          <p:cNvPr id="8" name="Shape 5"/>
          <p:cNvSpPr/>
          <p:nvPr/>
        </p:nvSpPr>
        <p:spPr>
          <a:xfrm>
            <a:off x="548640" y="5486400"/>
            <a:ext cx="11094415" cy="685800"/>
          </a:xfrm>
          <a:prstGeom prst="roundRect">
            <a:avLst>
              <a:gd name="adj" fmla="val 16000"/>
            </a:avLst>
          </a:prstGeom>
          <a:solidFill>
            <a:schemeClr val="tx2"/>
          </a:solidFill>
          <a:ln w="12700">
            <a:solidFill>
              <a:schemeClr val="tx2"/>
            </a:solidFill>
            <a:prstDash val="solid"/>
          </a:ln>
        </p:spPr>
      </p:sp>
      <p:sp>
        <p:nvSpPr>
          <p:cNvPr id="9" name="Text 6"/>
          <p:cNvSpPr txBox="1"/>
          <p:nvPr/>
        </p:nvSpPr>
        <p:spPr>
          <a:xfrm>
            <a:off x="868680" y="5486400"/>
            <a:ext cx="10454335" cy="685800"/>
          </a:xfrm>
          <a:prstGeom prst="rect">
            <a:avLst/>
          </a:prstGeom>
          <a:noFill/>
          <a:ln/>
        </p:spPr>
        <p:txBody>
          <a:bodyPr wrap="square" lIns="0" tIns="0" rIns="0" bIns="0" rtlCol="0" anchor="ctr"/>
          <a:lstStyle/>
          <a:p>
            <a:pPr indent="0" marL="0">
              <a:buNone/>
            </a:pPr>
            <a:r>
              <a:rPr lang="en-US" sz="1600" b="1" dirty="0">
                <a:solidFill>
                  <a:schemeClr val="accent2"/>
                </a:solidFill>
              </a:rPr>
              <a:t>Hasil: </a:t>
            </a:r>
            <a:pPr indent="0" marL="0">
              <a:buNone/>
            </a:pPr>
            <a:r>
              <a:rPr lang="en-US" sz="1600" dirty="0">
                <a:solidFill>
                  <a:schemeClr val="bg1"/>
                </a:solidFill>
              </a:rPr>
              <a:t>skor tidak naik (Random Forest: jitter -0,009, kepekaan -0,015). Data buatan tidak sama dengan sesi ayam asli.</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Reinforcement learning: agen pengambil keputusan</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Rijal</a:t>
            </a:r>
            <a:endParaRPr lang="en-US" sz="1200" dirty="0"/>
          </a:p>
        </p:txBody>
      </p:sp>
      <p:sp>
        <p:nvSpPr>
          <p:cNvPr id="5" name="Shape 3"/>
          <p:cNvSpPr/>
          <p:nvPr/>
        </p:nvSpPr>
        <p:spPr>
          <a:xfrm>
            <a:off x="548640" y="1234440"/>
            <a:ext cx="5760720" cy="4069080"/>
          </a:xfrm>
          <a:prstGeom prst="roundRect">
            <a:avLst>
              <a:gd name="adj" fmla="val 2697"/>
            </a:avLst>
          </a:prstGeom>
          <a:solidFill>
            <a:schemeClr val="bg2"/>
          </a:solidFill>
          <a:ln w="12700">
            <a:solidFill>
              <a:schemeClr val="bg2"/>
            </a:solidFill>
            <a:prstDash val="solid"/>
          </a:ln>
        </p:spPr>
      </p:sp>
      <p:sp>
        <p:nvSpPr>
          <p:cNvPr id="6" name="Text 4"/>
          <p:cNvSpPr txBox="1"/>
          <p:nvPr/>
        </p:nvSpPr>
        <p:spPr>
          <a:xfrm>
            <a:off x="822960" y="1417320"/>
            <a:ext cx="52120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UNSUR RL</a:t>
            </a:r>
            <a:endParaRPr lang="en-US" sz="1200" dirty="0"/>
          </a:p>
        </p:txBody>
      </p:sp>
      <p:sp>
        <p:nvSpPr>
          <p:cNvPr id="7" name="Text 5"/>
          <p:cNvSpPr txBox="1"/>
          <p:nvPr/>
        </p:nvSpPr>
        <p:spPr>
          <a:xfrm>
            <a:off x="822960" y="1828800"/>
            <a:ext cx="1188720" cy="731520"/>
          </a:xfrm>
          <a:prstGeom prst="rect">
            <a:avLst/>
          </a:prstGeom>
          <a:noFill/>
          <a:ln/>
        </p:spPr>
        <p:txBody>
          <a:bodyPr wrap="square" lIns="0" tIns="0" rIns="0" bIns="0" rtlCol="0" anchor="t"/>
          <a:lstStyle/>
          <a:p>
            <a:pPr indent="0" marL="0">
              <a:buNone/>
            </a:pPr>
            <a:r>
              <a:rPr lang="en-US" sz="1500" b="1" dirty="0">
                <a:solidFill>
                  <a:schemeClr val="tx2"/>
                </a:solidFill>
              </a:rPr>
              <a:t>State</a:t>
            </a:r>
            <a:endParaRPr lang="en-US" sz="1500" dirty="0"/>
          </a:p>
        </p:txBody>
      </p:sp>
      <p:sp>
        <p:nvSpPr>
          <p:cNvPr id="8" name="Text 6"/>
          <p:cNvSpPr txBox="1"/>
          <p:nvPr/>
        </p:nvSpPr>
        <p:spPr>
          <a:xfrm>
            <a:off x="2057400" y="1828800"/>
            <a:ext cx="3977640" cy="731520"/>
          </a:xfrm>
          <a:prstGeom prst="rect">
            <a:avLst/>
          </a:prstGeom>
          <a:noFill/>
          <a:ln/>
        </p:spPr>
        <p:txBody>
          <a:bodyPr wrap="square" lIns="0" tIns="0" rIns="0" bIns="0" rtlCol="0" anchor="t"/>
          <a:lstStyle/>
          <a:p>
            <a:pPr indent="0" marL="0">
              <a:buNone/>
            </a:pPr>
            <a:r>
              <a:rPr lang="en-US" sz="1400" dirty="0">
                <a:solidFill>
                  <a:schemeClr val="tx1"/>
                </a:solidFill>
              </a:rPr>
              <a:t>tebakan Random Forest × model yakin / ragu (6 kemungkinan)</a:t>
            </a:r>
            <a:endParaRPr lang="en-US" sz="1400" dirty="0"/>
          </a:p>
        </p:txBody>
      </p:sp>
      <p:sp>
        <p:nvSpPr>
          <p:cNvPr id="9" name="Text 7"/>
          <p:cNvSpPr txBox="1"/>
          <p:nvPr/>
        </p:nvSpPr>
        <p:spPr>
          <a:xfrm>
            <a:off x="822960" y="2670048"/>
            <a:ext cx="1188720" cy="731520"/>
          </a:xfrm>
          <a:prstGeom prst="rect">
            <a:avLst/>
          </a:prstGeom>
          <a:noFill/>
          <a:ln/>
        </p:spPr>
        <p:txBody>
          <a:bodyPr wrap="square" lIns="0" tIns="0" rIns="0" bIns="0" rtlCol="0" anchor="t"/>
          <a:lstStyle/>
          <a:p>
            <a:pPr indent="0" marL="0">
              <a:buNone/>
            </a:pPr>
            <a:r>
              <a:rPr lang="en-US" sz="1500" b="1" dirty="0">
                <a:solidFill>
                  <a:schemeClr val="tx2"/>
                </a:solidFill>
              </a:rPr>
              <a:t>Aksi</a:t>
            </a:r>
            <a:endParaRPr lang="en-US" sz="1500" dirty="0"/>
          </a:p>
        </p:txBody>
      </p:sp>
      <p:sp>
        <p:nvSpPr>
          <p:cNvPr id="10" name="Text 8"/>
          <p:cNvSpPr txBox="1"/>
          <p:nvPr/>
        </p:nvSpPr>
        <p:spPr>
          <a:xfrm>
            <a:off x="2057400" y="2670048"/>
            <a:ext cx="3977640" cy="731520"/>
          </a:xfrm>
          <a:prstGeom prst="rect">
            <a:avLst/>
          </a:prstGeom>
          <a:noFill/>
          <a:ln/>
        </p:spPr>
        <p:txBody>
          <a:bodyPr wrap="square" lIns="0" tIns="0" rIns="0" bIns="0" rtlCol="0" anchor="t"/>
          <a:lstStyle/>
          <a:p>
            <a:pPr indent="0" marL="0">
              <a:buNone/>
            </a:pPr>
            <a:r>
              <a:rPr lang="en-US" sz="1400" dirty="0">
                <a:solidFill>
                  <a:schemeClr val="tx1"/>
                </a:solidFill>
              </a:rPr>
              <a:t>Jual · Cek manual · Buang</a:t>
            </a:r>
            <a:endParaRPr lang="en-US" sz="1400" dirty="0"/>
          </a:p>
        </p:txBody>
      </p:sp>
      <p:sp>
        <p:nvSpPr>
          <p:cNvPr id="11" name="Text 9"/>
          <p:cNvSpPr txBox="1"/>
          <p:nvPr/>
        </p:nvSpPr>
        <p:spPr>
          <a:xfrm>
            <a:off x="822960" y="3511296"/>
            <a:ext cx="1188720" cy="731520"/>
          </a:xfrm>
          <a:prstGeom prst="rect">
            <a:avLst/>
          </a:prstGeom>
          <a:noFill/>
          <a:ln/>
        </p:spPr>
        <p:txBody>
          <a:bodyPr wrap="square" lIns="0" tIns="0" rIns="0" bIns="0" rtlCol="0" anchor="t"/>
          <a:lstStyle/>
          <a:p>
            <a:pPr indent="0" marL="0">
              <a:buNone/>
            </a:pPr>
            <a:r>
              <a:rPr lang="en-US" sz="1500" b="1" dirty="0">
                <a:solidFill>
                  <a:schemeClr val="tx2"/>
                </a:solidFill>
              </a:rPr>
              <a:t>Reward</a:t>
            </a:r>
            <a:endParaRPr lang="en-US" sz="1500" dirty="0"/>
          </a:p>
        </p:txBody>
      </p:sp>
      <p:sp>
        <p:nvSpPr>
          <p:cNvPr id="12" name="Text 10"/>
          <p:cNvSpPr txBox="1"/>
          <p:nvPr/>
        </p:nvSpPr>
        <p:spPr>
          <a:xfrm>
            <a:off x="2057400" y="3511296"/>
            <a:ext cx="3977640" cy="731520"/>
          </a:xfrm>
          <a:prstGeom prst="rect">
            <a:avLst/>
          </a:prstGeom>
          <a:noFill/>
          <a:ln/>
        </p:spPr>
        <p:txBody>
          <a:bodyPr wrap="square" lIns="0" tIns="0" rIns="0" bIns="0" rtlCol="0" anchor="t"/>
          <a:lstStyle/>
          <a:p>
            <a:pPr indent="0" marL="0">
              <a:buNone/>
            </a:pPr>
            <a:r>
              <a:rPr lang="en-US" sz="1400" dirty="0">
                <a:solidFill>
                  <a:schemeClr val="tx1"/>
                </a:solidFill>
              </a:rPr>
              <a:t>poin dari tabel di kanan (asumsi kami)</a:t>
            </a:r>
            <a:endParaRPr lang="en-US" sz="1400" dirty="0"/>
          </a:p>
        </p:txBody>
      </p:sp>
      <p:sp>
        <p:nvSpPr>
          <p:cNvPr id="13" name="Text 11"/>
          <p:cNvSpPr txBox="1"/>
          <p:nvPr/>
        </p:nvSpPr>
        <p:spPr>
          <a:xfrm>
            <a:off x="822960" y="4352544"/>
            <a:ext cx="1188720" cy="731520"/>
          </a:xfrm>
          <a:prstGeom prst="rect">
            <a:avLst/>
          </a:prstGeom>
          <a:noFill/>
          <a:ln/>
        </p:spPr>
        <p:txBody>
          <a:bodyPr wrap="square" lIns="0" tIns="0" rIns="0" bIns="0" rtlCol="0" anchor="t"/>
          <a:lstStyle/>
          <a:p>
            <a:pPr indent="0" marL="0">
              <a:buNone/>
            </a:pPr>
            <a:r>
              <a:rPr lang="en-US" sz="1500" b="1" dirty="0">
                <a:solidFill>
                  <a:schemeClr val="tx2"/>
                </a:solidFill>
              </a:rPr>
              <a:t>Belajar</a:t>
            </a:r>
            <a:endParaRPr lang="en-US" sz="1500" dirty="0"/>
          </a:p>
        </p:txBody>
      </p:sp>
      <p:sp>
        <p:nvSpPr>
          <p:cNvPr id="14" name="Text 12"/>
          <p:cNvSpPr txBox="1"/>
          <p:nvPr/>
        </p:nvSpPr>
        <p:spPr>
          <a:xfrm>
            <a:off x="2057400" y="4352544"/>
            <a:ext cx="3977640" cy="731520"/>
          </a:xfrm>
          <a:prstGeom prst="rect">
            <a:avLst/>
          </a:prstGeom>
          <a:noFill/>
          <a:ln/>
        </p:spPr>
        <p:txBody>
          <a:bodyPr wrap="square" lIns="0" tIns="0" rIns="0" bIns="0" rtlCol="0" anchor="t"/>
          <a:lstStyle/>
          <a:p>
            <a:pPr indent="0" marL="0">
              <a:buNone/>
            </a:pPr>
            <a:r>
              <a:rPr lang="en-US" sz="1400" dirty="0">
                <a:solidFill>
                  <a:schemeClr val="tx1"/>
                </a:solidFill>
              </a:rPr>
              <a:t>ε-greedy: 90% pilih aksi terbaik sejauh ini, 10% coba acak; nilai aksi = rata-rata reward</a:t>
            </a:r>
            <a:endParaRPr lang="en-US" sz="1400" dirty="0"/>
          </a:p>
        </p:txBody>
      </p:sp>
      <p:sp>
        <p:nvSpPr>
          <p:cNvPr id="15" name="Text 13"/>
          <p:cNvSpPr txBox="1"/>
          <p:nvPr/>
        </p:nvSpPr>
        <p:spPr>
          <a:xfrm>
            <a:off x="6583680" y="1280160"/>
            <a:ext cx="505937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TABEL REWARD</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0" y="1645920"/>
          <a:ext cx="5059375" cy="914400"/>
        </p:xfrm>
        <a:graphic>
          <a:graphicData uri="http://schemas.openxmlformats.org/drawingml/2006/table">
            <a:tbl>
              <a:tblPr/>
              <a:tblGrid>
                <a:gridCol w="1922563"/>
                <a:gridCol w="1568406"/>
                <a:gridCol w="1568406"/>
              </a:tblGrid>
              <a:tr h="384048">
                <a:tc>
                  <a:txBody>
                    <a:bodyPr/>
                    <a:lstStyle/>
                    <a:p>
                      <a:pPr algn="ctr" indent="0" marL="0">
                        <a:buNone/>
                      </a:pPr>
                      <a:r>
                        <a:rPr lang="en-US" sz="1300" b="1" dirty="0">
                          <a:solidFill>
                            <a:schemeClr val="bg1"/>
                          </a:solidFill>
                        </a:rPr>
                        <a:t>Aksi</a:t>
                      </a:r>
                      <a:endParaRPr lang="en-US" sz="13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Ayam layak</a:t>
                      </a:r>
                      <a:endParaRPr lang="en-US" sz="13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Ayam busuk</a:t>
                      </a:r>
                      <a:endParaRPr lang="en-US" sz="13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chemeClr val="tx2"/>
                    </a:solidFill>
                  </a:tcPr>
                </a:tc>
              </a:tr>
              <a:tr h="384048">
                <a:tc>
                  <a:txBody>
                    <a:bodyPr/>
                    <a:lstStyle/>
                    <a:p>
                      <a:pPr algn="ctr" indent="0" marL="0">
                        <a:buNone/>
                      </a:pPr>
                      <a:r>
                        <a:rPr lang="en-US" sz="1400" b="1" dirty="0">
                          <a:solidFill>
                            <a:schemeClr val="tx1"/>
                          </a:solidFill>
                        </a:rPr>
                        <a:t>Jual</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b="1" dirty="0">
                          <a:solidFill>
                            <a:srgbClr val="C4553B"/>
                          </a:solidFill>
                        </a:rPr>
                        <a:t>−5</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r>
              <a:tr h="384048">
                <a:tc>
                  <a:txBody>
                    <a:bodyPr/>
                    <a:lstStyle/>
                    <a:p>
                      <a:pPr algn="ctr" indent="0" marL="0">
                        <a:buNone/>
                      </a:pPr>
                      <a:r>
                        <a:rPr lang="en-US" sz="1400" b="1" dirty="0">
                          <a:solidFill>
                            <a:schemeClr val="tx1"/>
                          </a:solidFill>
                        </a:rPr>
                        <a:t>Cek manual</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dirty="0">
                          <a:solidFill>
                            <a:schemeClr val="tx1"/>
                          </a:solidFill>
                        </a:rPr>
                        <a:t>+0,5</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dirty="0">
                          <a:solidFill>
                            <a:schemeClr val="tx1"/>
                          </a:solidFill>
                        </a:rPr>
                        <a:t>+0,5</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r>
              <a:tr h="384048">
                <a:tc>
                  <a:txBody>
                    <a:bodyPr/>
                    <a:lstStyle/>
                    <a:p>
                      <a:pPr algn="ctr" indent="0" marL="0">
                        <a:buNone/>
                      </a:pPr>
                      <a:r>
                        <a:rPr lang="en-US" sz="1400" b="1" dirty="0">
                          <a:solidFill>
                            <a:schemeClr val="tx1"/>
                          </a:solidFill>
                        </a:rPr>
                        <a:t>Buang</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r>
            </a:tbl>
          </a:graphicData>
        </a:graphic>
      </p:graphicFrame>
      <p:sp>
        <p:nvSpPr>
          <p:cNvPr id="17" name="Text 14"/>
          <p:cNvSpPr txBox="1"/>
          <p:nvPr/>
        </p:nvSpPr>
        <p:spPr>
          <a:xfrm>
            <a:off x="6583680" y="3429000"/>
            <a:ext cx="505937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YANG DIPELAJARI AGEN</a:t>
            </a:r>
            <a:endParaRPr lang="en-US" sz="1200" dirty="0"/>
          </a:p>
        </p:txBody>
      </p:sp>
      <p:sp>
        <p:nvSpPr>
          <p:cNvPr id="18" name="Text 15"/>
          <p:cNvSpPr txBox="1"/>
          <p:nvPr/>
        </p:nvSpPr>
        <p:spPr>
          <a:xfrm>
            <a:off x="6583680" y="3794760"/>
            <a:ext cx="5059375" cy="146304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Tebakan Fresh → </a:t>
            </a:r>
            <a:pPr indent="0" marL="0">
              <a:spcAft>
                <a:spcPts val="300"/>
              </a:spcAft>
              <a:buNone/>
            </a:pPr>
            <a:r>
              <a:rPr lang="en-US" sz="1400" b="1" dirty="0">
                <a:solidFill>
                  <a:schemeClr val="accent1"/>
                </a:solidFill>
              </a:rPr>
              <a:t>Jual</a:t>
            </a:r>
            <a:endParaRPr lang="en-US" sz="1400" dirty="0"/>
          </a:p>
          <a:p>
            <a:pPr indent="0" marL="0">
              <a:spcAft>
                <a:spcPts val="300"/>
              </a:spcAft>
              <a:buNone/>
            </a:pPr>
            <a:r>
              <a:rPr lang="en-US" sz="1400" dirty="0">
                <a:solidFill>
                  <a:schemeClr val="tx1"/>
                </a:solidFill>
              </a:rPr>
              <a:t>Tebakan Semi-fresh → </a:t>
            </a:r>
            <a:pPr indent="0" marL="0">
              <a:spcAft>
                <a:spcPts val="300"/>
              </a:spcAft>
              <a:buNone/>
            </a:pPr>
            <a:r>
              <a:rPr lang="en-US" sz="1400" b="1" dirty="0">
                <a:solidFill>
                  <a:schemeClr val="accent2"/>
                </a:solidFill>
              </a:rPr>
              <a:t>Cek manual</a:t>
            </a:r>
            <a:endParaRPr lang="en-US" sz="1400" dirty="0"/>
          </a:p>
          <a:p>
            <a:pPr indent="0" marL="0">
              <a:spcAft>
                <a:spcPts val="300"/>
              </a:spcAft>
              <a:buNone/>
            </a:pPr>
            <a:r>
              <a:rPr lang="en-US" sz="1400" dirty="0">
                <a:solidFill>
                  <a:schemeClr val="tx1"/>
                </a:solidFill>
              </a:rPr>
              <a:t>Spoiled &amp; model yakin → </a:t>
            </a:r>
            <a:pPr indent="0" marL="0">
              <a:spcAft>
                <a:spcPts val="300"/>
              </a:spcAft>
              <a:buNone/>
            </a:pPr>
            <a:r>
              <a:rPr lang="en-US" sz="1400" b="1" dirty="0">
                <a:solidFill>
                  <a:schemeClr val="accent4"/>
                </a:solidFill>
              </a:rPr>
              <a:t>Buang</a:t>
            </a:r>
            <a:endParaRPr lang="en-US" sz="1400" dirty="0"/>
          </a:p>
          <a:p>
            <a:pPr indent="0" marL="0">
              <a:spcAft>
                <a:spcPts val="300"/>
              </a:spcAft>
              <a:buNone/>
            </a:pPr>
            <a:r>
              <a:rPr lang="en-US" sz="1400" dirty="0">
                <a:solidFill>
                  <a:schemeClr val="tx1"/>
                </a:solidFill>
              </a:rPr>
              <a:t>Spoiled &amp; model ragu → </a:t>
            </a:r>
            <a:pPr indent="0" marL="0">
              <a:spcAft>
                <a:spcPts val="300"/>
              </a:spcAft>
              <a:buNone/>
            </a:pPr>
            <a:r>
              <a:rPr lang="en-US" sz="1400" b="1" dirty="0">
                <a:solidFill>
                  <a:schemeClr val="accent2"/>
                </a:solidFill>
              </a:rPr>
              <a:t>Cek manual</a:t>
            </a:r>
            <a:endParaRPr lang="en-US" sz="1400" dirty="0"/>
          </a:p>
        </p:txBody>
      </p:sp>
      <p:sp>
        <p:nvSpPr>
          <p:cNvPr id="19" name="Shape 16"/>
          <p:cNvSpPr/>
          <p:nvPr/>
        </p:nvSpPr>
        <p:spPr>
          <a:xfrm>
            <a:off x="548640" y="5486400"/>
            <a:ext cx="11094415" cy="685800"/>
          </a:xfrm>
          <a:prstGeom prst="roundRect">
            <a:avLst>
              <a:gd name="adj" fmla="val 16000"/>
            </a:avLst>
          </a:prstGeom>
          <a:solidFill>
            <a:schemeClr val="tx2"/>
          </a:solidFill>
          <a:ln w="12700">
            <a:solidFill>
              <a:schemeClr val="tx2"/>
            </a:solidFill>
            <a:prstDash val="solid"/>
          </a:ln>
        </p:spPr>
      </p:sp>
      <p:sp>
        <p:nvSpPr>
          <p:cNvPr id="20" name="Text 17"/>
          <p:cNvSpPr txBox="1"/>
          <p:nvPr/>
        </p:nvSpPr>
        <p:spPr>
          <a:xfrm>
            <a:off x="868680" y="5486400"/>
            <a:ext cx="10454335" cy="685800"/>
          </a:xfrm>
          <a:prstGeom prst="rect">
            <a:avLst/>
          </a:prstGeom>
          <a:noFill/>
          <a:ln/>
        </p:spPr>
        <p:txBody>
          <a:bodyPr wrap="square" lIns="0" tIns="0" rIns="0" bIns="0" rtlCol="0" anchor="ctr"/>
          <a:lstStyle/>
          <a:p>
            <a:pPr indent="0" marL="0">
              <a:buNone/>
            </a:pPr>
            <a:r>
              <a:rPr lang="en-US" sz="1600" b="1" dirty="0">
                <a:solidFill>
                  <a:schemeClr val="accent2"/>
                </a:solidFill>
              </a:rPr>
              <a:t>Tujuan sistem: </a:t>
            </a:r>
            <a:pPr indent="0" marL="0">
              <a:buNone/>
            </a:pPr>
            <a:r>
              <a:rPr lang="en-US" sz="1600" dirty="0">
                <a:solidFill>
                  <a:schemeClr val="bg1"/>
                </a:solidFill>
              </a:rPr>
              <a:t>bukan cuma menebak, tapi mengambil keputusan yang aman dan tidak boros.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Tambah iterasi dan data, performa naik</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Rijal</a:t>
            </a:r>
            <a:endParaRPr lang="en-US" sz="1200" dirty="0"/>
          </a:p>
        </p:txBody>
      </p:sp>
      <p:pic>
        <p:nvPicPr>
          <p:cNvPr id="5" name="Image 0" descr="/Users/angga0704/ets-ml2-kelompok/hasil/08_rl_kurva.png">    </p:cNvPr>
          <p:cNvPicPr>
            <a:picLocks noChangeAspect="1"/>
          </p:cNvPicPr>
          <p:nvPr/>
        </p:nvPicPr>
        <p:blipFill>
          <a:blip r:embed="rId1"/>
          <a:stretch>
            <a:fillRect/>
          </a:stretch>
        </p:blipFill>
        <p:spPr>
          <a:xfrm>
            <a:off x="548640" y="1336113"/>
            <a:ext cx="5396332" cy="3134214"/>
          </a:xfrm>
          <a:prstGeom prst="rect">
            <a:avLst/>
          </a:prstGeom>
        </p:spPr>
      </p:pic>
      <p:pic>
        <p:nvPicPr>
          <p:cNvPr id="6" name="Image 1" descr="/Users/angga0704/ets-ml2-kelompok/hasil/09_tambah_sesi.png">    </p:cNvPr>
          <p:cNvPicPr>
            <a:picLocks noChangeAspect="1"/>
          </p:cNvPicPr>
          <p:nvPr/>
        </p:nvPicPr>
        <p:blipFill>
          <a:blip r:embed="rId2"/>
          <a:stretch>
            <a:fillRect/>
          </a:stretch>
        </p:blipFill>
        <p:spPr>
          <a:xfrm>
            <a:off x="6246724" y="1207043"/>
            <a:ext cx="5396332" cy="3392354"/>
          </a:xfrm>
          <a:prstGeom prst="rect">
            <a:avLst/>
          </a:prstGeom>
        </p:spPr>
      </p:pic>
      <p:sp>
        <p:nvSpPr>
          <p:cNvPr id="7" name="Shape 3"/>
          <p:cNvSpPr/>
          <p:nvPr/>
        </p:nvSpPr>
        <p:spPr>
          <a:xfrm>
            <a:off x="548640" y="4754880"/>
            <a:ext cx="5396332" cy="1280160"/>
          </a:xfrm>
          <a:prstGeom prst="roundRect">
            <a:avLst>
              <a:gd name="adj" fmla="val 8571"/>
            </a:avLst>
          </a:prstGeom>
          <a:solidFill>
            <a:schemeClr val="tx2"/>
          </a:solidFill>
          <a:ln w="12700">
            <a:solidFill>
              <a:schemeClr val="tx2"/>
            </a:solidFill>
            <a:prstDash val="solid"/>
          </a:ln>
        </p:spPr>
      </p:sp>
      <p:sp>
        <p:nvSpPr>
          <p:cNvPr id="8" name="Text 4"/>
          <p:cNvSpPr txBox="1"/>
          <p:nvPr/>
        </p:nvSpPr>
        <p:spPr>
          <a:xfrm>
            <a:off x="822960" y="4754880"/>
            <a:ext cx="4847692" cy="1280160"/>
          </a:xfrm>
          <a:prstGeom prst="rect">
            <a:avLst/>
          </a:prstGeom>
          <a:noFill/>
          <a:ln/>
        </p:spPr>
        <p:txBody>
          <a:bodyPr wrap="square" lIns="0" tIns="0" rIns="0" bIns="0" rtlCol="0" anchor="ctr"/>
          <a:lstStyle/>
          <a:p>
            <a:pPr indent="0" marL="0">
              <a:buNone/>
            </a:pPr>
            <a:r>
              <a:rPr lang="en-US" sz="1400" b="1" dirty="0">
                <a:solidFill>
                  <a:schemeClr val="accent2"/>
                </a:solidFill>
              </a:rPr>
              <a:t>Tambahan iterasi: </a:t>
            </a:r>
            <a:pPr indent="0" marL="0">
              <a:buNone/>
            </a:pPr>
            <a:r>
              <a:rPr lang="en-US" sz="1400" dirty="0">
                <a:solidFill>
                  <a:schemeClr val="bg1"/>
                </a:solidFill>
              </a:rPr>
              <a:t>reward agen -0,80 → 0,61. Lebih baik dari "selalu ikut model" (0,44) dan "selalu cek manual" (0,50).</a:t>
            </a:r>
            <a:endParaRPr lang="en-US" sz="1400" dirty="0"/>
          </a:p>
        </p:txBody>
      </p:sp>
      <p:sp>
        <p:nvSpPr>
          <p:cNvPr id="9" name="Shape 5"/>
          <p:cNvSpPr/>
          <p:nvPr/>
        </p:nvSpPr>
        <p:spPr>
          <a:xfrm>
            <a:off x="6246724" y="4754880"/>
            <a:ext cx="5396332" cy="1280160"/>
          </a:xfrm>
          <a:prstGeom prst="roundRect">
            <a:avLst>
              <a:gd name="adj" fmla="val 8571"/>
            </a:avLst>
          </a:prstGeom>
          <a:solidFill>
            <a:schemeClr val="tx2"/>
          </a:solidFill>
          <a:ln w="12700">
            <a:solidFill>
              <a:schemeClr val="tx2"/>
            </a:solidFill>
            <a:prstDash val="solid"/>
          </a:ln>
        </p:spPr>
      </p:sp>
      <p:sp>
        <p:nvSpPr>
          <p:cNvPr id="10" name="Text 6"/>
          <p:cNvSpPr txBox="1"/>
          <p:nvPr/>
        </p:nvSpPr>
        <p:spPr>
          <a:xfrm>
            <a:off x="6521044" y="4754880"/>
            <a:ext cx="4847692" cy="1280160"/>
          </a:xfrm>
          <a:prstGeom prst="rect">
            <a:avLst/>
          </a:prstGeom>
          <a:noFill/>
          <a:ln/>
        </p:spPr>
        <p:txBody>
          <a:bodyPr wrap="square" lIns="0" tIns="0" rIns="0" bIns="0" rtlCol="0" anchor="ctr"/>
          <a:lstStyle/>
          <a:p>
            <a:pPr indent="0" marL="0">
              <a:buNone/>
            </a:pPr>
            <a:r>
              <a:rPr lang="en-US" sz="1400" b="1" dirty="0">
                <a:solidFill>
                  <a:schemeClr val="accent2"/>
                </a:solidFill>
              </a:rPr>
              <a:t>Tambahan data: </a:t>
            </a:r>
            <a:pPr indent="0" marL="0">
              <a:buNone/>
            </a:pPr>
            <a:r>
              <a:rPr lang="en-US" sz="1400" dirty="0">
                <a:solidFill>
                  <a:schemeClr val="bg1"/>
                </a:solidFill>
              </a:rPr>
              <a:t>macro-F1 0,58 (1 sesi) → 0,75 (14 sesi). Sesi asli tambahan jauh lebih berguna daripada data buatan.</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Analisis dan diskusi</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Rijal</a:t>
            </a:r>
            <a:endParaRPr lang="en-US" sz="1200" dirty="0"/>
          </a:p>
        </p:txBody>
      </p:sp>
      <p:sp>
        <p:nvSpPr>
          <p:cNvPr id="5" name="Shape 3"/>
          <p:cNvSpPr/>
          <p:nvPr/>
        </p:nvSpPr>
        <p:spPr>
          <a:xfrm>
            <a:off x="548640" y="1234440"/>
            <a:ext cx="5410048" cy="2331720"/>
          </a:xfrm>
          <a:prstGeom prst="roundRect">
            <a:avLst>
              <a:gd name="adj" fmla="val 4706"/>
            </a:avLst>
          </a:prstGeom>
          <a:solidFill>
            <a:schemeClr val="bg2"/>
          </a:solidFill>
          <a:ln w="12700">
            <a:solidFill>
              <a:schemeClr val="bg2"/>
            </a:solidFill>
            <a:prstDash val="solid"/>
          </a:ln>
        </p:spPr>
      </p:sp>
      <p:sp>
        <p:nvSpPr>
          <p:cNvPr id="6" name="Text 4"/>
          <p:cNvSpPr txBox="1"/>
          <p:nvPr/>
        </p:nvSpPr>
        <p:spPr>
          <a:xfrm>
            <a:off x="822960" y="1399032"/>
            <a:ext cx="4861408" cy="365760"/>
          </a:xfrm>
          <a:prstGeom prst="rect">
            <a:avLst/>
          </a:prstGeom>
          <a:noFill/>
          <a:ln/>
        </p:spPr>
        <p:txBody>
          <a:bodyPr wrap="square" lIns="0" tIns="0" rIns="0" bIns="0" rtlCol="0" anchor="ctr"/>
          <a:lstStyle/>
          <a:p>
            <a:pPr indent="0" marL="0">
              <a:buNone/>
            </a:pPr>
            <a:r>
              <a:rPr lang="en-US" sz="1800" b="1" dirty="0">
                <a:solidFill>
                  <a:schemeClr val="accent1"/>
                </a:solidFill>
              </a:rPr>
              <a:t>Batasan</a:t>
            </a:r>
            <a:endParaRPr lang="en-US" sz="1800" dirty="0"/>
          </a:p>
        </p:txBody>
      </p:sp>
      <p:sp>
        <p:nvSpPr>
          <p:cNvPr id="7" name="Text 5"/>
          <p:cNvSpPr txBox="1"/>
          <p:nvPr/>
        </p:nvSpPr>
        <p:spPr>
          <a:xfrm>
            <a:off x="822960" y="1856232"/>
            <a:ext cx="4861408" cy="15544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Hanya 15 sesi, hasil antar sesi masih naik-turun</a:t>
            </a:r>
            <a:endParaRPr lang="en-US" sz="1500" dirty="0"/>
          </a:p>
          <a:p>
            <a:pPr marL="342900" indent="-342900">
              <a:spcAft>
                <a:spcPts val="500"/>
              </a:spcAft>
              <a:buSzPct val="100000"/>
              <a:buChar char="•"/>
            </a:pPr>
            <a:r>
              <a:rPr lang="en-US" sz="1500" dirty="0">
                <a:solidFill>
                  <a:schemeClr val="tx1"/>
                </a:solidFill>
              </a:rPr>
              <a:t>Label dari lama penyimpanan, bukan uji lab per sampel</a:t>
            </a:r>
            <a:endParaRPr lang="en-US" sz="1500" dirty="0"/>
          </a:p>
          <a:p>
            <a:pPr marL="342900" indent="-342900">
              <a:spcAft>
                <a:spcPts val="500"/>
              </a:spcAft>
              <a:buSzPct val="100000"/>
              <a:buChar char="•"/>
            </a:pPr>
            <a:r>
              <a:rPr lang="en-US" sz="1500" dirty="0">
                <a:solidFill>
                  <a:schemeClr val="tx1"/>
                </a:solidFill>
              </a:rPr>
              <a:t>Reward agen RL adalah asumsi kami</a:t>
            </a:r>
            <a:endParaRPr lang="en-US" sz="1500" dirty="0"/>
          </a:p>
        </p:txBody>
      </p:sp>
      <p:sp>
        <p:nvSpPr>
          <p:cNvPr id="8" name="Shape 6"/>
          <p:cNvSpPr/>
          <p:nvPr/>
        </p:nvSpPr>
        <p:spPr>
          <a:xfrm>
            <a:off x="6233008" y="1234440"/>
            <a:ext cx="5410048" cy="2331720"/>
          </a:xfrm>
          <a:prstGeom prst="roundRect">
            <a:avLst>
              <a:gd name="adj" fmla="val 4706"/>
            </a:avLst>
          </a:prstGeom>
          <a:solidFill>
            <a:schemeClr val="bg2"/>
          </a:solidFill>
          <a:ln w="12700">
            <a:solidFill>
              <a:schemeClr val="bg2"/>
            </a:solidFill>
            <a:prstDash val="solid"/>
          </a:ln>
        </p:spPr>
      </p:sp>
      <p:sp>
        <p:nvSpPr>
          <p:cNvPr id="9" name="Text 7"/>
          <p:cNvSpPr txBox="1"/>
          <p:nvPr/>
        </p:nvSpPr>
        <p:spPr>
          <a:xfrm>
            <a:off x="6507328" y="1399032"/>
            <a:ext cx="4861408" cy="365760"/>
          </a:xfrm>
          <a:prstGeom prst="rect">
            <a:avLst/>
          </a:prstGeom>
          <a:noFill/>
          <a:ln/>
        </p:spPr>
        <p:txBody>
          <a:bodyPr wrap="square" lIns="0" tIns="0" rIns="0" bIns="0" rtlCol="0" anchor="ctr"/>
          <a:lstStyle/>
          <a:p>
            <a:pPr indent="0" marL="0">
              <a:buNone/>
            </a:pPr>
            <a:r>
              <a:rPr lang="en-US" sz="1800" b="1" dirty="0">
                <a:solidFill>
                  <a:schemeClr val="accent1"/>
                </a:solidFill>
              </a:rPr>
              <a:t>Trade-off</a:t>
            </a:r>
            <a:endParaRPr lang="en-US" sz="1800" dirty="0"/>
          </a:p>
        </p:txBody>
      </p:sp>
      <p:sp>
        <p:nvSpPr>
          <p:cNvPr id="10" name="Text 8"/>
          <p:cNvSpPr txBox="1"/>
          <p:nvPr/>
        </p:nvSpPr>
        <p:spPr>
          <a:xfrm>
            <a:off x="6507328" y="1856232"/>
            <a:ext cx="4861408" cy="15544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Cek manual lebih aman, tapi ada biaya</a:t>
            </a:r>
            <a:endParaRPr lang="en-US" sz="1500" dirty="0"/>
          </a:p>
          <a:p>
            <a:pPr marL="342900" indent="-342900">
              <a:spcAft>
                <a:spcPts val="500"/>
              </a:spcAft>
              <a:buSzPct val="100000"/>
              <a:buChar char="•"/>
            </a:pPr>
            <a:r>
              <a:rPr lang="en-US" sz="1500" dirty="0">
                <a:solidFill>
                  <a:schemeClr val="tx1"/>
                </a:solidFill>
              </a:rPr>
              <a:t>Ambang "yakin" 0,7: dinaikkan berarti lebih aman, tapi lebih sering cek</a:t>
            </a:r>
            <a:endParaRPr lang="en-US" sz="1500" dirty="0"/>
          </a:p>
          <a:p>
            <a:pPr marL="342900" indent="-342900">
              <a:spcAft>
                <a:spcPts val="500"/>
              </a:spcAft>
              <a:buSzPct val="100000"/>
              <a:buChar char="•"/>
            </a:pPr>
            <a:r>
              <a:rPr lang="en-US" sz="1500" dirty="0">
                <a:solidFill>
                  <a:schemeClr val="tx1"/>
                </a:solidFill>
              </a:rPr>
              <a:t>Ensemble lebih akurat, tapi lebih sulit dijelaskan dari 1 pohon</a:t>
            </a:r>
            <a:endParaRPr lang="en-US" sz="1500" dirty="0"/>
          </a:p>
        </p:txBody>
      </p:sp>
      <p:sp>
        <p:nvSpPr>
          <p:cNvPr id="11" name="Shape 9"/>
          <p:cNvSpPr/>
          <p:nvPr/>
        </p:nvSpPr>
        <p:spPr>
          <a:xfrm>
            <a:off x="548640" y="3794760"/>
            <a:ext cx="5410048" cy="233172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822960" y="3959352"/>
            <a:ext cx="4861408" cy="365760"/>
          </a:xfrm>
          <a:prstGeom prst="rect">
            <a:avLst/>
          </a:prstGeom>
          <a:noFill/>
          <a:ln/>
        </p:spPr>
        <p:txBody>
          <a:bodyPr wrap="square" lIns="0" tIns="0" rIns="0" bIns="0" rtlCol="0" anchor="ctr"/>
          <a:lstStyle/>
          <a:p>
            <a:pPr indent="0" marL="0">
              <a:buNone/>
            </a:pPr>
            <a:r>
              <a:rPr lang="en-US" sz="1800" b="1" dirty="0">
                <a:solidFill>
                  <a:schemeClr val="accent1"/>
                </a:solidFill>
              </a:rPr>
              <a:t>Sumber galat</a:t>
            </a:r>
            <a:endParaRPr lang="en-US" sz="1800" dirty="0"/>
          </a:p>
        </p:txBody>
      </p:sp>
      <p:sp>
        <p:nvSpPr>
          <p:cNvPr id="13" name="Text 11"/>
          <p:cNvSpPr txBox="1"/>
          <p:nvPr/>
        </p:nvSpPr>
        <p:spPr>
          <a:xfrm>
            <a:off x="822960" y="4416552"/>
            <a:ext cx="4861408" cy="15544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Semi-fresh paling sulit (recall 74%), letaknya di tengah</a:t>
            </a:r>
            <a:endParaRPr lang="en-US" sz="1500" dirty="0"/>
          </a:p>
          <a:p>
            <a:pPr marL="342900" indent="-342900">
              <a:spcAft>
                <a:spcPts val="500"/>
              </a:spcAft>
              <a:buSzPct val="100000"/>
              <a:buChar char="•"/>
            </a:pPr>
            <a:r>
              <a:rPr lang="en-US" sz="1500" dirty="0">
                <a:solidFill>
                  <a:schemeClr val="tx1"/>
                </a:solidFill>
              </a:rPr>
              <a:t>Level gas tiap sesi beda jauh (puncak MQ-135 119–677)</a:t>
            </a:r>
            <a:endParaRPr lang="en-US" sz="1500" dirty="0"/>
          </a:p>
          <a:p>
            <a:pPr marL="342900" indent="-342900">
              <a:spcAft>
                <a:spcPts val="500"/>
              </a:spcAft>
              <a:buSzPct val="100000"/>
              <a:buChar char="•"/>
            </a:pPr>
            <a:r>
              <a:rPr lang="en-US" sz="1500" dirty="0">
                <a:solidFill>
                  <a:schemeClr val="tx1"/>
                </a:solidFill>
              </a:rPr>
              <a:t>Akurasi sesi terburuk 55,3%</a:t>
            </a:r>
            <a:endParaRPr lang="en-US" sz="1500" dirty="0"/>
          </a:p>
        </p:txBody>
      </p:sp>
      <p:sp>
        <p:nvSpPr>
          <p:cNvPr id="14" name="Shape 12"/>
          <p:cNvSpPr/>
          <p:nvPr/>
        </p:nvSpPr>
        <p:spPr>
          <a:xfrm>
            <a:off x="6233008" y="3794760"/>
            <a:ext cx="5410048" cy="2331720"/>
          </a:xfrm>
          <a:prstGeom prst="roundRect">
            <a:avLst>
              <a:gd name="adj" fmla="val 4706"/>
            </a:avLst>
          </a:prstGeom>
          <a:solidFill>
            <a:schemeClr val="bg2"/>
          </a:solidFill>
          <a:ln w="12700">
            <a:solidFill>
              <a:schemeClr val="bg2"/>
            </a:solidFill>
            <a:prstDash val="solid"/>
          </a:ln>
        </p:spPr>
      </p:sp>
      <p:sp>
        <p:nvSpPr>
          <p:cNvPr id="15" name="Text 13"/>
          <p:cNvSpPr txBox="1"/>
          <p:nvPr/>
        </p:nvSpPr>
        <p:spPr>
          <a:xfrm>
            <a:off x="6507328" y="3959352"/>
            <a:ext cx="4861408" cy="365760"/>
          </a:xfrm>
          <a:prstGeom prst="rect">
            <a:avLst/>
          </a:prstGeom>
          <a:noFill/>
          <a:ln/>
        </p:spPr>
        <p:txBody>
          <a:bodyPr wrap="square" lIns="0" tIns="0" rIns="0" bIns="0" rtlCol="0" anchor="ctr"/>
          <a:lstStyle/>
          <a:p>
            <a:pPr indent="0" marL="0">
              <a:buNone/>
            </a:pPr>
            <a:r>
              <a:rPr lang="en-US" sz="1800" b="1" dirty="0">
                <a:solidFill>
                  <a:schemeClr val="accent1"/>
                </a:solidFill>
              </a:rPr>
              <a:t>Pengembangan</a:t>
            </a:r>
            <a:endParaRPr lang="en-US" sz="1800" dirty="0"/>
          </a:p>
        </p:txBody>
      </p:sp>
      <p:sp>
        <p:nvSpPr>
          <p:cNvPr id="16" name="Text 14"/>
          <p:cNvSpPr txBox="1"/>
          <p:nvPr/>
        </p:nvSpPr>
        <p:spPr>
          <a:xfrm>
            <a:off x="6507328" y="4416552"/>
            <a:ext cx="4861408" cy="15544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Jalankan di 16 batch data skripsi Erlangga (MQ-135 + DHT22)</a:t>
            </a:r>
            <a:endParaRPr lang="en-US" sz="1500" dirty="0"/>
          </a:p>
          <a:p>
            <a:pPr marL="342900" indent="-342900">
              <a:spcAft>
                <a:spcPts val="500"/>
              </a:spcAft>
              <a:buSzPct val="100000"/>
              <a:buChar char="•"/>
            </a:pPr>
            <a:r>
              <a:rPr lang="en-US" sz="1500" dirty="0">
                <a:solidFill>
                  <a:schemeClr val="tx1"/>
                </a:solidFill>
              </a:rPr>
              <a:t>Label dari panel sensori / uji lab</a:t>
            </a:r>
            <a:endParaRPr lang="en-US" sz="1500" dirty="0"/>
          </a:p>
          <a:p>
            <a:pPr marL="342900" indent="-342900">
              <a:spcAft>
                <a:spcPts val="500"/>
              </a:spcAft>
              <a:buSzPct val="100000"/>
              <a:buChar char="•"/>
            </a:pPr>
            <a:r>
              <a:rPr lang="en-US" sz="1500" dirty="0">
                <a:solidFill>
                  <a:schemeClr val="tx1"/>
                </a:solidFill>
              </a:rPr>
              <a:t>Sensor paling berpengaruh: MQ-7, MQ-3; MQ-135 urutan ke-4</a:t>
            </a:r>
            <a:endParaRPr lang="en-US" sz="15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548640"/>
            <a:ext cx="7315200" cy="8229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Kesimpulan</a:t>
            </a:r>
            <a:endParaRPr lang="en-US" sz="4000" dirty="0"/>
          </a:p>
        </p:txBody>
      </p:sp>
      <p:sp>
        <p:nvSpPr>
          <p:cNvPr id="3" name="Shape 1"/>
          <p:cNvSpPr/>
          <p:nvPr/>
        </p:nvSpPr>
        <p:spPr>
          <a:xfrm>
            <a:off x="548640" y="1737360"/>
            <a:ext cx="502920" cy="502920"/>
          </a:xfrm>
          <a:prstGeom prst="ellipse">
            <a:avLst/>
          </a:prstGeom>
          <a:solidFill>
            <a:schemeClr val="accent2"/>
          </a:solidFill>
          <a:ln w="12700">
            <a:solidFill>
              <a:schemeClr val="accent2"/>
            </a:solidFill>
            <a:prstDash val="solid"/>
          </a:ln>
        </p:spPr>
      </p:sp>
      <p:sp>
        <p:nvSpPr>
          <p:cNvPr id="4" name="Text 2"/>
          <p:cNvSpPr txBox="1"/>
          <p:nvPr/>
        </p:nvSpPr>
        <p:spPr>
          <a:xfrm>
            <a:off x="548640" y="173736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5" name="Text 3"/>
          <p:cNvSpPr txBox="1"/>
          <p:nvPr/>
        </p:nvSpPr>
        <p:spPr>
          <a:xfrm>
            <a:off x="1325880" y="1691640"/>
            <a:ext cx="6400800" cy="411480"/>
          </a:xfrm>
          <a:prstGeom prst="rect">
            <a:avLst/>
          </a:prstGeom>
          <a:noFill/>
          <a:ln/>
        </p:spPr>
        <p:txBody>
          <a:bodyPr wrap="square" lIns="0" tIns="0" rIns="0" bIns="0" rtlCol="0" anchor="ctr"/>
          <a:lstStyle/>
          <a:p>
            <a:pPr indent="0" marL="0">
              <a:buNone/>
            </a:pPr>
            <a:r>
              <a:rPr lang="en-US" sz="1900" b="1" dirty="0">
                <a:solidFill>
                  <a:schemeClr val="bg1"/>
                </a:solidFill>
              </a:rPr>
              <a:t>Uji yang jujur menentukan segalanya</a:t>
            </a:r>
            <a:endParaRPr lang="en-US" sz="1900" dirty="0"/>
          </a:p>
        </p:txBody>
      </p:sp>
      <p:sp>
        <p:nvSpPr>
          <p:cNvPr id="6" name="Text 4"/>
          <p:cNvSpPr txBox="1"/>
          <p:nvPr/>
        </p:nvSpPr>
        <p:spPr>
          <a:xfrm>
            <a:off x="1325880" y="2103120"/>
            <a:ext cx="6400800" cy="365760"/>
          </a:xfrm>
          <a:prstGeom prst="rect">
            <a:avLst/>
          </a:prstGeom>
          <a:noFill/>
          <a:ln/>
        </p:spPr>
        <p:txBody>
          <a:bodyPr wrap="square" lIns="0" tIns="0" rIns="0" bIns="0" rtlCol="0" anchor="ctr"/>
          <a:lstStyle/>
          <a:p>
            <a:pPr indent="0" marL="0">
              <a:buNone/>
            </a:pPr>
            <a:r>
              <a:rPr lang="en-US" sz="1400" dirty="0">
                <a:solidFill>
                  <a:srgbClr val="CADBD7"/>
                </a:solidFill>
              </a:rPr>
              <a:t>96,9% (dibagi acak) itu palsu; 77,6% (per sesi) yang jujur</a:t>
            </a:r>
            <a:endParaRPr lang="en-US" sz="1400" dirty="0"/>
          </a:p>
        </p:txBody>
      </p:sp>
      <p:sp>
        <p:nvSpPr>
          <p:cNvPr id="7" name="Shape 5"/>
          <p:cNvSpPr/>
          <p:nvPr/>
        </p:nvSpPr>
        <p:spPr>
          <a:xfrm>
            <a:off x="548640" y="2743200"/>
            <a:ext cx="502920" cy="502920"/>
          </a:xfrm>
          <a:prstGeom prst="ellipse">
            <a:avLst/>
          </a:prstGeom>
          <a:solidFill>
            <a:schemeClr val="accent2"/>
          </a:solidFill>
          <a:ln w="12700">
            <a:solidFill>
              <a:schemeClr val="accent2"/>
            </a:solidFill>
            <a:prstDash val="solid"/>
          </a:ln>
        </p:spPr>
      </p:sp>
      <p:sp>
        <p:nvSpPr>
          <p:cNvPr id="8" name="Text 6"/>
          <p:cNvSpPr txBox="1"/>
          <p:nvPr/>
        </p:nvSpPr>
        <p:spPr>
          <a:xfrm>
            <a:off x="548640" y="274320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9" name="Text 7"/>
          <p:cNvSpPr txBox="1"/>
          <p:nvPr/>
        </p:nvSpPr>
        <p:spPr>
          <a:xfrm>
            <a:off x="1325880" y="2697480"/>
            <a:ext cx="6400800" cy="411480"/>
          </a:xfrm>
          <a:prstGeom prst="rect">
            <a:avLst/>
          </a:prstGeom>
          <a:noFill/>
          <a:ln/>
        </p:spPr>
        <p:txBody>
          <a:bodyPr wrap="square" lIns="0" tIns="0" rIns="0" bIns="0" rtlCol="0" anchor="ctr"/>
          <a:lstStyle/>
          <a:p>
            <a:pPr indent="0" marL="0">
              <a:buNone/>
            </a:pPr>
            <a:r>
              <a:rPr lang="en-US" sz="1900" b="1" dirty="0">
                <a:solidFill>
                  <a:schemeClr val="bg1"/>
                </a:solidFill>
              </a:rPr>
              <a:t>Pengolahan data paling berpengaruh</a:t>
            </a:r>
            <a:endParaRPr lang="en-US" sz="1900" dirty="0"/>
          </a:p>
        </p:txBody>
      </p:sp>
      <p:sp>
        <p:nvSpPr>
          <p:cNvPr id="10" name="Text 8"/>
          <p:cNvSpPr txBox="1"/>
          <p:nvPr/>
        </p:nvSpPr>
        <p:spPr>
          <a:xfrm>
            <a:off x="1325880" y="3108960"/>
            <a:ext cx="6400800" cy="365760"/>
          </a:xfrm>
          <a:prstGeom prst="rect">
            <a:avLst/>
          </a:prstGeom>
          <a:noFill/>
          <a:ln/>
        </p:spPr>
        <p:txBody>
          <a:bodyPr wrap="square" lIns="0" tIns="0" rIns="0" bIns="0" rtlCol="0" anchor="ctr"/>
          <a:lstStyle/>
          <a:p>
            <a:pPr indent="0" marL="0">
              <a:buNone/>
            </a:pPr>
            <a:r>
              <a:rPr lang="en-US" sz="1400" dirty="0">
                <a:solidFill>
                  <a:srgbClr val="CADBD7"/>
                </a:solidFill>
              </a:rPr>
              <a:t>kalibrasi per sesi: Random Forest 0,681 → 0,782</a:t>
            </a:r>
            <a:endParaRPr lang="en-US" sz="1400" dirty="0"/>
          </a:p>
        </p:txBody>
      </p:sp>
      <p:sp>
        <p:nvSpPr>
          <p:cNvPr id="11" name="Shape 9"/>
          <p:cNvSpPr/>
          <p:nvPr/>
        </p:nvSpPr>
        <p:spPr>
          <a:xfrm>
            <a:off x="548640" y="3749040"/>
            <a:ext cx="502920" cy="502920"/>
          </a:xfrm>
          <a:prstGeom prst="ellipse">
            <a:avLst/>
          </a:prstGeom>
          <a:solidFill>
            <a:schemeClr val="accent2"/>
          </a:solidFill>
          <a:ln w="12700">
            <a:solidFill>
              <a:schemeClr val="accent2"/>
            </a:solidFill>
            <a:prstDash val="solid"/>
          </a:ln>
        </p:spPr>
      </p:sp>
      <p:sp>
        <p:nvSpPr>
          <p:cNvPr id="12" name="Text 10"/>
          <p:cNvSpPr txBox="1"/>
          <p:nvPr/>
        </p:nvSpPr>
        <p:spPr>
          <a:xfrm>
            <a:off x="548640" y="374904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3" name="Text 11"/>
          <p:cNvSpPr txBox="1"/>
          <p:nvPr/>
        </p:nvSpPr>
        <p:spPr>
          <a:xfrm>
            <a:off x="1325880" y="3703320"/>
            <a:ext cx="6400800" cy="411480"/>
          </a:xfrm>
          <a:prstGeom prst="rect">
            <a:avLst/>
          </a:prstGeom>
          <a:noFill/>
          <a:ln/>
        </p:spPr>
        <p:txBody>
          <a:bodyPr wrap="square" lIns="0" tIns="0" rIns="0" bIns="0" rtlCol="0" anchor="ctr"/>
          <a:lstStyle/>
          <a:p>
            <a:pPr indent="0" marL="0">
              <a:buNone/>
            </a:pPr>
            <a:r>
              <a:rPr lang="en-US" sz="1900" b="1" dirty="0">
                <a:solidFill>
                  <a:schemeClr val="bg1"/>
                </a:solidFill>
              </a:rPr>
              <a:t>Ensemble lebih baik dari model tunggal</a:t>
            </a:r>
            <a:endParaRPr lang="en-US" sz="1900" dirty="0"/>
          </a:p>
        </p:txBody>
      </p:sp>
      <p:sp>
        <p:nvSpPr>
          <p:cNvPr id="14" name="Text 12"/>
          <p:cNvSpPr txBox="1"/>
          <p:nvPr/>
        </p:nvSpPr>
        <p:spPr>
          <a:xfrm>
            <a:off x="1325880" y="4114800"/>
            <a:ext cx="6400800" cy="365760"/>
          </a:xfrm>
          <a:prstGeom prst="rect">
            <a:avLst/>
          </a:prstGeom>
          <a:noFill/>
          <a:ln/>
        </p:spPr>
        <p:txBody>
          <a:bodyPr wrap="square" lIns="0" tIns="0" rIns="0" bIns="0" rtlCol="0" anchor="ctr"/>
          <a:lstStyle/>
          <a:p>
            <a:pPr indent="0" marL="0">
              <a:buNone/>
            </a:pPr>
            <a:r>
              <a:rPr lang="en-US" sz="1400" dirty="0">
                <a:solidFill>
                  <a:srgbClr val="CADBD7"/>
                </a:solidFill>
              </a:rPr>
              <a:t>Random Forest 0,782 vs KNN 0,736</a:t>
            </a:r>
            <a:endParaRPr lang="en-US" sz="1400" dirty="0"/>
          </a:p>
        </p:txBody>
      </p:sp>
      <p:sp>
        <p:nvSpPr>
          <p:cNvPr id="15" name="Shape 13"/>
          <p:cNvSpPr/>
          <p:nvPr/>
        </p:nvSpPr>
        <p:spPr>
          <a:xfrm>
            <a:off x="548640" y="4754880"/>
            <a:ext cx="502920" cy="502920"/>
          </a:xfrm>
          <a:prstGeom prst="ellipse">
            <a:avLst/>
          </a:prstGeom>
          <a:solidFill>
            <a:schemeClr val="accent2"/>
          </a:solidFill>
          <a:ln w="12700">
            <a:solidFill>
              <a:schemeClr val="accent2"/>
            </a:solidFill>
            <a:prstDash val="solid"/>
          </a:ln>
        </p:spPr>
      </p:sp>
      <p:sp>
        <p:nvSpPr>
          <p:cNvPr id="16" name="Text 14"/>
          <p:cNvSpPr txBox="1"/>
          <p:nvPr/>
        </p:nvSpPr>
        <p:spPr>
          <a:xfrm>
            <a:off x="548640" y="475488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7" name="Text 15"/>
          <p:cNvSpPr txBox="1"/>
          <p:nvPr/>
        </p:nvSpPr>
        <p:spPr>
          <a:xfrm>
            <a:off x="1325880" y="4709160"/>
            <a:ext cx="6400800" cy="411480"/>
          </a:xfrm>
          <a:prstGeom prst="rect">
            <a:avLst/>
          </a:prstGeom>
          <a:noFill/>
          <a:ln/>
        </p:spPr>
        <p:txBody>
          <a:bodyPr wrap="square" lIns="0" tIns="0" rIns="0" bIns="0" rtlCol="0" anchor="ctr"/>
          <a:lstStyle/>
          <a:p>
            <a:pPr indent="0" marL="0">
              <a:buNone/>
            </a:pPr>
            <a:r>
              <a:rPr lang="en-US" sz="1900" b="1" dirty="0">
                <a:solidFill>
                  <a:schemeClr val="bg1"/>
                </a:solidFill>
              </a:rPr>
              <a:t>Agen RL mengambil keputusan lebih aman</a:t>
            </a:r>
            <a:endParaRPr lang="en-US" sz="1900" dirty="0"/>
          </a:p>
        </p:txBody>
      </p:sp>
      <p:sp>
        <p:nvSpPr>
          <p:cNvPr id="18" name="Text 16"/>
          <p:cNvSpPr txBox="1"/>
          <p:nvPr/>
        </p:nvSpPr>
        <p:spPr>
          <a:xfrm>
            <a:off x="1325880" y="5120640"/>
            <a:ext cx="6400800" cy="365760"/>
          </a:xfrm>
          <a:prstGeom prst="rect">
            <a:avLst/>
          </a:prstGeom>
          <a:noFill/>
          <a:ln/>
        </p:spPr>
        <p:txBody>
          <a:bodyPr wrap="square" lIns="0" tIns="0" rIns="0" bIns="0" rtlCol="0" anchor="ctr"/>
          <a:lstStyle/>
          <a:p>
            <a:pPr indent="0" marL="0">
              <a:buNone/>
            </a:pPr>
            <a:r>
              <a:rPr lang="en-US" sz="1400" dirty="0">
                <a:solidFill>
                  <a:srgbClr val="CADBD7"/>
                </a:solidFill>
              </a:rPr>
              <a:t>reward 0,61 vs 0,44; data asli &gt; data buatan</a:t>
            </a:r>
            <a:endParaRPr lang="en-US" sz="1400" dirty="0"/>
          </a:p>
        </p:txBody>
      </p:sp>
      <p:sp>
        <p:nvSpPr>
          <p:cNvPr id="19" name="Shape 17"/>
          <p:cNvSpPr/>
          <p:nvPr/>
        </p:nvSpPr>
        <p:spPr>
          <a:xfrm>
            <a:off x="7863840" y="1691640"/>
            <a:ext cx="3779215" cy="3886200"/>
          </a:xfrm>
          <a:prstGeom prst="roundRect">
            <a:avLst>
              <a:gd name="adj" fmla="val 2903"/>
            </a:avLst>
          </a:prstGeom>
          <a:solidFill>
            <a:srgbClr val="15494A"/>
          </a:solidFill>
          <a:ln w="12700">
            <a:solidFill>
              <a:srgbClr val="15494A"/>
            </a:solidFill>
            <a:prstDash val="solid"/>
          </a:ln>
        </p:spPr>
      </p:sp>
      <p:sp>
        <p:nvSpPr>
          <p:cNvPr id="20" name="Text 18"/>
          <p:cNvSpPr txBox="1"/>
          <p:nvPr/>
        </p:nvSpPr>
        <p:spPr>
          <a:xfrm>
            <a:off x="8138160" y="1920240"/>
            <a:ext cx="3230575" cy="3474720"/>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latin typeface="Cambria" pitchFamily="34" charset="0"/>
                <a:ea typeface="Cambria" pitchFamily="34" charset="-122"/>
                <a:cs typeface="Cambria" pitchFamily="34" charset="-120"/>
              </a:rPr>
              <a:t>Terima kasih</a:t>
            </a:r>
            <a:endParaRPr lang="en-US" sz="1300" dirty="0"/>
          </a:p>
          <a:p>
            <a:pPr indent="0" marL="0">
              <a:spcAft>
                <a:spcPts val="400"/>
              </a:spcAft>
              <a:buNone/>
            </a:pPr>
            <a:r>
              <a:rPr lang="en-US" sz="800" dirty="0">
                <a:solidFill>
                  <a:schemeClr val="bg1"/>
                </a:solidFill>
              </a:rPr>
              <a:t> </a:t>
            </a:r>
            <a:endParaRPr lang="en-US" sz="1300" dirty="0"/>
          </a:p>
          <a:p>
            <a:pPr indent="0" marL="0">
              <a:spcAft>
                <a:spcPts val="400"/>
              </a:spcAft>
              <a:buNone/>
            </a:pPr>
            <a:r>
              <a:rPr lang="en-US" sz="1300" dirty="0">
                <a:solidFill>
                  <a:srgbClr val="CADBD7"/>
                </a:solidFill>
              </a:rPr>
              <a:t>Kode (GitHub):</a:t>
            </a:r>
            <a:endParaRPr lang="en-US" sz="1300" dirty="0"/>
          </a:p>
          <a:p>
            <a:pPr indent="0" marL="0">
              <a:spcAft>
                <a:spcPts val="400"/>
              </a:spcAft>
              <a:buNone/>
            </a:pPr>
            <a:r>
              <a:rPr lang="en-US" sz="1300" b="1" dirty="0">
                <a:solidFill>
                  <a:schemeClr val="bg1"/>
                </a:solidFill>
              </a:rPr>
              <a:t>github.com/MuhammadErlanggaKurniawan</a:t>
            </a:r>
            <a:endParaRPr lang="en-US" sz="1300" dirty="0"/>
          </a:p>
          <a:p>
            <a:pPr indent="0" marL="0">
              <a:spcAft>
                <a:spcPts val="400"/>
              </a:spcAft>
              <a:buNone/>
            </a:pPr>
            <a:r>
              <a:rPr lang="en-US" sz="1300" b="1" dirty="0">
                <a:solidFill>
                  <a:schemeClr val="bg1"/>
                </a:solidFill>
              </a:rPr>
              <a:t>/ets-ml2-kelompok</a:t>
            </a:r>
            <a:endParaRPr lang="en-US" sz="1300" dirty="0"/>
          </a:p>
          <a:p>
            <a:pPr indent="0" marL="0">
              <a:spcAft>
                <a:spcPts val="400"/>
              </a:spcAft>
              <a:buNone/>
            </a:pPr>
            <a:r>
              <a:rPr lang="en-US" sz="800" dirty="0">
                <a:solidFill>
                  <a:schemeClr val="bg1"/>
                </a:solidFill>
              </a:rPr>
              <a:t> </a:t>
            </a:r>
            <a:endParaRPr lang="en-US" sz="1300" dirty="0"/>
          </a:p>
          <a:p>
            <a:pPr indent="0" marL="0">
              <a:spcAft>
                <a:spcPts val="400"/>
              </a:spcAft>
              <a:buNone/>
            </a:pPr>
            <a:r>
              <a:rPr lang="en-US" sz="1300" dirty="0">
                <a:solidFill>
                  <a:srgbClr val="CADBD7"/>
                </a:solidFill>
              </a:rPr>
              <a:t>Notebook Colab (11 bagian):</a:t>
            </a:r>
            <a:endParaRPr lang="en-US" sz="1300" dirty="0"/>
          </a:p>
          <a:p>
            <a:pPr indent="0" marL="0">
              <a:spcAft>
                <a:spcPts val="400"/>
              </a:spcAft>
              <a:buNone/>
            </a:pPr>
            <a:r>
              <a:rPr lang="en-US" sz="1300" b="1" dirty="0">
                <a:solidFill>
                  <a:schemeClr val="bg1"/>
                </a:solidFill>
              </a:rPr>
              <a:t>ETS_ML2_Kesegaran_Ayam.ipynb</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Lampiran: referensi</a:t>
            </a:r>
            <a:endParaRPr lang="en-US" sz="3000" dirty="0"/>
          </a:p>
        </p:txBody>
      </p:sp>
      <p:sp>
        <p:nvSpPr>
          <p:cNvPr id="3" name="Text 1"/>
          <p:cNvSpPr txBox="1"/>
          <p:nvPr/>
        </p:nvSpPr>
        <p:spPr>
          <a:xfrm>
            <a:off x="548640" y="1234440"/>
            <a:ext cx="11094415" cy="4937760"/>
          </a:xfrm>
          <a:prstGeom prst="rect">
            <a:avLst/>
          </a:prstGeom>
          <a:noFill/>
          <a:ln/>
        </p:spPr>
        <p:txBody>
          <a:bodyPr wrap="square" lIns="0" tIns="0" rIns="0" bIns="0" rtlCol="0" anchor="t"/>
          <a:lstStyle/>
          <a:p>
            <a:pPr indent="0" marL="0">
              <a:spcAft>
                <a:spcPts val="800"/>
              </a:spcAft>
              <a:buNone/>
            </a:pPr>
            <a:r>
              <a:rPr lang="en-US" sz="1400" dirty="0">
                <a:solidFill>
                  <a:schemeClr val="tx1"/>
                </a:solidFill>
              </a:rPr>
              <a:t>Anwar, H., &amp; Anwar, T. (2025). Quality assessment of chicken using machine learning and electronic nose. Sensing and Bio-Sensing Research, 47, 100739. https://doi.org/10.1016/j.sbsr.2025.100739</a:t>
            </a:r>
            <a:endParaRPr lang="en-US" sz="1400" dirty="0"/>
          </a:p>
          <a:p>
            <a:pPr indent="0" marL="0">
              <a:spcAft>
                <a:spcPts val="800"/>
              </a:spcAft>
              <a:buNone/>
            </a:pPr>
            <a:r>
              <a:rPr lang="en-US" sz="1400" dirty="0">
                <a:solidFill>
                  <a:schemeClr val="tx1"/>
                </a:solidFill>
              </a:rPr>
              <a:t>Breiman, L. (2001). Random forests. Machine Learning, 45, 5–32.</a:t>
            </a:r>
            <a:endParaRPr lang="en-US" sz="1400" dirty="0"/>
          </a:p>
          <a:p>
            <a:pPr indent="0" marL="0">
              <a:spcAft>
                <a:spcPts val="800"/>
              </a:spcAft>
              <a:buNone/>
            </a:pPr>
            <a:r>
              <a:rPr lang="en-US" sz="1400" dirty="0">
                <a:solidFill>
                  <a:schemeClr val="tx1"/>
                </a:solidFill>
              </a:rPr>
              <a:t>Chen, T., &amp; Guestrin, C. (2016). XGBoost: A scalable tree boosting system. Proceedings of KDD.</a:t>
            </a:r>
            <a:endParaRPr lang="en-US" sz="1400" dirty="0"/>
          </a:p>
          <a:p>
            <a:pPr indent="0" marL="0">
              <a:spcAft>
                <a:spcPts val="800"/>
              </a:spcAft>
              <a:buNone/>
            </a:pPr>
            <a:r>
              <a:rPr lang="en-US" sz="1400" dirty="0">
                <a:solidFill>
                  <a:schemeClr val="tx1"/>
                </a:solidFill>
              </a:rPr>
              <a:t>Sutton, R. S., &amp; Barto, A. G. (2018). Reinforcement learning: An introduction (2nd ed.). MIT Press.</a:t>
            </a:r>
            <a:endParaRPr lang="en-US" sz="1400" dirty="0"/>
          </a:p>
          <a:p>
            <a:pPr indent="0" marL="0">
              <a:spcAft>
                <a:spcPts val="800"/>
              </a:spcAft>
              <a:buNone/>
            </a:pPr>
            <a:r>
              <a:rPr lang="en-US" sz="1400" dirty="0">
                <a:solidFill>
                  <a:schemeClr val="tx1"/>
                </a:solidFill>
              </a:rPr>
              <a:t>Materi kuliah Machine Learning II: Ensemble_Learning.pptx, reinforcement.pptx (github.com/jendralhxr/machinelearning).</a:t>
            </a:r>
            <a:endParaRPr lang="en-US" sz="1400" dirty="0"/>
          </a:p>
          <a:p>
            <a:pPr indent="0" marL="0">
              <a:spcAft>
                <a:spcPts val="800"/>
              </a:spcAft>
              <a:buNone/>
            </a:pPr>
            <a:r>
              <a:rPr lang="en-US" sz="1400" dirty="0">
                <a:solidFill>
                  <a:schemeClr val="tx1"/>
                </a:solidFill>
              </a:rPr>
              <a:t>Data dan kode penulis: github.com/talhaanwarch/chicken_assessment_e-nose (commit e7e3ca6).</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ETS ML2">
  <a:themeElements>
    <a:clrScheme name="ETS ML2">
      <a:dk1>
        <a:srgbClr val="16262B"/>
      </a:dk1>
      <a:lt1>
        <a:srgbClr val="FFFFFF"/>
      </a:lt1>
      <a:dk2>
        <a:srgbClr val="0F3D3E"/>
      </a:dk2>
      <a:lt2>
        <a:srgbClr val="EEF4F2"/>
      </a:lt2>
      <a:accent1>
        <a:srgbClr val="0F5257"/>
      </a:accent1>
      <a:accent2>
        <a:srgbClr val="E3A33B"/>
      </a:accent2>
      <a:accent3>
        <a:srgbClr val="9AA5A6"/>
      </a:accent3>
      <a:accent4>
        <a:srgbClr val="C4553B"/>
      </a:accent4>
      <a:accent5>
        <a:srgbClr val="6C8F7D"/>
      </a:accent5>
      <a:accent6>
        <a:srgbClr val="2E6F95"/>
      </a:accent6>
      <a:hlink>
        <a:srgbClr val="2E6F95"/>
      </a:hlink>
      <a:folHlink>
        <a:srgbClr val="6C8F7D"/>
      </a:folHlink>
    </a:clrScheme>
    <a:fontScheme name="ETS ML2">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Deteksi Kesegaran Daging Ayam dengan Sensor Gas dan Machine Learning</dc:title>
  <dc:subject>PptxGenJS Presentation</dc:subject>
  <dc:creator>Kelompok ETS ML II</dc:creator>
  <cp:lastModifiedBy>Kelompok ETS ML II</cp:lastModifiedBy>
  <cp:revision>1</cp:revision>
  <dcterms:created xsi:type="dcterms:W3CDTF">2026-10-21T07:58:53Z</dcterms:created>
  <dcterms:modified xsi:type="dcterms:W3CDTF">2026-10-21T07:58:53Z</dcterms:modified>
</cp:coreProperties>
</file>