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rlangga: latar belakang &amp; data" id="{9857f73a-f975-ca96-8cad-bde241105d0d}">
          <p14:sldIdLst>
            <p14:sldId id="256"/>
            <p14:sldId id="257"/>
            <p14:sldId id="258"/>
            <p14:sldId id="259"/>
            <p14:sldId id="260"/>
          </p14:sldIdLst>
        </p14:section>
        <p14:section name="Michael: imbalance, augmentasi, ensemble" id="{0a4ef1df-c626-b7ff-c4c9-3657cbfd66da}">
          <p14:sldIdLst>
            <p14:sldId id="261"/>
            <p14:sldId id="262"/>
            <p14:sldId id="263"/>
          </p14:sldIdLst>
        </p14:section>
        <p14:section name="Rijal: reinforcement, diskusi, kesimpulan" id="{70fd3488-49fd-0c81-d44f-90984855a399}">
          <p14:sldIdLst>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[Erlangga] Selamat pagi. Kami kelompok Erlangga, Michael, dan Rijal. Judul proyek kami: Prediksi Kesegaran Daging dan Kelarutan Senyawa dengan Machine Learning. Pembagiannya: saya membuka dengan latar belakang, alur kerja, dan data. Michael menjelaskan imbalance, augmentasi, dan ensemble. Rijal menjelaskan reinforcement learning, diskusi, dan kesimpulan.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[Erlangga] Proyek ini berangkat dari tiga topik skripsi kami. Saya meneliti kesegaran makanan dengan sensor gas, Michael meneliti kelarutan senyawa obat, Rijal meneliti mutu kuning telur puyuh dari foto. Ternyata masalahnya sama: untuk mendapat jawaban yang benar, atau label, kita harus menunggu panelis sampai 48 jam, menguji di laboratorium, atau memecahkan telurnya. Jadi tujuan kami: model yang akurat, diuji secara jujur, dan sebisa mungkin hemat label. Manfaatnya: kesegaran bisa dicek dengan sensor murah, dan senyawa bisa disaring sebelum diuji di laboratorium.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[Erlangga] Ini alur kerja kami, lima tahap. Akuisisi: kami mengunduh dua dataset publik dan mengecek keaslian filenya. Pengolahan: data dibersihkan dan diubah menjadi fitur angka; di sini masuk augmentasi dan penanganan imbalance. Pemodelan: kami membandingkan model tunggal dengan ensemble. Evaluasi: model diuji pada data yang benar-benar baru. Terakhir, agen reinforcement learning memilih data mana yang perlu dilabeli. Jadi ada empat aspek ML II yang kami kerjakan. Datanya dua: e-nose daging sapi, 10.800 baris dari 5 potongan daging yang diukur 2.160 menit dengan 9 sensor gas; dan AqSolDB, 9.982 senyawa dengan nilai kelarutannya. Data skripsi saya baru pilot dan foto telur Rijal belum diambil, jadi kami memakai dataset publik yang strukturnya mirip.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[Erlangga] Pengolahan data. Pada e-nose, setiap sensor punya nilai awal berbeda, jadi kami membaginya dengan rata-rata 10 menit pertama. Sinyal yang berisik dihaluskan dengan rata-rata 15 menit, dan kami menambah kemiringan untuk melihat arah perubahan gas. Semua fitur hanya memakai data masa lalu, tidak mengintip masa depan. Pada AqSolDB, molekul yang berbentuk teks SMILES diubah menjadi 207 fitur angka dengan RDKit. Kolom yang banyak kosong dibuang, nilai ekstrem dipotong, sisanya diisi median. Molekul yang bersaudara dikelompokkan berdasarkan kerangkanya. Prinsipnya: semua yang belajar dari data hanya dihitung dari data latih.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[Erlangga] Ini temuan pertama dan paling penting. Dengan model yang sama, kalau data dibagi acak, F1-nya 0,998, hampir sempurna. Tapi kalau diuji pada potongan daging yang belum pernah dilihat, hanya 0,572. Penyebabnya kebocoran data: menit ke-100 ada di data latih, menit ke-101 ada di data uji, dan nilainya hampir sama. Seperti ujian yang soalnya sudah bocor. Di AqSolDB polanya sama: error naik dari 1,013 ke 1,254 ketika diuji pada kerangka molekul baru. Karena itu semua hasil berikutnya memakai cara uji yang jujur. Selanjutnya Michael.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Terima kasih Erlangga. Saya mulai dari imbalance dan augmentasi. Kenapa perlu? Kelasnya tidak seimbang: kelas busuk 4.200 baris, kelas sangat segar hanya 1.680. Dan kita hanya punya 5 potongan daging, jadi variasinya sedikit. Untuk imbalance kami coba class weight, SMOTE, dan undersampling. Untuk augmentasi kami pakai jitter, yaitu menambah derau kecil, dan scaling, yaitu mengalikan sinyal seolah sensornya berbeda kepekaan. Augmentasi hanya diberikan ke data latih. Hasilnya: scaling membantu Logistic Regression dari 0,505 ke 0,552, tetapi justru menurunkan LightGBM. Imbalance hanya menggeser F1 sekitar 0,02, tetapi undersampling menaikkan recall kelas sangat segar dari 0,907 ke 0,965. Jadi teknik ini bukan obat mujarab; manfaatnya harus dibuktikan.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Berikutnya ensemble, yaitu menggabungkan banyak model. Random Forest menggabungkan banyak pohon yang dilatih paralel. XGBoost dan LightGBM membangun pohon bertahap, setiap pohon memperbaiki kesalahan pohon sebelumnya. Stacking memakai satu model untuk menggabungkan prediksi model lain. Di e-nose, XGBoost mencapai F1 0,911, jauh di atas model tunggal terbaik, Decision Tree, 0,774, dan naik-turunnya antar potongan daging 4 kali lebih kecil. Di kelarutan, stacking memberi error terendah 1,222 dibanding model tunggal terbaik, SVR, 1,335, turun sekitar 8 persen. Jadi ensemble lebih baik di kedua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Terakhir dari saya: apa yang sebenarnya dipelajari model. Kami memakai SHAP untuk melihat fitur yang paling berpengaruh. Di kelarutan, MolLogP paling berpengaruh. MolLogP mengukur seberapa suka molekul pada lemak; makin suka lemak, makin sulit larut di air. Ini cocok dengan teori kimia, jadi modelnya masuk akal. Di e-nose, sensor MQ4 untuk metana dan MQ8 untuk hidrogen paling menentukan, sedangkan MQ135 yang dipakai di skripsi Erlangga pengaruhnya kecil. Ini jadi masukan untuk pemilihan sensor. Selanjutnya Rijal.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[Rijal] Terima kasih Michael. Saya menjelaskan bagian reinforcement learning. Pertanyaannya: kalau label mahal, data mana yang sebaiknya dilabeli dulu? Kami membuat agen yang belajar menjawabnya. Setiap putaran, agen memilih satu strategi: acak, data yang paling membuat model ragu, atau data yang paling berbeda. Lalu 100 data diberi label, model dilatih ulang, dan agen mendapat reward sebesar penurunan error. Strategi yang sering memberi reward besar akan makin sering dipilih. Ini disebut multi-armed bandit, bentuk paling sederhana dari reinforcement learning, mirip memilih mesin slot yang paling sering menang; algoritmanya UCB1. Hasilnya di grafik: agen bandit cukup 1.000 label untuk menyamai hasil 2.100 label yang dipilih acak. Hemat sekitar 52% label. Untuk penelitian saya, ini berarti lebih sedikit telur yang harus dipecah.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[Rijal] Rubrik reinforcement bertanya: apakah tambahan data dan iterasi meningkatkan performa? Di e-nose jawabannya tergantung jenis datanya. Menambah potongan daging dari 1 ke 4 menaikkan F1 dari 0,72 ke 0,91. Tetapi hanya 160 baris dari 4 potongan daging sudah memberi 0,87, lebih baik daripada 6.480 baris dari 3 potongan daging, yaitu 0,83. Artinya variasi lebih penting daripada jumlah baris. Karena itu active learning di e-nose tidak mengalahkan pemilihan acak: masalahnya perbedaan kondisi antar potongan daging, bukan kurang label. Untuk skripsi Erlangga, implikasinya: perbanyak batch pengambilan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[Rijal] Analisis dan diskusi. Batasan: e-nose hanya 5 potongan daging sehingga hasilnya naik-turun; data ini daging mentah, bukan data skripsi Erlangga; dan active learning masih simulasi karena labelnya sudah ada. Trade-off: augmentasi membantu model sederhana tetapi merugikan boosting; bobot imbalance memperbaiki kelas ekstrem tetapi error total sedikit naik; stacking paling akurat tetapi paling lama dilatih. Sumber galat: beda kondisi ruang antar potongan daging, senyawa uji yang kerangkanya belum pernah dilihat, dan tuning Optuna yang terlalu pas di validasi: 1,063 di validasi, 1,259 di uji. Pengembangan: menjalankan pipeline ini pada 16 batch data Erlangga, active learning untuk foto telur supaya lebih sedikit telur yang dipecah, dan menguji sensor MQ4 dan MQ8.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[Rijal] Kesimpulan kami ada empat. Pertama, cara uji yang jujur lebih menentukan daripada model yang canggih: 0,998 itu palsu, 0,572 yang jujur. Kedua, ensemble menang di kedua data. Ketiga, agen bandit menghemat sekitar 52% label di data kelarutan. Keempat, kalau masalahnya perbedaan kondisi antar batch, solusinya menambah batch, bukan menambah baris. Semua kode ada di GitHub dan bisa dijalankan di Colab. Terima kasih, kami siap menerima pertanyaan.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3D3E"/>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BD7"/>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rtlCol="0"/>
          <a:lstStyle>
            <a:lvl1pPr indent="0" marL="0">
              <a:buNone/>
              <a:defRPr lang="en-US" sz="3000" b="1" dirty="0">
                <a:solidFill>
                  <a:schemeClr val="tx2"/>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8A8C"/>
                </a:solidFill>
              </a:rPr>
              <a:t>ETS Machine Learning II · Prediksi Kesegaran Daging &amp; Kelarutan Senyawa</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BD7"/>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86868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TUGAS ETS · MACHINE LEARNING II</a:t>
            </a:r>
            <a:endParaRPr lang="en-US" sz="1200" dirty="0"/>
          </a:p>
        </p:txBody>
      </p:sp>
      <p:sp>
        <p:nvSpPr>
          <p:cNvPr id="3" name="Text 1"/>
          <p:cNvSpPr txBox="1"/>
          <p:nvPr/>
        </p:nvSpPr>
        <p:spPr>
          <a:xfrm>
            <a:off x="548640" y="1280160"/>
            <a:ext cx="10607040" cy="182880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Prediksi Kesegaran Daging dan Kelarutan Senyawa dengan Machine Learning</a:t>
            </a:r>
            <a:endParaRPr lang="en-US" sz="4400" dirty="0"/>
          </a:p>
        </p:txBody>
      </p:sp>
      <p:sp>
        <p:nvSpPr>
          <p:cNvPr id="4" name="Text 2"/>
          <p:cNvSpPr txBox="1"/>
          <p:nvPr/>
        </p:nvSpPr>
        <p:spPr>
          <a:xfrm>
            <a:off x="548640" y="3200400"/>
            <a:ext cx="9601200" cy="822960"/>
          </a:xfrm>
          <a:prstGeom prst="rect">
            <a:avLst/>
          </a:prstGeom>
          <a:noFill/>
          <a:ln/>
        </p:spPr>
        <p:txBody>
          <a:bodyPr wrap="square" lIns="0" tIns="0" rIns="0" bIns="0" rtlCol="0" anchor="ctr"/>
          <a:lstStyle/>
          <a:p>
            <a:pPr indent="0" marL="0">
              <a:buNone/>
            </a:pPr>
            <a:r>
              <a:rPr lang="en-US" sz="2000" dirty="0">
                <a:solidFill>
                  <a:srgbClr val="CADBD7"/>
                </a:solidFill>
              </a:rPr>
              <a:t>Satu pipeline dari akuisisi data sampai model: augmentasi, imbalance, ensemble, dan reinforcement learning</a:t>
            </a:r>
            <a:endParaRPr lang="en-US" sz="2000" dirty="0"/>
          </a:p>
        </p:txBody>
      </p:sp>
      <p:sp>
        <p:nvSpPr>
          <p:cNvPr id="5" name="Text 3"/>
          <p:cNvSpPr txBox="1"/>
          <p:nvPr/>
        </p:nvSpPr>
        <p:spPr>
          <a:xfrm>
            <a:off x="548640" y="4343400"/>
            <a:ext cx="7315200" cy="1097280"/>
          </a:xfrm>
          <a:prstGeom prst="rect">
            <a:avLst/>
          </a:prstGeom>
          <a:noFill/>
          <a:ln/>
        </p:spPr>
        <p:txBody>
          <a:bodyPr wrap="square" lIns="0" tIns="0" rIns="0" bIns="0" rtlCol="0" anchor="ctr"/>
          <a:lstStyle/>
          <a:p>
            <a:pPr indent="0" marL="0">
              <a:spcAft>
                <a:spcPts val="400"/>
              </a:spcAft>
              <a:buNone/>
            </a:pPr>
            <a:r>
              <a:rPr lang="en-US" sz="1500" dirty="0">
                <a:solidFill>
                  <a:schemeClr val="bg1"/>
                </a:solidFill>
              </a:rPr>
              <a:t>Muhammad Erlangga Kurniawan · 23083010045</a:t>
            </a:r>
            <a:endParaRPr lang="en-US" sz="1500" dirty="0"/>
          </a:p>
          <a:p>
            <a:pPr indent="0" marL="0">
              <a:spcAft>
                <a:spcPts val="400"/>
              </a:spcAft>
              <a:buNone/>
            </a:pPr>
            <a:r>
              <a:rPr lang="en-US" sz="1500" dirty="0">
                <a:solidFill>
                  <a:schemeClr val="bg1"/>
                </a:solidFill>
              </a:rPr>
              <a:t>Michael Valencio Erasmo Bagas Ganendra · 23083010042</a:t>
            </a:r>
            <a:endParaRPr lang="en-US" sz="1500" dirty="0"/>
          </a:p>
          <a:p>
            <a:pPr indent="0" marL="0">
              <a:spcAft>
                <a:spcPts val="400"/>
              </a:spcAft>
              <a:buNone/>
            </a:pPr>
            <a:r>
              <a:rPr lang="en-US" sz="1500" dirty="0">
                <a:solidFill>
                  <a:schemeClr val="bg1"/>
                </a:solidFill>
              </a:rPr>
              <a:t>Rijal Apuila Khufi · 23083010033</a:t>
            </a:r>
            <a:endParaRPr lang="en-US" sz="1500" dirty="0"/>
          </a:p>
        </p:txBody>
      </p:sp>
      <p:sp>
        <p:nvSpPr>
          <p:cNvPr id="6" name="Text 4"/>
          <p:cNvSpPr txBox="1"/>
          <p:nvPr/>
        </p:nvSpPr>
        <p:spPr>
          <a:xfrm>
            <a:off x="548640" y="5989320"/>
            <a:ext cx="10058400" cy="365760"/>
          </a:xfrm>
          <a:prstGeom prst="rect">
            <a:avLst/>
          </a:prstGeom>
          <a:noFill/>
          <a:ln/>
        </p:spPr>
        <p:txBody>
          <a:bodyPr wrap="square" lIns="0" tIns="0" rIns="0" bIns="0" rtlCol="0" anchor="ctr"/>
          <a:lstStyle/>
          <a:p>
            <a:pPr indent="0" marL="0">
              <a:buNone/>
            </a:pPr>
            <a:r>
              <a:rPr lang="en-US" sz="1200" dirty="0">
                <a:solidFill>
                  <a:srgbClr val="9FB8B3"/>
                </a:solidFill>
              </a:rPr>
              <a:t>Program Studi Sains Data · UPN "Veteran" Jawa Timur · Oktober 2026</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BD7"/>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Kenapa topik ini?</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Erlangga</a:t>
            </a:r>
            <a:endParaRPr lang="en-US" sz="1200" dirty="0"/>
          </a:p>
        </p:txBody>
      </p:sp>
      <p:sp>
        <p:nvSpPr>
          <p:cNvPr id="5" name="Shape 3"/>
          <p:cNvSpPr/>
          <p:nvPr/>
        </p:nvSpPr>
        <p:spPr>
          <a:xfrm>
            <a:off x="548640" y="1325880"/>
            <a:ext cx="3520440" cy="3520440"/>
          </a:xfrm>
          <a:prstGeom prst="roundRect">
            <a:avLst>
              <a:gd name="adj" fmla="val 3117"/>
            </a:avLst>
          </a:prstGeom>
          <a:solidFill>
            <a:schemeClr val="bg2"/>
          </a:solidFill>
          <a:ln w="12700">
            <a:solidFill>
              <a:schemeClr val="bg2"/>
            </a:solidFill>
            <a:prstDash val="solid"/>
          </a:ln>
        </p:spPr>
      </p:sp>
      <p:sp>
        <p:nvSpPr>
          <p:cNvPr id="6" name="Text 4"/>
          <p:cNvSpPr txBox="1"/>
          <p:nvPr/>
        </p:nvSpPr>
        <p:spPr>
          <a:xfrm>
            <a:off x="822960" y="1554480"/>
            <a:ext cx="29718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SKRIPSI ERLANGGA</a:t>
            </a:r>
            <a:endParaRPr lang="en-US" sz="1200" dirty="0"/>
          </a:p>
        </p:txBody>
      </p:sp>
      <p:sp>
        <p:nvSpPr>
          <p:cNvPr id="7" name="Text 5"/>
          <p:cNvSpPr txBox="1"/>
          <p:nvPr/>
        </p:nvSpPr>
        <p:spPr>
          <a:xfrm>
            <a:off x="822960" y="1874520"/>
            <a:ext cx="2971800" cy="77724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Kesegaran makanan dari sensor gas</a:t>
            </a:r>
            <a:endParaRPr lang="en-US" sz="2000" dirty="0"/>
          </a:p>
        </p:txBody>
      </p:sp>
      <p:sp>
        <p:nvSpPr>
          <p:cNvPr id="8" name="Text 6"/>
          <p:cNvSpPr txBox="1"/>
          <p:nvPr/>
        </p:nvSpPr>
        <p:spPr>
          <a:xfrm>
            <a:off x="822960" y="2788920"/>
            <a:ext cx="2971800" cy="256032"/>
          </a:xfrm>
          <a:prstGeom prst="rect">
            <a:avLst/>
          </a:prstGeom>
          <a:noFill/>
          <a:ln/>
        </p:spPr>
        <p:txBody>
          <a:bodyPr wrap="square" lIns="0" tIns="0" rIns="0" bIns="0" rtlCol="0" anchor="ctr"/>
          <a:lstStyle/>
          <a:p>
            <a:pPr indent="0" marL="0">
              <a:buNone/>
            </a:pPr>
            <a:r>
              <a:rPr lang="en-US" sz="1200" dirty="0">
                <a:solidFill>
                  <a:srgbClr val="56676A"/>
                </a:solidFill>
              </a:rPr>
              <a:t>Label (jawaban benar) didapat dari</a:t>
            </a:r>
            <a:endParaRPr lang="en-US" sz="1200" dirty="0"/>
          </a:p>
        </p:txBody>
      </p:sp>
      <p:sp>
        <p:nvSpPr>
          <p:cNvPr id="9" name="Text 7"/>
          <p:cNvSpPr txBox="1"/>
          <p:nvPr/>
        </p:nvSpPr>
        <p:spPr>
          <a:xfrm>
            <a:off x="822960" y="3063240"/>
            <a:ext cx="2971800" cy="594360"/>
          </a:xfrm>
          <a:prstGeom prst="rect">
            <a:avLst/>
          </a:prstGeom>
          <a:noFill/>
          <a:ln/>
        </p:spPr>
        <p:txBody>
          <a:bodyPr wrap="square" lIns="0" tIns="0" rIns="0" bIns="0" rtlCol="0" anchor="t"/>
          <a:lstStyle/>
          <a:p>
            <a:pPr indent="0" marL="0">
              <a:buNone/>
            </a:pPr>
            <a:r>
              <a:rPr lang="en-US" sz="1500" b="1" dirty="0">
                <a:solidFill>
                  <a:schemeClr val="accent4"/>
                </a:solidFill>
              </a:rPr>
              <a:t>dinilai panelis, menunggu sampai 48 jam</a:t>
            </a:r>
            <a:endParaRPr lang="en-US" sz="1500" dirty="0"/>
          </a:p>
        </p:txBody>
      </p:sp>
      <p:sp>
        <p:nvSpPr>
          <p:cNvPr id="10" name="Text 8"/>
          <p:cNvSpPr txBox="1"/>
          <p:nvPr/>
        </p:nvSpPr>
        <p:spPr>
          <a:xfrm>
            <a:off x="822960" y="3749040"/>
            <a:ext cx="2971800" cy="256032"/>
          </a:xfrm>
          <a:prstGeom prst="rect">
            <a:avLst/>
          </a:prstGeom>
          <a:noFill/>
          <a:ln/>
        </p:spPr>
        <p:txBody>
          <a:bodyPr wrap="square" lIns="0" tIns="0" rIns="0" bIns="0" rtlCol="0" anchor="ctr"/>
          <a:lstStyle/>
          <a:p>
            <a:pPr indent="0" marL="0">
              <a:buNone/>
            </a:pPr>
            <a:r>
              <a:rPr lang="en-US" sz="1200" dirty="0">
                <a:solidFill>
                  <a:srgbClr val="56676A"/>
                </a:solidFill>
              </a:rPr>
              <a:t>Manfaat kalau ada model</a:t>
            </a:r>
            <a:endParaRPr lang="en-US" sz="1200" dirty="0"/>
          </a:p>
        </p:txBody>
      </p:sp>
      <p:sp>
        <p:nvSpPr>
          <p:cNvPr id="11" name="Text 9"/>
          <p:cNvSpPr txBox="1"/>
          <p:nvPr/>
        </p:nvSpPr>
        <p:spPr>
          <a:xfrm>
            <a:off x="822960" y="4023360"/>
            <a:ext cx="2971800" cy="594360"/>
          </a:xfrm>
          <a:prstGeom prst="rect">
            <a:avLst/>
          </a:prstGeom>
          <a:noFill/>
          <a:ln/>
        </p:spPr>
        <p:txBody>
          <a:bodyPr wrap="square" lIns="0" tIns="0" rIns="0" bIns="0" rtlCol="0" anchor="t"/>
          <a:lstStyle/>
          <a:p>
            <a:pPr indent="0" marL="0">
              <a:buNone/>
            </a:pPr>
            <a:r>
              <a:rPr lang="en-US" sz="1500" b="1" dirty="0">
                <a:solidFill>
                  <a:schemeClr val="accent1"/>
                </a:solidFill>
              </a:rPr>
              <a:t>cek kesegaran cukup dengan sensor murah</a:t>
            </a:r>
            <a:endParaRPr lang="en-US" sz="1500" dirty="0"/>
          </a:p>
        </p:txBody>
      </p:sp>
      <p:sp>
        <p:nvSpPr>
          <p:cNvPr id="12" name="Shape 10"/>
          <p:cNvSpPr/>
          <p:nvPr/>
        </p:nvSpPr>
        <p:spPr>
          <a:xfrm>
            <a:off x="4343400" y="1325880"/>
            <a:ext cx="3520440" cy="3520440"/>
          </a:xfrm>
          <a:prstGeom prst="roundRect">
            <a:avLst>
              <a:gd name="adj" fmla="val 3117"/>
            </a:avLst>
          </a:prstGeom>
          <a:solidFill>
            <a:schemeClr val="bg2"/>
          </a:solidFill>
          <a:ln w="12700">
            <a:solidFill>
              <a:schemeClr val="bg2"/>
            </a:solidFill>
            <a:prstDash val="solid"/>
          </a:ln>
        </p:spPr>
      </p:sp>
      <p:sp>
        <p:nvSpPr>
          <p:cNvPr id="13" name="Text 11"/>
          <p:cNvSpPr txBox="1"/>
          <p:nvPr/>
        </p:nvSpPr>
        <p:spPr>
          <a:xfrm>
            <a:off x="4617720" y="1554480"/>
            <a:ext cx="29718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SKRIPSI MICHAEL</a:t>
            </a:r>
            <a:endParaRPr lang="en-US" sz="1200" dirty="0"/>
          </a:p>
        </p:txBody>
      </p:sp>
      <p:sp>
        <p:nvSpPr>
          <p:cNvPr id="14" name="Text 12"/>
          <p:cNvSpPr txBox="1"/>
          <p:nvPr/>
        </p:nvSpPr>
        <p:spPr>
          <a:xfrm>
            <a:off x="4617720" y="1874520"/>
            <a:ext cx="2971800" cy="77724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Kelarutan senyawa obat dalam air</a:t>
            </a:r>
            <a:endParaRPr lang="en-US" sz="2000" dirty="0"/>
          </a:p>
        </p:txBody>
      </p:sp>
      <p:sp>
        <p:nvSpPr>
          <p:cNvPr id="15" name="Text 13"/>
          <p:cNvSpPr txBox="1"/>
          <p:nvPr/>
        </p:nvSpPr>
        <p:spPr>
          <a:xfrm>
            <a:off x="4617720" y="2788920"/>
            <a:ext cx="2971800" cy="256032"/>
          </a:xfrm>
          <a:prstGeom prst="rect">
            <a:avLst/>
          </a:prstGeom>
          <a:noFill/>
          <a:ln/>
        </p:spPr>
        <p:txBody>
          <a:bodyPr wrap="square" lIns="0" tIns="0" rIns="0" bIns="0" rtlCol="0" anchor="ctr"/>
          <a:lstStyle/>
          <a:p>
            <a:pPr indent="0" marL="0">
              <a:buNone/>
            </a:pPr>
            <a:r>
              <a:rPr lang="en-US" sz="1200" dirty="0">
                <a:solidFill>
                  <a:srgbClr val="56676A"/>
                </a:solidFill>
              </a:rPr>
              <a:t>Label (jawaban benar) didapat dari</a:t>
            </a:r>
            <a:endParaRPr lang="en-US" sz="1200" dirty="0"/>
          </a:p>
        </p:txBody>
      </p:sp>
      <p:sp>
        <p:nvSpPr>
          <p:cNvPr id="16" name="Text 14"/>
          <p:cNvSpPr txBox="1"/>
          <p:nvPr/>
        </p:nvSpPr>
        <p:spPr>
          <a:xfrm>
            <a:off x="4617720" y="3063240"/>
            <a:ext cx="2971800" cy="594360"/>
          </a:xfrm>
          <a:prstGeom prst="rect">
            <a:avLst/>
          </a:prstGeom>
          <a:noFill/>
          <a:ln/>
        </p:spPr>
        <p:txBody>
          <a:bodyPr wrap="square" lIns="0" tIns="0" rIns="0" bIns="0" rtlCol="0" anchor="t"/>
          <a:lstStyle/>
          <a:p>
            <a:pPr indent="0" marL="0">
              <a:buNone/>
            </a:pPr>
            <a:r>
              <a:rPr lang="en-US" sz="1500" b="1" dirty="0">
                <a:solidFill>
                  <a:schemeClr val="accent4"/>
                </a:solidFill>
              </a:rPr>
              <a:t>harus diukur di laboratorium</a:t>
            </a:r>
            <a:endParaRPr lang="en-US" sz="1500" dirty="0"/>
          </a:p>
        </p:txBody>
      </p:sp>
      <p:sp>
        <p:nvSpPr>
          <p:cNvPr id="17" name="Text 15"/>
          <p:cNvSpPr txBox="1"/>
          <p:nvPr/>
        </p:nvSpPr>
        <p:spPr>
          <a:xfrm>
            <a:off x="4617720" y="3749040"/>
            <a:ext cx="2971800" cy="256032"/>
          </a:xfrm>
          <a:prstGeom prst="rect">
            <a:avLst/>
          </a:prstGeom>
          <a:noFill/>
          <a:ln/>
        </p:spPr>
        <p:txBody>
          <a:bodyPr wrap="square" lIns="0" tIns="0" rIns="0" bIns="0" rtlCol="0" anchor="ctr"/>
          <a:lstStyle/>
          <a:p>
            <a:pPr indent="0" marL="0">
              <a:buNone/>
            </a:pPr>
            <a:r>
              <a:rPr lang="en-US" sz="1200" dirty="0">
                <a:solidFill>
                  <a:srgbClr val="56676A"/>
                </a:solidFill>
              </a:rPr>
              <a:t>Manfaat kalau ada model</a:t>
            </a:r>
            <a:endParaRPr lang="en-US" sz="1200" dirty="0"/>
          </a:p>
        </p:txBody>
      </p:sp>
      <p:sp>
        <p:nvSpPr>
          <p:cNvPr id="18" name="Text 16"/>
          <p:cNvSpPr txBox="1"/>
          <p:nvPr/>
        </p:nvSpPr>
        <p:spPr>
          <a:xfrm>
            <a:off x="4617720" y="4023360"/>
            <a:ext cx="2971800" cy="594360"/>
          </a:xfrm>
          <a:prstGeom prst="rect">
            <a:avLst/>
          </a:prstGeom>
          <a:noFill/>
          <a:ln/>
        </p:spPr>
        <p:txBody>
          <a:bodyPr wrap="square" lIns="0" tIns="0" rIns="0" bIns="0" rtlCol="0" anchor="t"/>
          <a:lstStyle/>
          <a:p>
            <a:pPr indent="0" marL="0">
              <a:buNone/>
            </a:pPr>
            <a:r>
              <a:rPr lang="en-US" sz="1500" b="1" dirty="0">
                <a:solidFill>
                  <a:schemeClr val="accent1"/>
                </a:solidFill>
              </a:rPr>
              <a:t>saring senyawa sebelum diuji di lab</a:t>
            </a:r>
            <a:endParaRPr lang="en-US" sz="1500" dirty="0"/>
          </a:p>
        </p:txBody>
      </p:sp>
      <p:sp>
        <p:nvSpPr>
          <p:cNvPr id="19" name="Shape 17"/>
          <p:cNvSpPr/>
          <p:nvPr/>
        </p:nvSpPr>
        <p:spPr>
          <a:xfrm>
            <a:off x="8138160" y="1325880"/>
            <a:ext cx="3520440" cy="3520440"/>
          </a:xfrm>
          <a:prstGeom prst="roundRect">
            <a:avLst>
              <a:gd name="adj" fmla="val 3117"/>
            </a:avLst>
          </a:prstGeom>
          <a:solidFill>
            <a:schemeClr val="bg2"/>
          </a:solidFill>
          <a:ln w="12700">
            <a:solidFill>
              <a:schemeClr val="bg2"/>
            </a:solidFill>
            <a:prstDash val="solid"/>
          </a:ln>
        </p:spPr>
      </p:sp>
      <p:sp>
        <p:nvSpPr>
          <p:cNvPr id="20" name="Text 18"/>
          <p:cNvSpPr txBox="1"/>
          <p:nvPr/>
        </p:nvSpPr>
        <p:spPr>
          <a:xfrm>
            <a:off x="8412480" y="1554480"/>
            <a:ext cx="29718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SKRIPSI RIJAL</a:t>
            </a:r>
            <a:endParaRPr lang="en-US" sz="1200" dirty="0"/>
          </a:p>
        </p:txBody>
      </p:sp>
      <p:sp>
        <p:nvSpPr>
          <p:cNvPr id="21" name="Text 19"/>
          <p:cNvSpPr txBox="1"/>
          <p:nvPr/>
        </p:nvSpPr>
        <p:spPr>
          <a:xfrm>
            <a:off x="8412480" y="1874520"/>
            <a:ext cx="2971800" cy="77724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Mutu kuning telur puyuh dari foto</a:t>
            </a:r>
            <a:endParaRPr lang="en-US" sz="2000" dirty="0"/>
          </a:p>
        </p:txBody>
      </p:sp>
      <p:sp>
        <p:nvSpPr>
          <p:cNvPr id="22" name="Text 20"/>
          <p:cNvSpPr txBox="1"/>
          <p:nvPr/>
        </p:nvSpPr>
        <p:spPr>
          <a:xfrm>
            <a:off x="8412480" y="2788920"/>
            <a:ext cx="2971800" cy="256032"/>
          </a:xfrm>
          <a:prstGeom prst="rect">
            <a:avLst/>
          </a:prstGeom>
          <a:noFill/>
          <a:ln/>
        </p:spPr>
        <p:txBody>
          <a:bodyPr wrap="square" lIns="0" tIns="0" rIns="0" bIns="0" rtlCol="0" anchor="ctr"/>
          <a:lstStyle/>
          <a:p>
            <a:pPr indent="0" marL="0">
              <a:buNone/>
            </a:pPr>
            <a:r>
              <a:rPr lang="en-US" sz="1200" dirty="0">
                <a:solidFill>
                  <a:srgbClr val="56676A"/>
                </a:solidFill>
              </a:rPr>
              <a:t>Label (jawaban benar) didapat dari</a:t>
            </a:r>
            <a:endParaRPr lang="en-US" sz="1200" dirty="0"/>
          </a:p>
        </p:txBody>
      </p:sp>
      <p:sp>
        <p:nvSpPr>
          <p:cNvPr id="23" name="Text 21"/>
          <p:cNvSpPr txBox="1"/>
          <p:nvPr/>
        </p:nvSpPr>
        <p:spPr>
          <a:xfrm>
            <a:off x="8412480" y="3063240"/>
            <a:ext cx="2971800" cy="594360"/>
          </a:xfrm>
          <a:prstGeom prst="rect">
            <a:avLst/>
          </a:prstGeom>
          <a:noFill/>
          <a:ln/>
        </p:spPr>
        <p:txBody>
          <a:bodyPr wrap="square" lIns="0" tIns="0" rIns="0" bIns="0" rtlCol="0" anchor="t"/>
          <a:lstStyle/>
          <a:p>
            <a:pPr indent="0" marL="0">
              <a:buNone/>
            </a:pPr>
            <a:r>
              <a:rPr lang="en-US" sz="1500" b="1" dirty="0">
                <a:solidFill>
                  <a:schemeClr val="accent4"/>
                </a:solidFill>
              </a:rPr>
              <a:t>telurnya harus dipecah</a:t>
            </a:r>
            <a:endParaRPr lang="en-US" sz="1500" dirty="0"/>
          </a:p>
        </p:txBody>
      </p:sp>
      <p:sp>
        <p:nvSpPr>
          <p:cNvPr id="24" name="Text 22"/>
          <p:cNvSpPr txBox="1"/>
          <p:nvPr/>
        </p:nvSpPr>
        <p:spPr>
          <a:xfrm>
            <a:off x="8412480" y="3749040"/>
            <a:ext cx="2971800" cy="256032"/>
          </a:xfrm>
          <a:prstGeom prst="rect">
            <a:avLst/>
          </a:prstGeom>
          <a:noFill/>
          <a:ln/>
        </p:spPr>
        <p:txBody>
          <a:bodyPr wrap="square" lIns="0" tIns="0" rIns="0" bIns="0" rtlCol="0" anchor="ctr"/>
          <a:lstStyle/>
          <a:p>
            <a:pPr indent="0" marL="0">
              <a:buNone/>
            </a:pPr>
            <a:r>
              <a:rPr lang="en-US" sz="1200" dirty="0">
                <a:solidFill>
                  <a:srgbClr val="56676A"/>
                </a:solidFill>
              </a:rPr>
              <a:t>Manfaat kalau ada model</a:t>
            </a:r>
            <a:endParaRPr lang="en-US" sz="1200" dirty="0"/>
          </a:p>
        </p:txBody>
      </p:sp>
      <p:sp>
        <p:nvSpPr>
          <p:cNvPr id="25" name="Text 23"/>
          <p:cNvSpPr txBox="1"/>
          <p:nvPr/>
        </p:nvSpPr>
        <p:spPr>
          <a:xfrm>
            <a:off x="8412480" y="4023360"/>
            <a:ext cx="2971800" cy="594360"/>
          </a:xfrm>
          <a:prstGeom prst="rect">
            <a:avLst/>
          </a:prstGeom>
          <a:noFill/>
          <a:ln/>
        </p:spPr>
        <p:txBody>
          <a:bodyPr wrap="square" lIns="0" tIns="0" rIns="0" bIns="0" rtlCol="0" anchor="t"/>
          <a:lstStyle/>
          <a:p>
            <a:pPr indent="0" marL="0">
              <a:buNone/>
            </a:pPr>
            <a:r>
              <a:rPr lang="en-US" sz="1500" b="1" dirty="0">
                <a:solidFill>
                  <a:schemeClr val="accent1"/>
                </a:solidFill>
              </a:rPr>
              <a:t>nilai mutu tanpa merusak telur</a:t>
            </a:r>
            <a:endParaRPr lang="en-US" sz="1500" dirty="0"/>
          </a:p>
        </p:txBody>
      </p:sp>
      <p:sp>
        <p:nvSpPr>
          <p:cNvPr id="26" name="Shape 24"/>
          <p:cNvSpPr/>
          <p:nvPr/>
        </p:nvSpPr>
        <p:spPr>
          <a:xfrm>
            <a:off x="548640" y="5074920"/>
            <a:ext cx="11094415" cy="914400"/>
          </a:xfrm>
          <a:prstGeom prst="roundRect">
            <a:avLst>
              <a:gd name="adj" fmla="val 12000"/>
            </a:avLst>
          </a:prstGeom>
          <a:solidFill>
            <a:schemeClr val="tx2"/>
          </a:solidFill>
          <a:ln w="12700">
            <a:solidFill>
              <a:schemeClr val="tx2"/>
            </a:solidFill>
            <a:prstDash val="solid"/>
          </a:ln>
        </p:spPr>
      </p:sp>
      <p:sp>
        <p:nvSpPr>
          <p:cNvPr id="27" name="Text 25"/>
          <p:cNvSpPr txBox="1"/>
          <p:nvPr/>
        </p:nvSpPr>
        <p:spPr>
          <a:xfrm>
            <a:off x="868680" y="5074920"/>
            <a:ext cx="10454335" cy="914400"/>
          </a:xfrm>
          <a:prstGeom prst="rect">
            <a:avLst/>
          </a:prstGeom>
          <a:noFill/>
          <a:ln/>
        </p:spPr>
        <p:txBody>
          <a:bodyPr wrap="square" lIns="0" tIns="0" rIns="0" bIns="0" rtlCol="0" anchor="ctr"/>
          <a:lstStyle/>
          <a:p>
            <a:pPr indent="0" marL="0">
              <a:buNone/>
            </a:pPr>
            <a:r>
              <a:rPr lang="en-US" sz="1600" b="1" dirty="0">
                <a:solidFill>
                  <a:schemeClr val="accent2"/>
                </a:solidFill>
              </a:rPr>
              <a:t>Masalah yang sama: </a:t>
            </a:r>
            <a:pPr indent="0" marL="0">
              <a:buNone/>
            </a:pPr>
            <a:r>
              <a:rPr lang="en-US" sz="1600" dirty="0">
                <a:solidFill>
                  <a:schemeClr val="bg1"/>
                </a:solidFill>
              </a:rPr>
              <a:t>data berlabel lama dan mahal didapat.  Tujuan: model yang akurat, diuji secara jujur, dan hemat label.</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Alur kerja dan data</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Erlangga</a:t>
            </a:r>
            <a:endParaRPr lang="en-US" sz="1200" dirty="0"/>
          </a:p>
        </p:txBody>
      </p:sp>
      <p:sp>
        <p:nvSpPr>
          <p:cNvPr id="5" name="Shape 3"/>
          <p:cNvSpPr/>
          <p:nvPr/>
        </p:nvSpPr>
        <p:spPr>
          <a:xfrm>
            <a:off x="548640" y="1280160"/>
            <a:ext cx="1962851" cy="2103120"/>
          </a:xfrm>
          <a:prstGeom prst="roundRect">
            <a:avLst>
              <a:gd name="adj" fmla="val 5590"/>
            </a:avLst>
          </a:prstGeom>
          <a:solidFill>
            <a:schemeClr val="bg2"/>
          </a:solidFill>
          <a:ln w="12700">
            <a:solidFill>
              <a:schemeClr val="bg2"/>
            </a:solidFill>
            <a:prstDash val="solid"/>
          </a:ln>
        </p:spPr>
      </p:sp>
      <p:sp>
        <p:nvSpPr>
          <p:cNvPr id="6" name="Shape 4"/>
          <p:cNvSpPr/>
          <p:nvPr/>
        </p:nvSpPr>
        <p:spPr>
          <a:xfrm>
            <a:off x="731520" y="1463040"/>
            <a:ext cx="411480" cy="411480"/>
          </a:xfrm>
          <a:prstGeom prst="ellipse">
            <a:avLst/>
          </a:prstGeom>
          <a:solidFill>
            <a:schemeClr val="accent1"/>
          </a:solidFill>
          <a:ln w="12700">
            <a:solidFill>
              <a:schemeClr val="accent1"/>
            </a:solidFill>
            <a:prstDash val="solid"/>
          </a:ln>
        </p:spPr>
      </p:sp>
      <p:sp>
        <p:nvSpPr>
          <p:cNvPr id="7" name="Text 5"/>
          <p:cNvSpPr txBox="1"/>
          <p:nvPr/>
        </p:nvSpPr>
        <p:spPr>
          <a:xfrm>
            <a:off x="731520"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6"/>
          <p:cNvSpPr txBox="1"/>
          <p:nvPr/>
        </p:nvSpPr>
        <p:spPr>
          <a:xfrm>
            <a:off x="1234440" y="1463040"/>
            <a:ext cx="1139891" cy="411480"/>
          </a:xfrm>
          <a:prstGeom prst="rect">
            <a:avLst/>
          </a:prstGeom>
          <a:noFill/>
          <a:ln/>
        </p:spPr>
        <p:txBody>
          <a:bodyPr wrap="square" lIns="0" tIns="0" rIns="0" bIns="0" rtlCol="0" anchor="ctr"/>
          <a:lstStyle/>
          <a:p>
            <a:pPr indent="0" marL="0">
              <a:buNone/>
            </a:pPr>
            <a:r>
              <a:rPr lang="en-US" sz="1600" b="1" dirty="0">
                <a:solidFill>
                  <a:schemeClr val="tx2"/>
                </a:solidFill>
              </a:rPr>
              <a:t>Akuisisi</a:t>
            </a:r>
            <a:endParaRPr lang="en-US" sz="1600" dirty="0"/>
          </a:p>
        </p:txBody>
      </p:sp>
      <p:sp>
        <p:nvSpPr>
          <p:cNvPr id="9" name="Text 7"/>
          <p:cNvSpPr txBox="1"/>
          <p:nvPr/>
        </p:nvSpPr>
        <p:spPr>
          <a:xfrm>
            <a:off x="731520" y="2011680"/>
            <a:ext cx="1597091" cy="822960"/>
          </a:xfrm>
          <a:prstGeom prst="rect">
            <a:avLst/>
          </a:prstGeom>
          <a:noFill/>
          <a:ln/>
        </p:spPr>
        <p:txBody>
          <a:bodyPr wrap="square" lIns="0" tIns="0" rIns="0" bIns="0" rtlCol="0" anchor="ctr"/>
          <a:lstStyle/>
          <a:p>
            <a:pPr indent="0" marL="0">
              <a:buNone/>
            </a:pPr>
            <a:r>
              <a:rPr lang="en-US" sz="1300" dirty="0">
                <a:solidFill>
                  <a:schemeClr val="tx1"/>
                </a:solidFill>
              </a:rPr>
              <a:t>Unduh 2 dataset publik, cek keaslian file (SHA-256)</a:t>
            </a:r>
            <a:endParaRPr lang="en-US" sz="1300" dirty="0"/>
          </a:p>
        </p:txBody>
      </p:sp>
      <p:sp>
        <p:nvSpPr>
          <p:cNvPr id="10" name="Shape 8"/>
          <p:cNvSpPr/>
          <p:nvPr/>
        </p:nvSpPr>
        <p:spPr>
          <a:xfrm>
            <a:off x="2557211" y="2331720"/>
            <a:ext cx="228600" cy="0"/>
          </a:xfrm>
          <a:prstGeom prst="line">
            <a:avLst/>
          </a:prstGeom>
          <a:noFill/>
          <a:ln w="25400">
            <a:solidFill>
              <a:srgbClr val="0F5257"/>
            </a:solidFill>
            <a:prstDash val="solid"/>
            <a:tailEnd type="triangle"/>
          </a:ln>
        </p:spPr>
      </p:sp>
      <p:sp>
        <p:nvSpPr>
          <p:cNvPr id="11" name="Shape 9"/>
          <p:cNvSpPr/>
          <p:nvPr/>
        </p:nvSpPr>
        <p:spPr>
          <a:xfrm>
            <a:off x="2831531" y="1280160"/>
            <a:ext cx="1962851" cy="2103120"/>
          </a:xfrm>
          <a:prstGeom prst="roundRect">
            <a:avLst>
              <a:gd name="adj" fmla="val 5590"/>
            </a:avLst>
          </a:prstGeom>
          <a:solidFill>
            <a:schemeClr val="bg2"/>
          </a:solidFill>
          <a:ln w="12700">
            <a:solidFill>
              <a:schemeClr val="bg2"/>
            </a:solidFill>
            <a:prstDash val="solid"/>
          </a:ln>
        </p:spPr>
      </p:sp>
      <p:sp>
        <p:nvSpPr>
          <p:cNvPr id="12" name="Shape 10"/>
          <p:cNvSpPr/>
          <p:nvPr/>
        </p:nvSpPr>
        <p:spPr>
          <a:xfrm>
            <a:off x="3014411" y="1463040"/>
            <a:ext cx="411480" cy="411480"/>
          </a:xfrm>
          <a:prstGeom prst="ellipse">
            <a:avLst/>
          </a:prstGeom>
          <a:solidFill>
            <a:schemeClr val="accent1"/>
          </a:solidFill>
          <a:ln w="12700">
            <a:solidFill>
              <a:schemeClr val="accent1"/>
            </a:solidFill>
            <a:prstDash val="solid"/>
          </a:ln>
        </p:spPr>
      </p:sp>
      <p:sp>
        <p:nvSpPr>
          <p:cNvPr id="13" name="Text 11"/>
          <p:cNvSpPr txBox="1"/>
          <p:nvPr/>
        </p:nvSpPr>
        <p:spPr>
          <a:xfrm>
            <a:off x="3014411"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2"/>
          <p:cNvSpPr txBox="1"/>
          <p:nvPr/>
        </p:nvSpPr>
        <p:spPr>
          <a:xfrm>
            <a:off x="3517331" y="1463040"/>
            <a:ext cx="1139891" cy="411480"/>
          </a:xfrm>
          <a:prstGeom prst="rect">
            <a:avLst/>
          </a:prstGeom>
          <a:noFill/>
          <a:ln/>
        </p:spPr>
        <p:txBody>
          <a:bodyPr wrap="square" lIns="0" tIns="0" rIns="0" bIns="0" rtlCol="0" anchor="ctr"/>
          <a:lstStyle/>
          <a:p>
            <a:pPr indent="0" marL="0">
              <a:buNone/>
            </a:pPr>
            <a:r>
              <a:rPr lang="en-US" sz="1600" b="1" dirty="0">
                <a:solidFill>
                  <a:schemeClr val="tx2"/>
                </a:solidFill>
              </a:rPr>
              <a:t>Pengolahan</a:t>
            </a:r>
            <a:endParaRPr lang="en-US" sz="1600" dirty="0"/>
          </a:p>
        </p:txBody>
      </p:sp>
      <p:sp>
        <p:nvSpPr>
          <p:cNvPr id="15" name="Text 13"/>
          <p:cNvSpPr txBox="1"/>
          <p:nvPr/>
        </p:nvSpPr>
        <p:spPr>
          <a:xfrm>
            <a:off x="3014411" y="2011680"/>
            <a:ext cx="1597091" cy="822960"/>
          </a:xfrm>
          <a:prstGeom prst="rect">
            <a:avLst/>
          </a:prstGeom>
          <a:noFill/>
          <a:ln/>
        </p:spPr>
        <p:txBody>
          <a:bodyPr wrap="square" lIns="0" tIns="0" rIns="0" bIns="0" rtlCol="0" anchor="ctr"/>
          <a:lstStyle/>
          <a:p>
            <a:pPr indent="0" marL="0">
              <a:buNone/>
            </a:pPr>
            <a:r>
              <a:rPr lang="en-US" sz="1300" dirty="0">
                <a:solidFill>
                  <a:schemeClr val="tx1"/>
                </a:solidFill>
              </a:rPr>
              <a:t>Bersihkan data, ubah jadi fitur angka</a:t>
            </a:r>
            <a:endParaRPr lang="en-US" sz="1300" dirty="0"/>
          </a:p>
        </p:txBody>
      </p:sp>
      <p:sp>
        <p:nvSpPr>
          <p:cNvPr id="16" name="Shape 14"/>
          <p:cNvSpPr/>
          <p:nvPr/>
        </p:nvSpPr>
        <p:spPr>
          <a:xfrm>
            <a:off x="2968691" y="2880360"/>
            <a:ext cx="1688531" cy="365760"/>
          </a:xfrm>
          <a:prstGeom prst="roundRect">
            <a:avLst>
              <a:gd name="adj" fmla="val 50000"/>
            </a:avLst>
          </a:prstGeom>
          <a:solidFill>
            <a:schemeClr val="accent2"/>
          </a:solidFill>
          <a:ln w="12700">
            <a:solidFill>
              <a:schemeClr val="accent2"/>
            </a:solidFill>
            <a:prstDash val="solid"/>
          </a:ln>
        </p:spPr>
      </p:sp>
      <p:sp>
        <p:nvSpPr>
          <p:cNvPr id="17" name="Text 15"/>
          <p:cNvSpPr txBox="1"/>
          <p:nvPr/>
        </p:nvSpPr>
        <p:spPr>
          <a:xfrm>
            <a:off x="2968691" y="2880360"/>
            <a:ext cx="1688531" cy="365760"/>
          </a:xfrm>
          <a:prstGeom prst="rect">
            <a:avLst/>
          </a:prstGeom>
          <a:noFill/>
          <a:ln/>
        </p:spPr>
        <p:txBody>
          <a:bodyPr wrap="square" lIns="0" tIns="0" rIns="0" bIns="0" rtlCol="0" anchor="ctr"/>
          <a:lstStyle/>
          <a:p>
            <a:pPr algn="ctr" indent="0" marL="0">
              <a:buNone/>
            </a:pPr>
            <a:r>
              <a:rPr lang="en-US" sz="1150" b="1" dirty="0">
                <a:solidFill>
                  <a:schemeClr val="tx2"/>
                </a:solidFill>
              </a:rPr>
              <a:t>Augmentasi · Imbalance</a:t>
            </a:r>
            <a:endParaRPr lang="en-US" sz="1150" dirty="0"/>
          </a:p>
        </p:txBody>
      </p:sp>
      <p:sp>
        <p:nvSpPr>
          <p:cNvPr id="18" name="Shape 16"/>
          <p:cNvSpPr/>
          <p:nvPr/>
        </p:nvSpPr>
        <p:spPr>
          <a:xfrm>
            <a:off x="4840102" y="2331720"/>
            <a:ext cx="228600" cy="0"/>
          </a:xfrm>
          <a:prstGeom prst="line">
            <a:avLst/>
          </a:prstGeom>
          <a:noFill/>
          <a:ln w="25400">
            <a:solidFill>
              <a:srgbClr val="0F5257"/>
            </a:solidFill>
            <a:prstDash val="solid"/>
            <a:tailEnd type="triangle"/>
          </a:ln>
        </p:spPr>
      </p:sp>
      <p:sp>
        <p:nvSpPr>
          <p:cNvPr id="19" name="Shape 17"/>
          <p:cNvSpPr/>
          <p:nvPr/>
        </p:nvSpPr>
        <p:spPr>
          <a:xfrm>
            <a:off x="5114422" y="1280160"/>
            <a:ext cx="1962851" cy="2103120"/>
          </a:xfrm>
          <a:prstGeom prst="roundRect">
            <a:avLst>
              <a:gd name="adj" fmla="val 5590"/>
            </a:avLst>
          </a:prstGeom>
          <a:solidFill>
            <a:schemeClr val="bg2"/>
          </a:solidFill>
          <a:ln w="12700">
            <a:solidFill>
              <a:schemeClr val="bg2"/>
            </a:solidFill>
            <a:prstDash val="solid"/>
          </a:ln>
        </p:spPr>
      </p:sp>
      <p:sp>
        <p:nvSpPr>
          <p:cNvPr id="20" name="Shape 18"/>
          <p:cNvSpPr/>
          <p:nvPr/>
        </p:nvSpPr>
        <p:spPr>
          <a:xfrm>
            <a:off x="5297302" y="1463040"/>
            <a:ext cx="411480" cy="411480"/>
          </a:xfrm>
          <a:prstGeom prst="ellipse">
            <a:avLst/>
          </a:prstGeom>
          <a:solidFill>
            <a:schemeClr val="accent1"/>
          </a:solidFill>
          <a:ln w="12700">
            <a:solidFill>
              <a:schemeClr val="accent1"/>
            </a:solidFill>
            <a:prstDash val="solid"/>
          </a:ln>
        </p:spPr>
      </p:sp>
      <p:sp>
        <p:nvSpPr>
          <p:cNvPr id="21" name="Text 19"/>
          <p:cNvSpPr txBox="1"/>
          <p:nvPr/>
        </p:nvSpPr>
        <p:spPr>
          <a:xfrm>
            <a:off x="5297302"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2" name="Text 20"/>
          <p:cNvSpPr txBox="1"/>
          <p:nvPr/>
        </p:nvSpPr>
        <p:spPr>
          <a:xfrm>
            <a:off x="5800222" y="1463040"/>
            <a:ext cx="1139891" cy="411480"/>
          </a:xfrm>
          <a:prstGeom prst="rect">
            <a:avLst/>
          </a:prstGeom>
          <a:noFill/>
          <a:ln/>
        </p:spPr>
        <p:txBody>
          <a:bodyPr wrap="square" lIns="0" tIns="0" rIns="0" bIns="0" rtlCol="0" anchor="ctr"/>
          <a:lstStyle/>
          <a:p>
            <a:pPr indent="0" marL="0">
              <a:buNone/>
            </a:pPr>
            <a:r>
              <a:rPr lang="en-US" sz="1600" b="1" dirty="0">
                <a:solidFill>
                  <a:schemeClr val="tx2"/>
                </a:solidFill>
              </a:rPr>
              <a:t>Pemodelan</a:t>
            </a:r>
            <a:endParaRPr lang="en-US" sz="1600" dirty="0"/>
          </a:p>
        </p:txBody>
      </p:sp>
      <p:sp>
        <p:nvSpPr>
          <p:cNvPr id="23" name="Text 21"/>
          <p:cNvSpPr txBox="1"/>
          <p:nvPr/>
        </p:nvSpPr>
        <p:spPr>
          <a:xfrm>
            <a:off x="5297302" y="2011680"/>
            <a:ext cx="1597091" cy="822960"/>
          </a:xfrm>
          <a:prstGeom prst="rect">
            <a:avLst/>
          </a:prstGeom>
          <a:noFill/>
          <a:ln/>
        </p:spPr>
        <p:txBody>
          <a:bodyPr wrap="square" lIns="0" tIns="0" rIns="0" bIns="0" rtlCol="0" anchor="ctr"/>
          <a:lstStyle/>
          <a:p>
            <a:pPr indent="0" marL="0">
              <a:buNone/>
            </a:pPr>
            <a:r>
              <a:rPr lang="en-US" sz="1300" dirty="0">
                <a:solidFill>
                  <a:schemeClr val="tx1"/>
                </a:solidFill>
              </a:rPr>
              <a:t>Bandingkan model tunggal vs gabungan</a:t>
            </a:r>
            <a:endParaRPr lang="en-US" sz="1300" dirty="0"/>
          </a:p>
        </p:txBody>
      </p:sp>
      <p:sp>
        <p:nvSpPr>
          <p:cNvPr id="24" name="Shape 22"/>
          <p:cNvSpPr/>
          <p:nvPr/>
        </p:nvSpPr>
        <p:spPr>
          <a:xfrm>
            <a:off x="5251582" y="2880360"/>
            <a:ext cx="1688531" cy="365760"/>
          </a:xfrm>
          <a:prstGeom prst="roundRect">
            <a:avLst>
              <a:gd name="adj" fmla="val 50000"/>
            </a:avLst>
          </a:prstGeom>
          <a:solidFill>
            <a:schemeClr val="accent2"/>
          </a:solidFill>
          <a:ln w="12700">
            <a:solidFill>
              <a:schemeClr val="accent2"/>
            </a:solidFill>
            <a:prstDash val="solid"/>
          </a:ln>
        </p:spPr>
      </p:sp>
      <p:sp>
        <p:nvSpPr>
          <p:cNvPr id="25" name="Text 23"/>
          <p:cNvSpPr txBox="1"/>
          <p:nvPr/>
        </p:nvSpPr>
        <p:spPr>
          <a:xfrm>
            <a:off x="5251582" y="2880360"/>
            <a:ext cx="1688531" cy="365760"/>
          </a:xfrm>
          <a:prstGeom prst="rect">
            <a:avLst/>
          </a:prstGeom>
          <a:noFill/>
          <a:ln/>
        </p:spPr>
        <p:txBody>
          <a:bodyPr wrap="square" lIns="0" tIns="0" rIns="0" bIns="0" rtlCol="0" anchor="ctr"/>
          <a:lstStyle/>
          <a:p>
            <a:pPr algn="ctr" indent="0" marL="0">
              <a:buNone/>
            </a:pPr>
            <a:r>
              <a:rPr lang="en-US" sz="1150" b="1" dirty="0">
                <a:solidFill>
                  <a:schemeClr val="tx2"/>
                </a:solidFill>
              </a:rPr>
              <a:t>Ensemble</a:t>
            </a:r>
            <a:endParaRPr lang="en-US" sz="1150" dirty="0"/>
          </a:p>
        </p:txBody>
      </p:sp>
      <p:sp>
        <p:nvSpPr>
          <p:cNvPr id="26" name="Shape 24"/>
          <p:cNvSpPr/>
          <p:nvPr/>
        </p:nvSpPr>
        <p:spPr>
          <a:xfrm>
            <a:off x="7122993" y="2331720"/>
            <a:ext cx="228600" cy="0"/>
          </a:xfrm>
          <a:prstGeom prst="line">
            <a:avLst/>
          </a:prstGeom>
          <a:noFill/>
          <a:ln w="25400">
            <a:solidFill>
              <a:srgbClr val="0F5257"/>
            </a:solidFill>
            <a:prstDash val="solid"/>
            <a:tailEnd type="triangle"/>
          </a:ln>
        </p:spPr>
      </p:sp>
      <p:sp>
        <p:nvSpPr>
          <p:cNvPr id="27" name="Shape 25"/>
          <p:cNvSpPr/>
          <p:nvPr/>
        </p:nvSpPr>
        <p:spPr>
          <a:xfrm>
            <a:off x="7397313" y="1280160"/>
            <a:ext cx="1962851" cy="2103120"/>
          </a:xfrm>
          <a:prstGeom prst="roundRect">
            <a:avLst>
              <a:gd name="adj" fmla="val 5590"/>
            </a:avLst>
          </a:prstGeom>
          <a:solidFill>
            <a:schemeClr val="bg2"/>
          </a:solidFill>
          <a:ln w="12700">
            <a:solidFill>
              <a:schemeClr val="bg2"/>
            </a:solidFill>
            <a:prstDash val="solid"/>
          </a:ln>
        </p:spPr>
      </p:sp>
      <p:sp>
        <p:nvSpPr>
          <p:cNvPr id="28" name="Shape 26"/>
          <p:cNvSpPr/>
          <p:nvPr/>
        </p:nvSpPr>
        <p:spPr>
          <a:xfrm>
            <a:off x="7580193" y="1463040"/>
            <a:ext cx="411480" cy="411480"/>
          </a:xfrm>
          <a:prstGeom prst="ellipse">
            <a:avLst/>
          </a:prstGeom>
          <a:solidFill>
            <a:schemeClr val="accent1"/>
          </a:solidFill>
          <a:ln w="12700">
            <a:solidFill>
              <a:schemeClr val="accent1"/>
            </a:solidFill>
            <a:prstDash val="solid"/>
          </a:ln>
        </p:spPr>
      </p:sp>
      <p:sp>
        <p:nvSpPr>
          <p:cNvPr id="29" name="Text 27"/>
          <p:cNvSpPr txBox="1"/>
          <p:nvPr/>
        </p:nvSpPr>
        <p:spPr>
          <a:xfrm>
            <a:off x="7580193"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0" name="Text 28"/>
          <p:cNvSpPr txBox="1"/>
          <p:nvPr/>
        </p:nvSpPr>
        <p:spPr>
          <a:xfrm>
            <a:off x="8083113" y="1463040"/>
            <a:ext cx="1139891" cy="411480"/>
          </a:xfrm>
          <a:prstGeom prst="rect">
            <a:avLst/>
          </a:prstGeom>
          <a:noFill/>
          <a:ln/>
        </p:spPr>
        <p:txBody>
          <a:bodyPr wrap="square" lIns="0" tIns="0" rIns="0" bIns="0" rtlCol="0" anchor="ctr"/>
          <a:lstStyle/>
          <a:p>
            <a:pPr indent="0" marL="0">
              <a:buNone/>
            </a:pPr>
            <a:r>
              <a:rPr lang="en-US" sz="1600" b="1" dirty="0">
                <a:solidFill>
                  <a:schemeClr val="tx2"/>
                </a:solidFill>
              </a:rPr>
              <a:t>Evaluasi jujur</a:t>
            </a:r>
            <a:endParaRPr lang="en-US" sz="1600" dirty="0"/>
          </a:p>
        </p:txBody>
      </p:sp>
      <p:sp>
        <p:nvSpPr>
          <p:cNvPr id="31" name="Text 29"/>
          <p:cNvSpPr txBox="1"/>
          <p:nvPr/>
        </p:nvSpPr>
        <p:spPr>
          <a:xfrm>
            <a:off x="7580193" y="2011680"/>
            <a:ext cx="1597091" cy="822960"/>
          </a:xfrm>
          <a:prstGeom prst="rect">
            <a:avLst/>
          </a:prstGeom>
          <a:noFill/>
          <a:ln/>
        </p:spPr>
        <p:txBody>
          <a:bodyPr wrap="square" lIns="0" tIns="0" rIns="0" bIns="0" rtlCol="0" anchor="ctr"/>
          <a:lstStyle/>
          <a:p>
            <a:pPr indent="0" marL="0">
              <a:buNone/>
            </a:pPr>
            <a:r>
              <a:rPr lang="en-US" sz="1300" dirty="0">
                <a:solidFill>
                  <a:schemeClr val="tx1"/>
                </a:solidFill>
              </a:rPr>
              <a:t>Uji pada data yang benar-benar baru</a:t>
            </a:r>
            <a:endParaRPr lang="en-US" sz="1300" dirty="0"/>
          </a:p>
        </p:txBody>
      </p:sp>
      <p:sp>
        <p:nvSpPr>
          <p:cNvPr id="32" name="Shape 30"/>
          <p:cNvSpPr/>
          <p:nvPr/>
        </p:nvSpPr>
        <p:spPr>
          <a:xfrm>
            <a:off x="9405884" y="2331720"/>
            <a:ext cx="228600" cy="0"/>
          </a:xfrm>
          <a:prstGeom prst="line">
            <a:avLst/>
          </a:prstGeom>
          <a:noFill/>
          <a:ln w="25400">
            <a:solidFill>
              <a:srgbClr val="0F5257"/>
            </a:solidFill>
            <a:prstDash val="solid"/>
            <a:tailEnd type="triangle"/>
          </a:ln>
        </p:spPr>
      </p:sp>
      <p:sp>
        <p:nvSpPr>
          <p:cNvPr id="33" name="Shape 31"/>
          <p:cNvSpPr/>
          <p:nvPr/>
        </p:nvSpPr>
        <p:spPr>
          <a:xfrm>
            <a:off x="9680204" y="1280160"/>
            <a:ext cx="1962851" cy="2103120"/>
          </a:xfrm>
          <a:prstGeom prst="roundRect">
            <a:avLst>
              <a:gd name="adj" fmla="val 5590"/>
            </a:avLst>
          </a:prstGeom>
          <a:solidFill>
            <a:schemeClr val="bg2"/>
          </a:solidFill>
          <a:ln w="12700">
            <a:solidFill>
              <a:schemeClr val="bg2"/>
            </a:solidFill>
            <a:prstDash val="solid"/>
          </a:ln>
        </p:spPr>
      </p:sp>
      <p:sp>
        <p:nvSpPr>
          <p:cNvPr id="34" name="Shape 32"/>
          <p:cNvSpPr/>
          <p:nvPr/>
        </p:nvSpPr>
        <p:spPr>
          <a:xfrm>
            <a:off x="9863084" y="1463040"/>
            <a:ext cx="411480" cy="411480"/>
          </a:xfrm>
          <a:prstGeom prst="ellipse">
            <a:avLst/>
          </a:prstGeom>
          <a:solidFill>
            <a:schemeClr val="accent1"/>
          </a:solidFill>
          <a:ln w="12700">
            <a:solidFill>
              <a:schemeClr val="accent1"/>
            </a:solidFill>
            <a:prstDash val="solid"/>
          </a:ln>
        </p:spPr>
      </p:sp>
      <p:sp>
        <p:nvSpPr>
          <p:cNvPr id="35" name="Text 33"/>
          <p:cNvSpPr txBox="1"/>
          <p:nvPr/>
        </p:nvSpPr>
        <p:spPr>
          <a:xfrm>
            <a:off x="9863084"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6" name="Text 34"/>
          <p:cNvSpPr txBox="1"/>
          <p:nvPr/>
        </p:nvSpPr>
        <p:spPr>
          <a:xfrm>
            <a:off x="10366004" y="1463040"/>
            <a:ext cx="1139891" cy="411480"/>
          </a:xfrm>
          <a:prstGeom prst="rect">
            <a:avLst/>
          </a:prstGeom>
          <a:noFill/>
          <a:ln/>
        </p:spPr>
        <p:txBody>
          <a:bodyPr wrap="square" lIns="0" tIns="0" rIns="0" bIns="0" rtlCol="0" anchor="ctr"/>
          <a:lstStyle/>
          <a:p>
            <a:pPr indent="0" marL="0">
              <a:buNone/>
            </a:pPr>
            <a:r>
              <a:rPr lang="en-US" sz="1600" b="1" dirty="0">
                <a:solidFill>
                  <a:schemeClr val="tx2"/>
                </a:solidFill>
              </a:rPr>
              <a:t>Tambah label</a:t>
            </a:r>
            <a:endParaRPr lang="en-US" sz="1600" dirty="0"/>
          </a:p>
        </p:txBody>
      </p:sp>
      <p:sp>
        <p:nvSpPr>
          <p:cNvPr id="37" name="Text 35"/>
          <p:cNvSpPr txBox="1"/>
          <p:nvPr/>
        </p:nvSpPr>
        <p:spPr>
          <a:xfrm>
            <a:off x="9863084" y="2011680"/>
            <a:ext cx="1597091" cy="822960"/>
          </a:xfrm>
          <a:prstGeom prst="rect">
            <a:avLst/>
          </a:prstGeom>
          <a:noFill/>
          <a:ln/>
        </p:spPr>
        <p:txBody>
          <a:bodyPr wrap="square" lIns="0" tIns="0" rIns="0" bIns="0" rtlCol="0" anchor="ctr"/>
          <a:lstStyle/>
          <a:p>
            <a:pPr indent="0" marL="0">
              <a:buNone/>
            </a:pPr>
            <a:r>
              <a:rPr lang="en-US" sz="1300" dirty="0">
                <a:solidFill>
                  <a:schemeClr val="tx1"/>
                </a:solidFill>
              </a:rPr>
              <a:t>Agen memilih data yang perlu dilabeli</a:t>
            </a:r>
            <a:endParaRPr lang="en-US" sz="1300" dirty="0"/>
          </a:p>
        </p:txBody>
      </p:sp>
      <p:sp>
        <p:nvSpPr>
          <p:cNvPr id="38" name="Shape 36"/>
          <p:cNvSpPr/>
          <p:nvPr/>
        </p:nvSpPr>
        <p:spPr>
          <a:xfrm>
            <a:off x="9817364" y="2880360"/>
            <a:ext cx="1688531" cy="365760"/>
          </a:xfrm>
          <a:prstGeom prst="roundRect">
            <a:avLst>
              <a:gd name="adj" fmla="val 50000"/>
            </a:avLst>
          </a:prstGeom>
          <a:solidFill>
            <a:schemeClr val="accent2"/>
          </a:solidFill>
          <a:ln w="12700">
            <a:solidFill>
              <a:schemeClr val="accent2"/>
            </a:solidFill>
            <a:prstDash val="solid"/>
          </a:ln>
        </p:spPr>
      </p:sp>
      <p:sp>
        <p:nvSpPr>
          <p:cNvPr id="39" name="Text 37"/>
          <p:cNvSpPr txBox="1"/>
          <p:nvPr/>
        </p:nvSpPr>
        <p:spPr>
          <a:xfrm>
            <a:off x="9817364" y="2880360"/>
            <a:ext cx="1688531" cy="365760"/>
          </a:xfrm>
          <a:prstGeom prst="rect">
            <a:avLst/>
          </a:prstGeom>
          <a:noFill/>
          <a:ln/>
        </p:spPr>
        <p:txBody>
          <a:bodyPr wrap="square" lIns="0" tIns="0" rIns="0" bIns="0" rtlCol="0" anchor="ctr"/>
          <a:lstStyle/>
          <a:p>
            <a:pPr algn="ctr" indent="0" marL="0">
              <a:buNone/>
            </a:pPr>
            <a:r>
              <a:rPr lang="en-US" sz="1150" b="1" dirty="0">
                <a:solidFill>
                  <a:schemeClr val="tx2"/>
                </a:solidFill>
              </a:rPr>
              <a:t>Reinforcement</a:t>
            </a:r>
            <a:endParaRPr lang="en-US" sz="1150" dirty="0"/>
          </a:p>
        </p:txBody>
      </p:sp>
      <p:sp>
        <p:nvSpPr>
          <p:cNvPr id="40" name="Shape 38"/>
          <p:cNvSpPr/>
          <p:nvPr/>
        </p:nvSpPr>
        <p:spPr>
          <a:xfrm>
            <a:off x="548640" y="3611880"/>
            <a:ext cx="5410048" cy="1965960"/>
          </a:xfrm>
          <a:prstGeom prst="roundRect">
            <a:avLst>
              <a:gd name="adj" fmla="val 5581"/>
            </a:avLst>
          </a:prstGeom>
          <a:solidFill>
            <a:schemeClr val="bg1"/>
          </a:solidFill>
          <a:ln w="15875">
            <a:solidFill>
              <a:schemeClr val="accent1"/>
            </a:solidFill>
            <a:prstDash val="solid"/>
          </a:ln>
        </p:spPr>
      </p:sp>
      <p:sp>
        <p:nvSpPr>
          <p:cNvPr id="41" name="Text 39"/>
          <p:cNvSpPr txBox="1"/>
          <p:nvPr/>
        </p:nvSpPr>
        <p:spPr>
          <a:xfrm>
            <a:off x="822960" y="3794760"/>
            <a:ext cx="4861408" cy="36576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E-nose daging sapi</a:t>
            </a:r>
            <a:endParaRPr lang="en-US" sz="1900" dirty="0"/>
          </a:p>
        </p:txBody>
      </p:sp>
      <p:sp>
        <p:nvSpPr>
          <p:cNvPr id="42" name="Text 40"/>
          <p:cNvSpPr txBox="1"/>
          <p:nvPr/>
        </p:nvSpPr>
        <p:spPr>
          <a:xfrm>
            <a:off x="822960" y="4178808"/>
            <a:ext cx="4861408" cy="274320"/>
          </a:xfrm>
          <a:prstGeom prst="rect">
            <a:avLst/>
          </a:prstGeom>
          <a:noFill/>
          <a:ln/>
        </p:spPr>
        <p:txBody>
          <a:bodyPr wrap="square" lIns="0" tIns="0" rIns="0" bIns="0" rtlCol="0" anchor="ctr"/>
          <a:lstStyle/>
          <a:p>
            <a:pPr indent="0" marL="0">
              <a:buNone/>
            </a:pPr>
            <a:r>
              <a:rPr lang="en-US" sz="1200" dirty="0">
                <a:solidFill>
                  <a:srgbClr val="56676A"/>
                </a:solidFill>
              </a:rPr>
              <a:t>Wijaya dkk. (2018), Data in Brief</a:t>
            </a:r>
            <a:endParaRPr lang="en-US" sz="1200" dirty="0"/>
          </a:p>
        </p:txBody>
      </p:sp>
      <p:sp>
        <p:nvSpPr>
          <p:cNvPr id="43" name="Text 41"/>
          <p:cNvSpPr txBox="1"/>
          <p:nvPr/>
        </p:nvSpPr>
        <p:spPr>
          <a:xfrm>
            <a:off x="822960" y="4526280"/>
            <a:ext cx="4861408" cy="9601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10.800 baris = 5 potongan daging × 2.160 menit, 9 sensor gas + kelembapan</a:t>
            </a:r>
            <a:endParaRPr lang="en-US" sz="1400" dirty="0"/>
          </a:p>
          <a:p>
            <a:pPr indent="0" marL="0">
              <a:spcAft>
                <a:spcPts val="400"/>
              </a:spcAft>
              <a:buNone/>
            </a:pPr>
            <a:r>
              <a:rPr lang="en-US" sz="1400" b="1" dirty="0">
                <a:solidFill>
                  <a:schemeClr val="accent1"/>
                </a:solidFill>
              </a:rPr>
              <a:t>Label: segar / tidak segar (dari 4 kelas mutu)</a:t>
            </a:r>
            <a:endParaRPr lang="en-US" sz="1400" dirty="0"/>
          </a:p>
        </p:txBody>
      </p:sp>
      <p:sp>
        <p:nvSpPr>
          <p:cNvPr id="44" name="Shape 42"/>
          <p:cNvSpPr/>
          <p:nvPr/>
        </p:nvSpPr>
        <p:spPr>
          <a:xfrm>
            <a:off x="6233008" y="3611880"/>
            <a:ext cx="5410048" cy="1965960"/>
          </a:xfrm>
          <a:prstGeom prst="roundRect">
            <a:avLst>
              <a:gd name="adj" fmla="val 5581"/>
            </a:avLst>
          </a:prstGeom>
          <a:solidFill>
            <a:schemeClr val="bg1"/>
          </a:solidFill>
          <a:ln w="15875">
            <a:solidFill>
              <a:schemeClr val="accent1"/>
            </a:solidFill>
            <a:prstDash val="solid"/>
          </a:ln>
        </p:spPr>
      </p:sp>
      <p:sp>
        <p:nvSpPr>
          <p:cNvPr id="45" name="Text 43"/>
          <p:cNvSpPr txBox="1"/>
          <p:nvPr/>
        </p:nvSpPr>
        <p:spPr>
          <a:xfrm>
            <a:off x="6507328" y="3794760"/>
            <a:ext cx="4861408" cy="36576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AqSolDB</a:t>
            </a:r>
            <a:endParaRPr lang="en-US" sz="1900" dirty="0"/>
          </a:p>
        </p:txBody>
      </p:sp>
      <p:sp>
        <p:nvSpPr>
          <p:cNvPr id="46" name="Text 44"/>
          <p:cNvSpPr txBox="1"/>
          <p:nvPr/>
        </p:nvSpPr>
        <p:spPr>
          <a:xfrm>
            <a:off x="6507328" y="4178808"/>
            <a:ext cx="4861408" cy="274320"/>
          </a:xfrm>
          <a:prstGeom prst="rect">
            <a:avLst/>
          </a:prstGeom>
          <a:noFill/>
          <a:ln/>
        </p:spPr>
        <p:txBody>
          <a:bodyPr wrap="square" lIns="0" tIns="0" rIns="0" bIns="0" rtlCol="0" anchor="ctr"/>
          <a:lstStyle/>
          <a:p>
            <a:pPr indent="0" marL="0">
              <a:buNone/>
            </a:pPr>
            <a:r>
              <a:rPr lang="en-US" sz="1200" dirty="0">
                <a:solidFill>
                  <a:srgbClr val="56676A"/>
                </a:solidFill>
              </a:rPr>
              <a:t>Sorkun dkk. (2019), Scientific Data</a:t>
            </a:r>
            <a:endParaRPr lang="en-US" sz="1200" dirty="0"/>
          </a:p>
        </p:txBody>
      </p:sp>
      <p:sp>
        <p:nvSpPr>
          <p:cNvPr id="47" name="Text 45"/>
          <p:cNvSpPr txBox="1"/>
          <p:nvPr/>
        </p:nvSpPr>
        <p:spPr>
          <a:xfrm>
            <a:off x="6507328" y="4526280"/>
            <a:ext cx="4861408" cy="9601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9.982 senyawa, ditulis sebagai teks SMILES</a:t>
            </a:r>
            <a:endParaRPr lang="en-US" sz="1400" dirty="0"/>
          </a:p>
          <a:p>
            <a:pPr indent="0" marL="0">
              <a:spcAft>
                <a:spcPts val="400"/>
              </a:spcAft>
              <a:buNone/>
            </a:pPr>
            <a:r>
              <a:rPr lang="en-US" sz="1400" b="1" dirty="0">
                <a:solidFill>
                  <a:schemeClr val="accent1"/>
                </a:solidFill>
              </a:rPr>
              <a:t>Label: kelarutan LogS (angka, jadi regresi)</a:t>
            </a:r>
            <a:endParaRPr lang="en-US" sz="1400" dirty="0"/>
          </a:p>
        </p:txBody>
      </p:sp>
      <p:sp>
        <p:nvSpPr>
          <p:cNvPr id="48" name="Text 46"/>
          <p:cNvSpPr txBox="1"/>
          <p:nvPr/>
        </p:nvSpPr>
        <p:spPr>
          <a:xfrm>
            <a:off x="548640" y="5760720"/>
            <a:ext cx="11094415" cy="457200"/>
          </a:xfrm>
          <a:prstGeom prst="rect">
            <a:avLst/>
          </a:prstGeom>
          <a:noFill/>
          <a:ln/>
        </p:spPr>
        <p:txBody>
          <a:bodyPr wrap="square" lIns="0" tIns="0" rIns="0" bIns="0" rtlCol="0" anchor="t"/>
          <a:lstStyle/>
          <a:p>
            <a:pPr indent="0" marL="0">
              <a:buNone/>
            </a:pPr>
            <a:r>
              <a:rPr lang="en-US" sz="1300" dirty="0">
                <a:solidFill>
                  <a:srgbClr val="56676A"/>
                </a:solidFill>
              </a:rPr>
              <a:t>Data skripsi Erlangga masih pilot (1 batch) dan foto telur Rijal belum diambil, jadi kami memakai dataset publik yang strukturnya mirip.</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Pengolahan data (wrangling)</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Erlangga</a:t>
            </a:r>
            <a:endParaRPr lang="en-US" sz="1200" dirty="0"/>
          </a:p>
        </p:txBody>
      </p:sp>
      <p:sp>
        <p:nvSpPr>
          <p:cNvPr id="5" name="Shape 3"/>
          <p:cNvSpPr/>
          <p:nvPr/>
        </p:nvSpPr>
        <p:spPr>
          <a:xfrm>
            <a:off x="548640" y="1280160"/>
            <a:ext cx="5410048" cy="4023360"/>
          </a:xfrm>
          <a:prstGeom prst="roundRect">
            <a:avLst>
              <a:gd name="adj" fmla="val 2727"/>
            </a:avLst>
          </a:prstGeom>
          <a:solidFill>
            <a:schemeClr val="bg2"/>
          </a:solidFill>
          <a:ln w="12700">
            <a:solidFill>
              <a:schemeClr val="bg2"/>
            </a:solidFill>
            <a:prstDash val="solid"/>
          </a:ln>
        </p:spPr>
      </p:sp>
      <p:sp>
        <p:nvSpPr>
          <p:cNvPr id="6" name="Text 4"/>
          <p:cNvSpPr txBox="1"/>
          <p:nvPr/>
        </p:nvSpPr>
        <p:spPr>
          <a:xfrm>
            <a:off x="822960" y="1463040"/>
            <a:ext cx="4861408" cy="41148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E-nose daging sapi</a:t>
            </a:r>
            <a:endParaRPr lang="en-US" sz="1900" dirty="0"/>
          </a:p>
        </p:txBody>
      </p:sp>
      <p:sp>
        <p:nvSpPr>
          <p:cNvPr id="7" name="Text 5"/>
          <p:cNvSpPr txBox="1"/>
          <p:nvPr/>
        </p:nvSpPr>
        <p:spPr>
          <a:xfrm>
            <a:off x="822960" y="1965960"/>
            <a:ext cx="2011680" cy="228600"/>
          </a:xfrm>
          <a:prstGeom prst="rect">
            <a:avLst/>
          </a:prstGeom>
          <a:noFill/>
          <a:ln/>
        </p:spPr>
        <p:txBody>
          <a:bodyPr wrap="square" lIns="0" tIns="0" rIns="0" bIns="0" rtlCol="0" anchor="ctr"/>
          <a:lstStyle/>
          <a:p>
            <a:pPr indent="0" marL="0">
              <a:buNone/>
            </a:pPr>
            <a:r>
              <a:rPr lang="en-US" sz="1100" b="1" spc="200" kern="0" dirty="0">
                <a:solidFill>
                  <a:srgbClr val="56676A"/>
                </a:solidFill>
              </a:rPr>
              <a:t>MASALAH</a:t>
            </a:r>
            <a:endParaRPr lang="en-US" sz="1100" dirty="0"/>
          </a:p>
        </p:txBody>
      </p:sp>
      <p:sp>
        <p:nvSpPr>
          <p:cNvPr id="8" name="Text 6"/>
          <p:cNvSpPr txBox="1"/>
          <p:nvPr/>
        </p:nvSpPr>
        <p:spPr>
          <a:xfrm>
            <a:off x="3154680" y="1965960"/>
            <a:ext cx="246888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YANG KAMI LAKUKAN</a:t>
            </a:r>
            <a:endParaRPr lang="en-US" sz="1100" dirty="0"/>
          </a:p>
        </p:txBody>
      </p:sp>
      <p:sp>
        <p:nvSpPr>
          <p:cNvPr id="9" name="Text 7"/>
          <p:cNvSpPr txBox="1"/>
          <p:nvPr/>
        </p:nvSpPr>
        <p:spPr>
          <a:xfrm>
            <a:off x="822960" y="2286000"/>
            <a:ext cx="2011680" cy="822960"/>
          </a:xfrm>
          <a:prstGeom prst="rect">
            <a:avLst/>
          </a:prstGeom>
          <a:noFill/>
          <a:ln/>
        </p:spPr>
        <p:txBody>
          <a:bodyPr wrap="square" lIns="0" tIns="0" rIns="0" bIns="0" rtlCol="0" anchor="ctr"/>
          <a:lstStyle/>
          <a:p>
            <a:pPr indent="0" marL="0">
              <a:buNone/>
            </a:pPr>
            <a:r>
              <a:rPr lang="en-US" sz="1400" dirty="0">
                <a:solidFill>
                  <a:schemeClr val="tx1"/>
                </a:solidFill>
              </a:rPr>
              <a:t>Tiap sensor punya nilai awal berbeda</a:t>
            </a:r>
            <a:endParaRPr lang="en-US" sz="1400" dirty="0"/>
          </a:p>
        </p:txBody>
      </p:sp>
      <p:sp>
        <p:nvSpPr>
          <p:cNvPr id="10" name="Text 8"/>
          <p:cNvSpPr txBox="1"/>
          <p:nvPr/>
        </p:nvSpPr>
        <p:spPr>
          <a:xfrm>
            <a:off x="2834640" y="2286000"/>
            <a:ext cx="320040" cy="82296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11" name="Text 9"/>
          <p:cNvSpPr txBox="1"/>
          <p:nvPr/>
        </p:nvSpPr>
        <p:spPr>
          <a:xfrm>
            <a:off x="3154680" y="2286000"/>
            <a:ext cx="2529688" cy="822960"/>
          </a:xfrm>
          <a:prstGeom prst="rect">
            <a:avLst/>
          </a:prstGeom>
          <a:noFill/>
          <a:ln/>
        </p:spPr>
        <p:txBody>
          <a:bodyPr wrap="square" lIns="0" tIns="0" rIns="0" bIns="0" rtlCol="0" anchor="ctr"/>
          <a:lstStyle/>
          <a:p>
            <a:pPr indent="0" marL="0">
              <a:buNone/>
            </a:pPr>
            <a:r>
              <a:rPr lang="en-US" sz="1400" b="1" dirty="0">
                <a:solidFill>
                  <a:schemeClr val="tx2"/>
                </a:solidFill>
              </a:rPr>
              <a:t>Dibagi rata-rata 10 menit pertama (rasio, mirip Rs/R0)</a:t>
            </a:r>
            <a:endParaRPr lang="en-US" sz="1400" dirty="0"/>
          </a:p>
        </p:txBody>
      </p:sp>
      <p:sp>
        <p:nvSpPr>
          <p:cNvPr id="12" name="Text 10"/>
          <p:cNvSpPr txBox="1"/>
          <p:nvPr/>
        </p:nvSpPr>
        <p:spPr>
          <a:xfrm>
            <a:off x="822960" y="3264408"/>
            <a:ext cx="2011680" cy="822960"/>
          </a:xfrm>
          <a:prstGeom prst="rect">
            <a:avLst/>
          </a:prstGeom>
          <a:noFill/>
          <a:ln/>
        </p:spPr>
        <p:txBody>
          <a:bodyPr wrap="square" lIns="0" tIns="0" rIns="0" bIns="0" rtlCol="0" anchor="ctr"/>
          <a:lstStyle/>
          <a:p>
            <a:pPr indent="0" marL="0">
              <a:buNone/>
            </a:pPr>
            <a:r>
              <a:rPr lang="en-US" sz="1400" dirty="0">
                <a:solidFill>
                  <a:schemeClr val="tx1"/>
                </a:solidFill>
              </a:rPr>
              <a:t>Sinyal naik-turun, berisik</a:t>
            </a:r>
            <a:endParaRPr lang="en-US" sz="1400" dirty="0"/>
          </a:p>
        </p:txBody>
      </p:sp>
      <p:sp>
        <p:nvSpPr>
          <p:cNvPr id="13" name="Text 11"/>
          <p:cNvSpPr txBox="1"/>
          <p:nvPr/>
        </p:nvSpPr>
        <p:spPr>
          <a:xfrm>
            <a:off x="2834640" y="3264408"/>
            <a:ext cx="320040" cy="82296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14" name="Text 12"/>
          <p:cNvSpPr txBox="1"/>
          <p:nvPr/>
        </p:nvSpPr>
        <p:spPr>
          <a:xfrm>
            <a:off x="3154680" y="3264408"/>
            <a:ext cx="2529688" cy="822960"/>
          </a:xfrm>
          <a:prstGeom prst="rect">
            <a:avLst/>
          </a:prstGeom>
          <a:noFill/>
          <a:ln/>
        </p:spPr>
        <p:txBody>
          <a:bodyPr wrap="square" lIns="0" tIns="0" rIns="0" bIns="0" rtlCol="0" anchor="ctr"/>
          <a:lstStyle/>
          <a:p>
            <a:pPr indent="0" marL="0">
              <a:buNone/>
            </a:pPr>
            <a:r>
              <a:rPr lang="en-US" sz="1400" b="1" dirty="0">
                <a:solidFill>
                  <a:schemeClr val="tx2"/>
                </a:solidFill>
              </a:rPr>
              <a:t>Dihaluskan: rata-rata 15 menit terakhir</a:t>
            </a:r>
            <a:endParaRPr lang="en-US" sz="1400" dirty="0"/>
          </a:p>
        </p:txBody>
      </p:sp>
      <p:sp>
        <p:nvSpPr>
          <p:cNvPr id="15" name="Text 13"/>
          <p:cNvSpPr txBox="1"/>
          <p:nvPr/>
        </p:nvSpPr>
        <p:spPr>
          <a:xfrm>
            <a:off x="822960" y="4242816"/>
            <a:ext cx="2011680" cy="822960"/>
          </a:xfrm>
          <a:prstGeom prst="rect">
            <a:avLst/>
          </a:prstGeom>
          <a:noFill/>
          <a:ln/>
        </p:spPr>
        <p:txBody>
          <a:bodyPr wrap="square" lIns="0" tIns="0" rIns="0" bIns="0" rtlCol="0" anchor="ctr"/>
          <a:lstStyle/>
          <a:p>
            <a:pPr indent="0" marL="0">
              <a:buNone/>
            </a:pPr>
            <a:r>
              <a:rPr lang="en-US" sz="1400" dirty="0">
                <a:solidFill>
                  <a:schemeClr val="tx1"/>
                </a:solidFill>
              </a:rPr>
              <a:t>Arah perubahan gas itu penting</a:t>
            </a:r>
            <a:endParaRPr lang="en-US" sz="1400" dirty="0"/>
          </a:p>
        </p:txBody>
      </p:sp>
      <p:sp>
        <p:nvSpPr>
          <p:cNvPr id="16" name="Text 14"/>
          <p:cNvSpPr txBox="1"/>
          <p:nvPr/>
        </p:nvSpPr>
        <p:spPr>
          <a:xfrm>
            <a:off x="2834640" y="4242816"/>
            <a:ext cx="320040" cy="82296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17" name="Text 15"/>
          <p:cNvSpPr txBox="1"/>
          <p:nvPr/>
        </p:nvSpPr>
        <p:spPr>
          <a:xfrm>
            <a:off x="3154680" y="4242816"/>
            <a:ext cx="2529688" cy="822960"/>
          </a:xfrm>
          <a:prstGeom prst="rect">
            <a:avLst/>
          </a:prstGeom>
          <a:noFill/>
          <a:ln/>
        </p:spPr>
        <p:txBody>
          <a:bodyPr wrap="square" lIns="0" tIns="0" rIns="0" bIns="0" rtlCol="0" anchor="ctr"/>
          <a:lstStyle/>
          <a:p>
            <a:pPr indent="0" marL="0">
              <a:buNone/>
            </a:pPr>
            <a:r>
              <a:rPr lang="en-US" sz="1400" b="1" dirty="0">
                <a:solidFill>
                  <a:schemeClr val="tx2"/>
                </a:solidFill>
              </a:rPr>
              <a:t>Kemiringan (slope) 15 menit, hanya dari data masa lalu</a:t>
            </a:r>
            <a:endParaRPr lang="en-US" sz="1400" dirty="0"/>
          </a:p>
        </p:txBody>
      </p:sp>
      <p:sp>
        <p:nvSpPr>
          <p:cNvPr id="18" name="Shape 16"/>
          <p:cNvSpPr/>
          <p:nvPr/>
        </p:nvSpPr>
        <p:spPr>
          <a:xfrm>
            <a:off x="6233008" y="1280160"/>
            <a:ext cx="5410048" cy="4023360"/>
          </a:xfrm>
          <a:prstGeom prst="roundRect">
            <a:avLst>
              <a:gd name="adj" fmla="val 2727"/>
            </a:avLst>
          </a:prstGeom>
          <a:solidFill>
            <a:schemeClr val="bg2"/>
          </a:solidFill>
          <a:ln w="12700">
            <a:solidFill>
              <a:schemeClr val="bg2"/>
            </a:solidFill>
            <a:prstDash val="solid"/>
          </a:ln>
        </p:spPr>
      </p:sp>
      <p:sp>
        <p:nvSpPr>
          <p:cNvPr id="19" name="Text 17"/>
          <p:cNvSpPr txBox="1"/>
          <p:nvPr/>
        </p:nvSpPr>
        <p:spPr>
          <a:xfrm>
            <a:off x="6507328" y="1463040"/>
            <a:ext cx="4861408" cy="41148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AqSolDB</a:t>
            </a:r>
            <a:endParaRPr lang="en-US" sz="1900" dirty="0"/>
          </a:p>
        </p:txBody>
      </p:sp>
      <p:sp>
        <p:nvSpPr>
          <p:cNvPr id="20" name="Text 18"/>
          <p:cNvSpPr txBox="1"/>
          <p:nvPr/>
        </p:nvSpPr>
        <p:spPr>
          <a:xfrm>
            <a:off x="6507328" y="1965960"/>
            <a:ext cx="2011680" cy="228600"/>
          </a:xfrm>
          <a:prstGeom prst="rect">
            <a:avLst/>
          </a:prstGeom>
          <a:noFill/>
          <a:ln/>
        </p:spPr>
        <p:txBody>
          <a:bodyPr wrap="square" lIns="0" tIns="0" rIns="0" bIns="0" rtlCol="0" anchor="ctr"/>
          <a:lstStyle/>
          <a:p>
            <a:pPr indent="0" marL="0">
              <a:buNone/>
            </a:pPr>
            <a:r>
              <a:rPr lang="en-US" sz="1100" b="1" spc="200" kern="0" dirty="0">
                <a:solidFill>
                  <a:srgbClr val="56676A"/>
                </a:solidFill>
              </a:rPr>
              <a:t>MASALAH</a:t>
            </a:r>
            <a:endParaRPr lang="en-US" sz="1100" dirty="0"/>
          </a:p>
        </p:txBody>
      </p:sp>
      <p:sp>
        <p:nvSpPr>
          <p:cNvPr id="21" name="Text 19"/>
          <p:cNvSpPr txBox="1"/>
          <p:nvPr/>
        </p:nvSpPr>
        <p:spPr>
          <a:xfrm>
            <a:off x="8839048" y="1965960"/>
            <a:ext cx="246888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YANG KAMI LAKUKAN</a:t>
            </a:r>
            <a:endParaRPr lang="en-US" sz="1100" dirty="0"/>
          </a:p>
        </p:txBody>
      </p:sp>
      <p:sp>
        <p:nvSpPr>
          <p:cNvPr id="22" name="Text 20"/>
          <p:cNvSpPr txBox="1"/>
          <p:nvPr/>
        </p:nvSpPr>
        <p:spPr>
          <a:xfrm>
            <a:off x="6507328" y="2286000"/>
            <a:ext cx="2011680" cy="822960"/>
          </a:xfrm>
          <a:prstGeom prst="rect">
            <a:avLst/>
          </a:prstGeom>
          <a:noFill/>
          <a:ln/>
        </p:spPr>
        <p:txBody>
          <a:bodyPr wrap="square" lIns="0" tIns="0" rIns="0" bIns="0" rtlCol="0" anchor="ctr"/>
          <a:lstStyle/>
          <a:p>
            <a:pPr indent="0" marL="0">
              <a:buNone/>
            </a:pPr>
            <a:r>
              <a:rPr lang="en-US" sz="1400" dirty="0">
                <a:solidFill>
                  <a:schemeClr val="tx1"/>
                </a:solidFill>
              </a:rPr>
              <a:t>Molekul berupa teks (SMILES)</a:t>
            </a:r>
            <a:endParaRPr lang="en-US" sz="1400" dirty="0"/>
          </a:p>
        </p:txBody>
      </p:sp>
      <p:sp>
        <p:nvSpPr>
          <p:cNvPr id="23" name="Text 21"/>
          <p:cNvSpPr txBox="1"/>
          <p:nvPr/>
        </p:nvSpPr>
        <p:spPr>
          <a:xfrm>
            <a:off x="8519008" y="2286000"/>
            <a:ext cx="320040" cy="82296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24" name="Text 22"/>
          <p:cNvSpPr txBox="1"/>
          <p:nvPr/>
        </p:nvSpPr>
        <p:spPr>
          <a:xfrm>
            <a:off x="8839048" y="2286000"/>
            <a:ext cx="2529688" cy="822960"/>
          </a:xfrm>
          <a:prstGeom prst="rect">
            <a:avLst/>
          </a:prstGeom>
          <a:noFill/>
          <a:ln/>
        </p:spPr>
        <p:txBody>
          <a:bodyPr wrap="square" lIns="0" tIns="0" rIns="0" bIns="0" rtlCol="0" anchor="ctr"/>
          <a:lstStyle/>
          <a:p>
            <a:pPr indent="0" marL="0">
              <a:buNone/>
            </a:pPr>
            <a:r>
              <a:rPr lang="en-US" sz="1400" b="1" dirty="0">
                <a:solidFill>
                  <a:schemeClr val="tx2"/>
                </a:solidFill>
              </a:rPr>
              <a:t>Diubah jadi 207 fitur angka dengan RDKit</a:t>
            </a:r>
            <a:endParaRPr lang="en-US" sz="1400" dirty="0"/>
          </a:p>
        </p:txBody>
      </p:sp>
      <p:sp>
        <p:nvSpPr>
          <p:cNvPr id="25" name="Text 23"/>
          <p:cNvSpPr txBox="1"/>
          <p:nvPr/>
        </p:nvSpPr>
        <p:spPr>
          <a:xfrm>
            <a:off x="6507328" y="3264408"/>
            <a:ext cx="2011680" cy="822960"/>
          </a:xfrm>
          <a:prstGeom prst="rect">
            <a:avLst/>
          </a:prstGeom>
          <a:noFill/>
          <a:ln/>
        </p:spPr>
        <p:txBody>
          <a:bodyPr wrap="square" lIns="0" tIns="0" rIns="0" bIns="0" rtlCol="0" anchor="ctr"/>
          <a:lstStyle/>
          <a:p>
            <a:pPr indent="0" marL="0">
              <a:buNone/>
            </a:pPr>
            <a:r>
              <a:rPr lang="en-US" sz="1400" dirty="0">
                <a:solidFill>
                  <a:schemeClr val="tx1"/>
                </a:solidFill>
              </a:rPr>
              <a:t>Ada nilai kosong dan ekstrem</a:t>
            </a:r>
            <a:endParaRPr lang="en-US" sz="1400" dirty="0"/>
          </a:p>
        </p:txBody>
      </p:sp>
      <p:sp>
        <p:nvSpPr>
          <p:cNvPr id="26" name="Text 24"/>
          <p:cNvSpPr txBox="1"/>
          <p:nvPr/>
        </p:nvSpPr>
        <p:spPr>
          <a:xfrm>
            <a:off x="8519008" y="3264408"/>
            <a:ext cx="320040" cy="82296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27" name="Text 25"/>
          <p:cNvSpPr txBox="1"/>
          <p:nvPr/>
        </p:nvSpPr>
        <p:spPr>
          <a:xfrm>
            <a:off x="8839048" y="3264408"/>
            <a:ext cx="2529688" cy="822960"/>
          </a:xfrm>
          <a:prstGeom prst="rect">
            <a:avLst/>
          </a:prstGeom>
          <a:noFill/>
          <a:ln/>
        </p:spPr>
        <p:txBody>
          <a:bodyPr wrap="square" lIns="0" tIns="0" rIns="0" bIns="0" rtlCol="0" anchor="ctr"/>
          <a:lstStyle/>
          <a:p>
            <a:pPr indent="0" marL="0">
              <a:buNone/>
            </a:pPr>
            <a:r>
              <a:rPr lang="en-US" sz="1400" b="1" dirty="0">
                <a:solidFill>
                  <a:schemeClr val="tx2"/>
                </a:solidFill>
              </a:rPr>
              <a:t>Kolom yang banyak kosong dibuang, ekstrem dipotong, sisanya diisi median</a:t>
            </a:r>
            <a:endParaRPr lang="en-US" sz="1400" dirty="0"/>
          </a:p>
        </p:txBody>
      </p:sp>
      <p:sp>
        <p:nvSpPr>
          <p:cNvPr id="28" name="Text 26"/>
          <p:cNvSpPr txBox="1"/>
          <p:nvPr/>
        </p:nvSpPr>
        <p:spPr>
          <a:xfrm>
            <a:off x="6507328" y="4242816"/>
            <a:ext cx="2011680" cy="822960"/>
          </a:xfrm>
          <a:prstGeom prst="rect">
            <a:avLst/>
          </a:prstGeom>
          <a:noFill/>
          <a:ln/>
        </p:spPr>
        <p:txBody>
          <a:bodyPr wrap="square" lIns="0" tIns="0" rIns="0" bIns="0" rtlCol="0" anchor="ctr"/>
          <a:lstStyle/>
          <a:p>
            <a:pPr indent="0" marL="0">
              <a:buNone/>
            </a:pPr>
            <a:r>
              <a:rPr lang="en-US" sz="1400" dirty="0">
                <a:solidFill>
                  <a:schemeClr val="tx1"/>
                </a:solidFill>
              </a:rPr>
              <a:t>Banyak molekul bersaudara</a:t>
            </a:r>
            <a:endParaRPr lang="en-US" sz="1400" dirty="0"/>
          </a:p>
        </p:txBody>
      </p:sp>
      <p:sp>
        <p:nvSpPr>
          <p:cNvPr id="29" name="Text 27"/>
          <p:cNvSpPr txBox="1"/>
          <p:nvPr/>
        </p:nvSpPr>
        <p:spPr>
          <a:xfrm>
            <a:off x="8519008" y="4242816"/>
            <a:ext cx="320040" cy="82296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30" name="Text 28"/>
          <p:cNvSpPr txBox="1"/>
          <p:nvPr/>
        </p:nvSpPr>
        <p:spPr>
          <a:xfrm>
            <a:off x="8839048" y="4242816"/>
            <a:ext cx="2529688" cy="822960"/>
          </a:xfrm>
          <a:prstGeom prst="rect">
            <a:avLst/>
          </a:prstGeom>
          <a:noFill/>
          <a:ln/>
        </p:spPr>
        <p:txBody>
          <a:bodyPr wrap="square" lIns="0" tIns="0" rIns="0" bIns="0" rtlCol="0" anchor="ctr"/>
          <a:lstStyle/>
          <a:p>
            <a:pPr indent="0" marL="0">
              <a:buNone/>
            </a:pPr>
            <a:r>
              <a:rPr lang="en-US" sz="1400" b="1" dirty="0">
                <a:solidFill>
                  <a:schemeClr val="tx2"/>
                </a:solidFill>
              </a:rPr>
              <a:t>Dikelompokkan per kerangka (scaffold) agar uji adil</a:t>
            </a:r>
            <a:endParaRPr lang="en-US" sz="1400" dirty="0"/>
          </a:p>
        </p:txBody>
      </p:sp>
      <p:sp>
        <p:nvSpPr>
          <p:cNvPr id="31" name="Shape 29"/>
          <p:cNvSpPr/>
          <p:nvPr/>
        </p:nvSpPr>
        <p:spPr>
          <a:xfrm>
            <a:off x="548640" y="5486400"/>
            <a:ext cx="11094415" cy="685800"/>
          </a:xfrm>
          <a:prstGeom prst="roundRect">
            <a:avLst>
              <a:gd name="adj" fmla="val 16000"/>
            </a:avLst>
          </a:prstGeom>
          <a:solidFill>
            <a:schemeClr val="tx2"/>
          </a:solidFill>
          <a:ln w="12700">
            <a:solidFill>
              <a:schemeClr val="tx2"/>
            </a:solidFill>
            <a:prstDash val="solid"/>
          </a:ln>
        </p:spPr>
      </p:sp>
      <p:sp>
        <p:nvSpPr>
          <p:cNvPr id="32" name="Text 30"/>
          <p:cNvSpPr txBox="1"/>
          <p:nvPr/>
        </p:nvSpPr>
        <p:spPr>
          <a:xfrm>
            <a:off x="868680" y="5486400"/>
            <a:ext cx="10454335" cy="685800"/>
          </a:xfrm>
          <a:prstGeom prst="rect">
            <a:avLst/>
          </a:prstGeom>
          <a:noFill/>
          <a:ln/>
        </p:spPr>
        <p:txBody>
          <a:bodyPr wrap="square" lIns="0" tIns="0" rIns="0" bIns="0" rtlCol="0" anchor="ctr"/>
          <a:lstStyle/>
          <a:p>
            <a:pPr indent="0" marL="0">
              <a:buNone/>
            </a:pPr>
            <a:r>
              <a:rPr lang="en-US" sz="1600" b="1" dirty="0">
                <a:solidFill>
                  <a:schemeClr val="accent2"/>
                </a:solidFill>
              </a:rPr>
              <a:t>Prinsip: </a:t>
            </a:r>
            <a:pPr indent="0" marL="0">
              <a:buNone/>
            </a:pPr>
            <a:r>
              <a:rPr lang="en-US" sz="1600" dirty="0">
                <a:solidFill>
                  <a:schemeClr val="bg1"/>
                </a:solidFill>
              </a:rPr>
              <a:t>semua langkah yang "belajar" dari data (median, skala, augmentasi, tuning) dihitung dari data latih saja.</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Jebakan akurasi 99%</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Erlangga</a:t>
            </a:r>
            <a:endParaRPr lang="en-US" sz="1200" dirty="0"/>
          </a:p>
        </p:txBody>
      </p:sp>
      <p:sp>
        <p:nvSpPr>
          <p:cNvPr id="5" name="Shape 3"/>
          <p:cNvSpPr/>
          <p:nvPr/>
        </p:nvSpPr>
        <p:spPr>
          <a:xfrm>
            <a:off x="548640" y="1325880"/>
            <a:ext cx="5396332" cy="3017520"/>
          </a:xfrm>
          <a:prstGeom prst="roundRect">
            <a:avLst>
              <a:gd name="adj" fmla="val 3636"/>
            </a:avLst>
          </a:prstGeom>
          <a:solidFill>
            <a:schemeClr val="bg2"/>
          </a:solidFill>
          <a:ln w="12700">
            <a:solidFill>
              <a:schemeClr val="bg2"/>
            </a:solidFill>
            <a:prstDash val="solid"/>
          </a:ln>
        </p:spPr>
      </p:sp>
      <p:sp>
        <p:nvSpPr>
          <p:cNvPr id="6" name="Text 4"/>
          <p:cNvSpPr txBox="1"/>
          <p:nvPr/>
        </p:nvSpPr>
        <p:spPr>
          <a:xfrm>
            <a:off x="868680" y="1508760"/>
            <a:ext cx="4756252"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E-NOSE · SKOR F1 (↑ LEBIH BAIK)</a:t>
            </a:r>
            <a:endParaRPr lang="en-US" sz="1200" dirty="0"/>
          </a:p>
        </p:txBody>
      </p:sp>
      <p:sp>
        <p:nvSpPr>
          <p:cNvPr id="7" name="Text 5"/>
          <p:cNvSpPr txBox="1"/>
          <p:nvPr/>
        </p:nvSpPr>
        <p:spPr>
          <a:xfrm>
            <a:off x="868680" y="1920240"/>
            <a:ext cx="2377440" cy="868680"/>
          </a:xfrm>
          <a:prstGeom prst="rect">
            <a:avLst/>
          </a:prstGeom>
          <a:noFill/>
          <a:ln/>
        </p:spPr>
        <p:txBody>
          <a:bodyPr wrap="square" lIns="0" tIns="0" rIns="0" bIns="0" rtlCol="0" anchor="b"/>
          <a:lstStyle/>
          <a:p>
            <a:pPr indent="0" marL="0">
              <a:buNone/>
            </a:pPr>
            <a:r>
              <a:rPr lang="en-US" sz="5400" b="1" dirty="0">
                <a:solidFill>
                  <a:schemeClr val="accent4"/>
                </a:solidFill>
                <a:latin typeface="Cambria" pitchFamily="34" charset="0"/>
                <a:ea typeface="Cambria" pitchFamily="34" charset="-122"/>
                <a:cs typeface="Cambria" pitchFamily="34" charset="-120"/>
              </a:rPr>
              <a:t>0,998</a:t>
            </a:r>
            <a:endParaRPr lang="en-US" sz="5400" dirty="0"/>
          </a:p>
        </p:txBody>
      </p:sp>
      <p:sp>
        <p:nvSpPr>
          <p:cNvPr id="8" name="Text 6"/>
          <p:cNvSpPr txBox="1"/>
          <p:nvPr/>
        </p:nvSpPr>
        <p:spPr>
          <a:xfrm>
            <a:off x="868680" y="2834640"/>
            <a:ext cx="2377440" cy="548640"/>
          </a:xfrm>
          <a:prstGeom prst="rect">
            <a:avLst/>
          </a:prstGeom>
          <a:noFill/>
          <a:ln/>
        </p:spPr>
        <p:txBody>
          <a:bodyPr wrap="square" lIns="0" tIns="0" rIns="0" bIns="0" rtlCol="0" anchor="ctr"/>
          <a:lstStyle/>
          <a:p>
            <a:pPr indent="0" marL="0">
              <a:buNone/>
            </a:pPr>
            <a:r>
              <a:rPr lang="en-US" sz="1400" dirty="0">
                <a:solidFill>
                  <a:srgbClr val="56676A"/>
                </a:solidFill>
              </a:rPr>
              <a:t>data dibagi acak</a:t>
            </a:r>
            <a:endParaRPr lang="en-US" sz="1400" dirty="0"/>
          </a:p>
        </p:txBody>
      </p:sp>
      <p:sp>
        <p:nvSpPr>
          <p:cNvPr id="9" name="Text 7"/>
          <p:cNvSpPr txBox="1"/>
          <p:nvPr/>
        </p:nvSpPr>
        <p:spPr>
          <a:xfrm>
            <a:off x="3383280" y="1920240"/>
            <a:ext cx="2377440" cy="86868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0,572</a:t>
            </a:r>
            <a:endParaRPr lang="en-US" sz="5400" dirty="0"/>
          </a:p>
        </p:txBody>
      </p:sp>
      <p:sp>
        <p:nvSpPr>
          <p:cNvPr id="10" name="Text 8"/>
          <p:cNvSpPr txBox="1"/>
          <p:nvPr/>
        </p:nvSpPr>
        <p:spPr>
          <a:xfrm>
            <a:off x="3383280" y="2834640"/>
            <a:ext cx="2377440" cy="548640"/>
          </a:xfrm>
          <a:prstGeom prst="rect">
            <a:avLst/>
          </a:prstGeom>
          <a:noFill/>
          <a:ln/>
        </p:spPr>
        <p:txBody>
          <a:bodyPr wrap="square" lIns="0" tIns="0" rIns="0" bIns="0" rtlCol="0" anchor="ctr"/>
          <a:lstStyle/>
          <a:p>
            <a:pPr indent="0" marL="0">
              <a:buNone/>
            </a:pPr>
            <a:r>
              <a:rPr lang="en-US" sz="1400" dirty="0">
                <a:solidFill>
                  <a:srgbClr val="56676A"/>
                </a:solidFill>
              </a:rPr>
              <a:t>diuji di potongan daging baru</a:t>
            </a:r>
            <a:endParaRPr lang="en-US" sz="1400" dirty="0"/>
          </a:p>
        </p:txBody>
      </p:sp>
      <p:sp>
        <p:nvSpPr>
          <p:cNvPr id="11" name="Text 9"/>
          <p:cNvSpPr txBox="1"/>
          <p:nvPr/>
        </p:nvSpPr>
        <p:spPr>
          <a:xfrm>
            <a:off x="868680" y="3474720"/>
            <a:ext cx="2377440" cy="320040"/>
          </a:xfrm>
          <a:prstGeom prst="rect">
            <a:avLst/>
          </a:prstGeom>
          <a:noFill/>
          <a:ln/>
        </p:spPr>
        <p:txBody>
          <a:bodyPr wrap="square" lIns="0" tIns="0" rIns="0" bIns="0" rtlCol="0" anchor="ctr"/>
          <a:lstStyle/>
          <a:p>
            <a:pPr indent="0" marL="0">
              <a:buNone/>
            </a:pPr>
            <a:r>
              <a:rPr lang="en-US" sz="1300" i="1" dirty="0">
                <a:solidFill>
                  <a:schemeClr val="accent4"/>
                </a:solidFill>
              </a:rPr>
              <a:t>terlalu bagus</a:t>
            </a:r>
            <a:endParaRPr lang="en-US" sz="1300" dirty="0"/>
          </a:p>
        </p:txBody>
      </p:sp>
      <p:sp>
        <p:nvSpPr>
          <p:cNvPr id="12" name="Text 10"/>
          <p:cNvSpPr txBox="1"/>
          <p:nvPr/>
        </p:nvSpPr>
        <p:spPr>
          <a:xfrm>
            <a:off x="3383280" y="3474720"/>
            <a:ext cx="2377440" cy="320040"/>
          </a:xfrm>
          <a:prstGeom prst="rect">
            <a:avLst/>
          </a:prstGeom>
          <a:noFill/>
          <a:ln/>
        </p:spPr>
        <p:txBody>
          <a:bodyPr wrap="square" lIns="0" tIns="0" rIns="0" bIns="0" rtlCol="0" anchor="ctr"/>
          <a:lstStyle/>
          <a:p>
            <a:pPr indent="0" marL="0">
              <a:buNone/>
            </a:pPr>
            <a:r>
              <a:rPr lang="en-US" sz="1300" i="1" dirty="0">
                <a:solidFill>
                  <a:schemeClr val="accent1"/>
                </a:solidFill>
              </a:rPr>
              <a:t>angka jujur</a:t>
            </a:r>
            <a:endParaRPr lang="en-US" sz="1300" dirty="0"/>
          </a:p>
        </p:txBody>
      </p:sp>
      <p:sp>
        <p:nvSpPr>
          <p:cNvPr id="13" name="Shape 11"/>
          <p:cNvSpPr/>
          <p:nvPr/>
        </p:nvSpPr>
        <p:spPr>
          <a:xfrm>
            <a:off x="6246724" y="1325880"/>
            <a:ext cx="5396332" cy="3017520"/>
          </a:xfrm>
          <a:prstGeom prst="roundRect">
            <a:avLst>
              <a:gd name="adj" fmla="val 3636"/>
            </a:avLst>
          </a:prstGeom>
          <a:solidFill>
            <a:schemeClr val="bg2"/>
          </a:solidFill>
          <a:ln w="12700">
            <a:solidFill>
              <a:schemeClr val="bg2"/>
            </a:solidFill>
            <a:prstDash val="solid"/>
          </a:ln>
        </p:spPr>
      </p:sp>
      <p:sp>
        <p:nvSpPr>
          <p:cNvPr id="14" name="Text 12"/>
          <p:cNvSpPr txBox="1"/>
          <p:nvPr/>
        </p:nvSpPr>
        <p:spPr>
          <a:xfrm>
            <a:off x="6566764" y="1508760"/>
            <a:ext cx="4756252"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AQSOLDB · ERROR RMSE (↓ LEBIH BAIK)</a:t>
            </a:r>
            <a:endParaRPr lang="en-US" sz="1200" dirty="0"/>
          </a:p>
        </p:txBody>
      </p:sp>
      <p:sp>
        <p:nvSpPr>
          <p:cNvPr id="15" name="Text 13"/>
          <p:cNvSpPr txBox="1"/>
          <p:nvPr/>
        </p:nvSpPr>
        <p:spPr>
          <a:xfrm>
            <a:off x="6566764" y="1920240"/>
            <a:ext cx="2377440" cy="868680"/>
          </a:xfrm>
          <a:prstGeom prst="rect">
            <a:avLst/>
          </a:prstGeom>
          <a:noFill/>
          <a:ln/>
        </p:spPr>
        <p:txBody>
          <a:bodyPr wrap="square" lIns="0" tIns="0" rIns="0" bIns="0" rtlCol="0" anchor="b"/>
          <a:lstStyle/>
          <a:p>
            <a:pPr indent="0" marL="0">
              <a:buNone/>
            </a:pPr>
            <a:r>
              <a:rPr lang="en-US" sz="5400" b="1" dirty="0">
                <a:solidFill>
                  <a:schemeClr val="accent4"/>
                </a:solidFill>
                <a:latin typeface="Cambria" pitchFamily="34" charset="0"/>
                <a:ea typeface="Cambria" pitchFamily="34" charset="-122"/>
                <a:cs typeface="Cambria" pitchFamily="34" charset="-120"/>
              </a:rPr>
              <a:t>1,013</a:t>
            </a:r>
            <a:endParaRPr lang="en-US" sz="5400" dirty="0"/>
          </a:p>
        </p:txBody>
      </p:sp>
      <p:sp>
        <p:nvSpPr>
          <p:cNvPr id="16" name="Text 14"/>
          <p:cNvSpPr txBox="1"/>
          <p:nvPr/>
        </p:nvSpPr>
        <p:spPr>
          <a:xfrm>
            <a:off x="6566764" y="2834640"/>
            <a:ext cx="2377440" cy="548640"/>
          </a:xfrm>
          <a:prstGeom prst="rect">
            <a:avLst/>
          </a:prstGeom>
          <a:noFill/>
          <a:ln/>
        </p:spPr>
        <p:txBody>
          <a:bodyPr wrap="square" lIns="0" tIns="0" rIns="0" bIns="0" rtlCol="0" anchor="ctr"/>
          <a:lstStyle/>
          <a:p>
            <a:pPr indent="0" marL="0">
              <a:buNone/>
            </a:pPr>
            <a:r>
              <a:rPr lang="en-US" sz="1400" dirty="0">
                <a:solidFill>
                  <a:srgbClr val="56676A"/>
                </a:solidFill>
              </a:rPr>
              <a:t>data dibagi acak</a:t>
            </a:r>
            <a:endParaRPr lang="en-US" sz="1400" dirty="0"/>
          </a:p>
        </p:txBody>
      </p:sp>
      <p:sp>
        <p:nvSpPr>
          <p:cNvPr id="17" name="Text 15"/>
          <p:cNvSpPr txBox="1"/>
          <p:nvPr/>
        </p:nvSpPr>
        <p:spPr>
          <a:xfrm>
            <a:off x="9081364" y="1920240"/>
            <a:ext cx="2377440" cy="86868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1,254</a:t>
            </a:r>
            <a:endParaRPr lang="en-US" sz="5400" dirty="0"/>
          </a:p>
        </p:txBody>
      </p:sp>
      <p:sp>
        <p:nvSpPr>
          <p:cNvPr id="18" name="Text 16"/>
          <p:cNvSpPr txBox="1"/>
          <p:nvPr/>
        </p:nvSpPr>
        <p:spPr>
          <a:xfrm>
            <a:off x="9081364" y="2834640"/>
            <a:ext cx="2377440" cy="548640"/>
          </a:xfrm>
          <a:prstGeom prst="rect">
            <a:avLst/>
          </a:prstGeom>
          <a:noFill/>
          <a:ln/>
        </p:spPr>
        <p:txBody>
          <a:bodyPr wrap="square" lIns="0" tIns="0" rIns="0" bIns="0" rtlCol="0" anchor="ctr"/>
          <a:lstStyle/>
          <a:p>
            <a:pPr indent="0" marL="0">
              <a:buNone/>
            </a:pPr>
            <a:r>
              <a:rPr lang="en-US" sz="1400" dirty="0">
                <a:solidFill>
                  <a:srgbClr val="56676A"/>
                </a:solidFill>
              </a:rPr>
              <a:t>diuji di kerangka molekul baru</a:t>
            </a:r>
            <a:endParaRPr lang="en-US" sz="1400" dirty="0"/>
          </a:p>
        </p:txBody>
      </p:sp>
      <p:sp>
        <p:nvSpPr>
          <p:cNvPr id="19" name="Text 17"/>
          <p:cNvSpPr txBox="1"/>
          <p:nvPr/>
        </p:nvSpPr>
        <p:spPr>
          <a:xfrm>
            <a:off x="6566764" y="3474720"/>
            <a:ext cx="2377440" cy="320040"/>
          </a:xfrm>
          <a:prstGeom prst="rect">
            <a:avLst/>
          </a:prstGeom>
          <a:noFill/>
          <a:ln/>
        </p:spPr>
        <p:txBody>
          <a:bodyPr wrap="square" lIns="0" tIns="0" rIns="0" bIns="0" rtlCol="0" anchor="ctr"/>
          <a:lstStyle/>
          <a:p>
            <a:pPr indent="0" marL="0">
              <a:buNone/>
            </a:pPr>
            <a:r>
              <a:rPr lang="en-US" sz="1300" i="1" dirty="0">
                <a:solidFill>
                  <a:schemeClr val="accent4"/>
                </a:solidFill>
              </a:rPr>
              <a:t>terlalu bagus</a:t>
            </a:r>
            <a:endParaRPr lang="en-US" sz="1300" dirty="0"/>
          </a:p>
        </p:txBody>
      </p:sp>
      <p:sp>
        <p:nvSpPr>
          <p:cNvPr id="20" name="Text 18"/>
          <p:cNvSpPr txBox="1"/>
          <p:nvPr/>
        </p:nvSpPr>
        <p:spPr>
          <a:xfrm>
            <a:off x="9081364" y="3474720"/>
            <a:ext cx="2377440" cy="320040"/>
          </a:xfrm>
          <a:prstGeom prst="rect">
            <a:avLst/>
          </a:prstGeom>
          <a:noFill/>
          <a:ln/>
        </p:spPr>
        <p:txBody>
          <a:bodyPr wrap="square" lIns="0" tIns="0" rIns="0" bIns="0" rtlCol="0" anchor="ctr"/>
          <a:lstStyle/>
          <a:p>
            <a:pPr indent="0" marL="0">
              <a:buNone/>
            </a:pPr>
            <a:r>
              <a:rPr lang="en-US" sz="1300" i="1" dirty="0">
                <a:solidFill>
                  <a:schemeClr val="accent1"/>
                </a:solidFill>
              </a:rPr>
              <a:t>angka jujur</a:t>
            </a:r>
            <a:endParaRPr lang="en-US" sz="1300" dirty="0"/>
          </a:p>
        </p:txBody>
      </p:sp>
      <p:sp>
        <p:nvSpPr>
          <p:cNvPr id="21" name="Text 19"/>
          <p:cNvSpPr txBox="1"/>
          <p:nvPr/>
        </p:nvSpPr>
        <p:spPr>
          <a:xfrm>
            <a:off x="548640" y="4572000"/>
            <a:ext cx="11094415" cy="731520"/>
          </a:xfrm>
          <a:prstGeom prst="rect">
            <a:avLst/>
          </a:prstGeom>
          <a:noFill/>
          <a:ln/>
        </p:spPr>
        <p:txBody>
          <a:bodyPr wrap="square" lIns="0" tIns="0" rIns="0" bIns="0" rtlCol="0" anchor="t"/>
          <a:lstStyle/>
          <a:p>
            <a:pPr indent="0" marL="0">
              <a:buNone/>
            </a:pPr>
            <a:r>
              <a:rPr lang="en-US" sz="1500" b="1" dirty="0">
                <a:solidFill>
                  <a:schemeClr val="tx1"/>
                </a:solidFill>
              </a:rPr>
              <a:t>Kenapa? </a:t>
            </a:r>
            <a:pPr indent="0" marL="0">
              <a:buNone/>
            </a:pPr>
            <a:r>
              <a:rPr lang="en-US" sz="1500" dirty="0">
                <a:solidFill>
                  <a:schemeClr val="tx1"/>
                </a:solidFill>
              </a:rPr>
              <a:t>Kalau dibagi acak, menit ke-100 masuk data latih dan menit ke-101 masuk data uji. Nilainya hampir sama, jadi model seperti ujian dengan soal yang sudah bocor.</a:t>
            </a:r>
            <a:endParaRPr lang="en-US" sz="1500" dirty="0"/>
          </a:p>
        </p:txBody>
      </p:sp>
      <p:sp>
        <p:nvSpPr>
          <p:cNvPr id="22" name="Shape 20"/>
          <p:cNvSpPr/>
          <p:nvPr/>
        </p:nvSpPr>
        <p:spPr>
          <a:xfrm>
            <a:off x="548640" y="5440680"/>
            <a:ext cx="11094415" cy="685800"/>
          </a:xfrm>
          <a:prstGeom prst="roundRect">
            <a:avLst>
              <a:gd name="adj" fmla="val 16000"/>
            </a:avLst>
          </a:prstGeom>
          <a:solidFill>
            <a:schemeClr val="tx2"/>
          </a:solidFill>
          <a:ln w="12700">
            <a:solidFill>
              <a:schemeClr val="tx2"/>
            </a:solidFill>
            <a:prstDash val="solid"/>
          </a:ln>
        </p:spPr>
      </p:sp>
      <p:sp>
        <p:nvSpPr>
          <p:cNvPr id="23" name="Text 21"/>
          <p:cNvSpPr txBox="1"/>
          <p:nvPr/>
        </p:nvSpPr>
        <p:spPr>
          <a:xfrm>
            <a:off x="868680" y="5440680"/>
            <a:ext cx="10454335" cy="685800"/>
          </a:xfrm>
          <a:prstGeom prst="rect">
            <a:avLst/>
          </a:prstGeom>
          <a:noFill/>
          <a:ln/>
        </p:spPr>
        <p:txBody>
          <a:bodyPr wrap="square" lIns="0" tIns="0" rIns="0" bIns="0" rtlCol="0" anchor="ctr"/>
          <a:lstStyle/>
          <a:p>
            <a:pPr indent="0" marL="0">
              <a:buNone/>
            </a:pPr>
            <a:r>
              <a:rPr lang="en-US" sz="1600" b="1" dirty="0">
                <a:solidFill>
                  <a:schemeClr val="accent2"/>
                </a:solidFill>
              </a:rPr>
              <a:t>Semua hasil berikutnya memakai uji jujur: </a:t>
            </a:r>
            <a:pPr indent="0" marL="0">
              <a:buNone/>
            </a:pPr>
            <a:r>
              <a:rPr lang="en-US" sz="1600" dirty="0">
                <a:solidFill>
                  <a:schemeClr val="bg1"/>
                </a:solidFill>
              </a:rPr>
              <a:t>Leave-One-Series-Out (e-nose) dan scaffold split (AqSolDB).</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Imbalance dan augmentasi</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Michael</a:t>
            </a:r>
            <a:endParaRPr lang="en-US" sz="1200" dirty="0"/>
          </a:p>
        </p:txBody>
      </p:sp>
      <p:pic>
        <p:nvPicPr>
          <p:cNvPr id="5" name="Image 0" descr="/Users/angga0704/ets-ml2-kelompok/deck/figures/s07_augment.png">    </p:cNvPr>
          <p:cNvPicPr>
            <a:picLocks noChangeAspect="1"/>
          </p:cNvPicPr>
          <p:nvPr/>
        </p:nvPicPr>
        <p:blipFill>
          <a:blip r:embed="rId1"/>
          <a:stretch>
            <a:fillRect/>
          </a:stretch>
        </p:blipFill>
        <p:spPr>
          <a:xfrm>
            <a:off x="979371" y="1234440"/>
            <a:ext cx="5082139" cy="4023360"/>
          </a:xfrm>
          <a:prstGeom prst="rect">
            <a:avLst/>
          </a:prstGeom>
        </p:spPr>
      </p:pic>
      <p:sp>
        <p:nvSpPr>
          <p:cNvPr id="6" name="Shape 3"/>
          <p:cNvSpPr/>
          <p:nvPr/>
        </p:nvSpPr>
        <p:spPr>
          <a:xfrm>
            <a:off x="6720840" y="1234440"/>
            <a:ext cx="4922215" cy="4023360"/>
          </a:xfrm>
          <a:prstGeom prst="roundRect">
            <a:avLst>
              <a:gd name="adj" fmla="val 2727"/>
            </a:avLst>
          </a:prstGeom>
          <a:solidFill>
            <a:schemeClr val="bg2"/>
          </a:solidFill>
          <a:ln w="12700">
            <a:solidFill>
              <a:schemeClr val="bg2"/>
            </a:solidFill>
            <a:prstDash val="solid"/>
          </a:ln>
        </p:spPr>
      </p:sp>
      <p:sp>
        <p:nvSpPr>
          <p:cNvPr id="7" name="Text 4"/>
          <p:cNvSpPr txBox="1"/>
          <p:nvPr/>
        </p:nvSpPr>
        <p:spPr>
          <a:xfrm>
            <a:off x="6995160" y="1417320"/>
            <a:ext cx="4373575" cy="3703320"/>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Kenapa perlu?</a:t>
            </a:r>
            <a:endParaRPr lang="en-US" sz="1300" dirty="0"/>
          </a:p>
          <a:p>
            <a:pPr marL="342900" indent="-342900">
              <a:spcAft>
                <a:spcPts val="400"/>
              </a:spcAft>
              <a:buSzPct val="100000"/>
              <a:buChar char="•"/>
            </a:pPr>
            <a:r>
              <a:rPr lang="en-US" sz="1300" dirty="0">
                <a:solidFill>
                  <a:schemeClr val="tx1"/>
                </a:solidFill>
              </a:rPr>
              <a:t>Kelas tidak seimbang: "busuk" 4.200 baris, "sangat segar" 1.680 baris.</a:t>
            </a:r>
            <a:endParaRPr lang="en-US" sz="1300" dirty="0"/>
          </a:p>
          <a:p>
            <a:pPr marL="342900" indent="-342900">
              <a:spcAft>
                <a:spcPts val="400"/>
              </a:spcAft>
              <a:buSzPct val="100000"/>
              <a:buChar char="•"/>
            </a:pPr>
            <a:r>
              <a:rPr lang="en-US" sz="1300" dirty="0">
                <a:solidFill>
                  <a:schemeClr val="tx1"/>
                </a:solidFill>
              </a:rPr>
              <a:t>Hanya 5 potongan daging, variasinya sedikit.</a:t>
            </a:r>
            <a:endParaRPr lang="en-US" sz="1300" dirty="0"/>
          </a:p>
          <a:p>
            <a:pPr indent="0" marL="0">
              <a:spcAft>
                <a:spcPts val="400"/>
              </a:spcAft>
              <a:buNone/>
            </a:pPr>
            <a:r>
              <a:rPr lang="en-US" sz="1400" b="1" dirty="0">
                <a:solidFill>
                  <a:schemeClr val="accent1"/>
                </a:solidFill>
              </a:rPr>
              <a:t>Bagaimana?</a:t>
            </a:r>
            <a:endParaRPr lang="en-US" sz="1300" dirty="0"/>
          </a:p>
          <a:p>
            <a:pPr marL="342900" indent="-342900">
              <a:spcAft>
                <a:spcPts val="400"/>
              </a:spcAft>
              <a:buSzPct val="100000"/>
              <a:buChar char="•"/>
            </a:pPr>
            <a:r>
              <a:rPr lang="en-US" sz="1300" dirty="0">
                <a:solidFill>
                  <a:schemeClr val="tx1"/>
                </a:solidFill>
              </a:rPr>
              <a:t>Imbalance: class weight, SMOTE, undersampling.</a:t>
            </a:r>
            <a:endParaRPr lang="en-US" sz="1300" dirty="0"/>
          </a:p>
          <a:p>
            <a:pPr marL="342900" indent="-342900">
              <a:spcAft>
                <a:spcPts val="400"/>
              </a:spcAft>
              <a:buSzPct val="100000"/>
              <a:buChar char="•"/>
            </a:pPr>
            <a:r>
              <a:rPr lang="en-US" sz="1300" dirty="0">
                <a:solidFill>
                  <a:schemeClr val="tx1"/>
                </a:solidFill>
              </a:rPr>
              <a:t>Augmentasi: jitter = tambah derau kecil; scaling = sinyal dikalikan, seolah sensor beda kepekaan. Hanya di data latih.</a:t>
            </a:r>
            <a:endParaRPr lang="en-US" sz="1300" dirty="0"/>
          </a:p>
          <a:p>
            <a:pPr indent="0" marL="0">
              <a:spcAft>
                <a:spcPts val="400"/>
              </a:spcAft>
              <a:buNone/>
            </a:pPr>
            <a:r>
              <a:rPr lang="en-US" sz="1400" b="1" dirty="0">
                <a:solidFill>
                  <a:schemeClr val="accent1"/>
                </a:solidFill>
              </a:rPr>
              <a:t>Hasilnya</a:t>
            </a:r>
            <a:endParaRPr lang="en-US" sz="1300" dirty="0"/>
          </a:p>
          <a:p>
            <a:pPr marL="342900" indent="-342900">
              <a:spcAft>
                <a:spcPts val="400"/>
              </a:spcAft>
              <a:buSzPct val="100000"/>
              <a:buChar char="•"/>
            </a:pPr>
            <a:r>
              <a:rPr lang="en-US" sz="1300" dirty="0">
                <a:solidFill>
                  <a:schemeClr val="tx1"/>
                </a:solidFill>
              </a:rPr>
              <a:t>Scaling: Logistic Regression naik 0,505 → 0,552, LightGBM turun 0,572 → 0,507.</a:t>
            </a:r>
            <a:endParaRPr lang="en-US" sz="1300" dirty="0"/>
          </a:p>
          <a:p>
            <a:pPr marL="342900" indent="-342900">
              <a:spcAft>
                <a:spcPts val="400"/>
              </a:spcAft>
              <a:buSzPct val="100000"/>
              <a:buChar char="•"/>
            </a:pPr>
            <a:r>
              <a:rPr lang="en-US" sz="1300" dirty="0">
                <a:solidFill>
                  <a:schemeClr val="tx1"/>
                </a:solidFill>
              </a:rPr>
              <a:t>Imbalance: F1 hanya bergeser ±0,02; undersampling menaikkan recall "sangat segar" 0,907 → 0,965.</a:t>
            </a:r>
            <a:endParaRPr lang="en-US" sz="1300" dirty="0"/>
          </a:p>
        </p:txBody>
      </p:sp>
      <p:sp>
        <p:nvSpPr>
          <p:cNvPr id="8" name="Shape 5"/>
          <p:cNvSpPr/>
          <p:nvPr/>
        </p:nvSpPr>
        <p:spPr>
          <a:xfrm>
            <a:off x="548640" y="5486400"/>
            <a:ext cx="11094415" cy="685800"/>
          </a:xfrm>
          <a:prstGeom prst="roundRect">
            <a:avLst>
              <a:gd name="adj" fmla="val 16000"/>
            </a:avLst>
          </a:prstGeom>
          <a:solidFill>
            <a:schemeClr val="tx2"/>
          </a:solidFill>
          <a:ln w="12700">
            <a:solidFill>
              <a:schemeClr val="tx2"/>
            </a:solidFill>
            <a:prstDash val="solid"/>
          </a:ln>
        </p:spPr>
      </p:sp>
      <p:sp>
        <p:nvSpPr>
          <p:cNvPr id="9" name="Text 6"/>
          <p:cNvSpPr txBox="1"/>
          <p:nvPr/>
        </p:nvSpPr>
        <p:spPr>
          <a:xfrm>
            <a:off x="868680" y="5486400"/>
            <a:ext cx="10454335" cy="685800"/>
          </a:xfrm>
          <a:prstGeom prst="rect">
            <a:avLst/>
          </a:prstGeom>
          <a:noFill/>
          <a:ln/>
        </p:spPr>
        <p:txBody>
          <a:bodyPr wrap="square" lIns="0" tIns="0" rIns="0" bIns="0" rtlCol="0" anchor="ctr"/>
          <a:lstStyle/>
          <a:p>
            <a:pPr indent="0" marL="0">
              <a:buNone/>
            </a:pPr>
            <a:r>
              <a:rPr lang="en-US" sz="1600" b="1" dirty="0">
                <a:solidFill>
                  <a:schemeClr val="accent2"/>
                </a:solidFill>
              </a:rPr>
              <a:t>Kesimpulan: </a:t>
            </a:r>
            <a:pPr indent="0" marL="0">
              <a:buNone/>
            </a:pPr>
            <a:r>
              <a:rPr lang="en-US" sz="1600" dirty="0">
                <a:solidFill>
                  <a:schemeClr val="bg1"/>
                </a:solidFill>
              </a:rPr>
              <a:t>augmentasi dan imbalance bukan obat mujarab; manfaatnya bergantung model dan harus dibuktikan dengan uji jujur.</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Ensemble: gabungan model menang</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Michael</a:t>
            </a:r>
            <a:endParaRPr lang="en-US" sz="1200" dirty="0"/>
          </a:p>
        </p:txBody>
      </p:sp>
      <p:sp>
        <p:nvSpPr>
          <p:cNvPr id="5" name="Text 3"/>
          <p:cNvSpPr txBox="1"/>
          <p:nvPr/>
        </p:nvSpPr>
        <p:spPr>
          <a:xfrm>
            <a:off x="548640" y="1188720"/>
            <a:ext cx="11094415" cy="457200"/>
          </a:xfrm>
          <a:prstGeom prst="rect">
            <a:avLst/>
          </a:prstGeom>
          <a:noFill/>
          <a:ln/>
        </p:spPr>
        <p:txBody>
          <a:bodyPr wrap="square" lIns="0" tIns="0" rIns="0" bIns="0" rtlCol="0" anchor="t"/>
          <a:lstStyle/>
          <a:p>
            <a:pPr indent="0" marL="0">
              <a:buNone/>
            </a:pPr>
            <a:r>
              <a:rPr lang="en-US" sz="1500" b="1" dirty="0">
                <a:solidFill>
                  <a:schemeClr val="tx1"/>
                </a:solidFill>
              </a:rPr>
              <a:t>Ensemble = menggabungkan banyak model.  </a:t>
            </a:r>
            <a:pPr indent="0" marL="0">
              <a:buNone/>
            </a:pPr>
            <a:r>
              <a:rPr lang="en-US" sz="1500" dirty="0">
                <a:solidFill>
                  <a:schemeClr val="tx1"/>
                </a:solidFill>
              </a:rPr>
              <a:t>Bagging: Random Forest  ·  Boosting: XGBoost, LightGBM  ·  Stacking: satu model menggabungkan prediksi model lain</a:t>
            </a:r>
            <a:endParaRPr lang="en-US" sz="1500" dirty="0"/>
          </a:p>
        </p:txBody>
      </p:sp>
      <p:pic>
        <p:nvPicPr>
          <p:cNvPr id="6" name="Image 0" descr="/Users/angga0704/ets-ml2-kelompok/deck/figures/s08_enose_ensemble.png">    </p:cNvPr>
          <p:cNvPicPr>
            <a:picLocks noChangeAspect="1"/>
          </p:cNvPicPr>
          <p:nvPr/>
        </p:nvPicPr>
        <p:blipFill>
          <a:blip r:embed="rId1"/>
          <a:stretch>
            <a:fillRect/>
          </a:stretch>
        </p:blipFill>
        <p:spPr>
          <a:xfrm>
            <a:off x="1026100" y="1691640"/>
            <a:ext cx="4441412" cy="3520440"/>
          </a:xfrm>
          <a:prstGeom prst="rect">
            <a:avLst/>
          </a:prstGeom>
        </p:spPr>
      </p:pic>
      <p:pic>
        <p:nvPicPr>
          <p:cNvPr id="7" name="Image 1" descr="/Users/angga0704/ets-ml2-kelompok/deck/figures/s09_sol_ensemble.png">    </p:cNvPr>
          <p:cNvPicPr>
            <a:picLocks noChangeAspect="1"/>
          </p:cNvPicPr>
          <p:nvPr/>
        </p:nvPicPr>
        <p:blipFill>
          <a:blip r:embed="rId2"/>
          <a:stretch>
            <a:fillRect/>
          </a:stretch>
        </p:blipFill>
        <p:spPr>
          <a:xfrm>
            <a:off x="6246724" y="1889185"/>
            <a:ext cx="5396332" cy="3125349"/>
          </a:xfrm>
          <a:prstGeom prst="rect">
            <a:avLst/>
          </a:prstGeom>
        </p:spPr>
      </p:pic>
      <p:sp>
        <p:nvSpPr>
          <p:cNvPr id="8" name="Shape 4"/>
          <p:cNvSpPr/>
          <p:nvPr/>
        </p:nvSpPr>
        <p:spPr>
          <a:xfrm>
            <a:off x="548640" y="5349240"/>
            <a:ext cx="5396332" cy="822960"/>
          </a:xfrm>
          <a:prstGeom prst="roundRect">
            <a:avLst>
              <a:gd name="adj" fmla="val 13333"/>
            </a:avLst>
          </a:prstGeom>
          <a:solidFill>
            <a:schemeClr val="tx2"/>
          </a:solidFill>
          <a:ln w="12700">
            <a:solidFill>
              <a:schemeClr val="tx2"/>
            </a:solidFill>
            <a:prstDash val="solid"/>
          </a:ln>
        </p:spPr>
      </p:sp>
      <p:sp>
        <p:nvSpPr>
          <p:cNvPr id="9" name="Text 5"/>
          <p:cNvSpPr txBox="1"/>
          <p:nvPr/>
        </p:nvSpPr>
        <p:spPr>
          <a:xfrm>
            <a:off x="822960" y="5349240"/>
            <a:ext cx="4847692" cy="822960"/>
          </a:xfrm>
          <a:prstGeom prst="rect">
            <a:avLst/>
          </a:prstGeom>
          <a:noFill/>
          <a:ln/>
        </p:spPr>
        <p:txBody>
          <a:bodyPr wrap="square" lIns="0" tIns="0" rIns="0" bIns="0" rtlCol="0" anchor="ctr"/>
          <a:lstStyle/>
          <a:p>
            <a:pPr indent="0" marL="0">
              <a:buNone/>
            </a:pPr>
            <a:r>
              <a:rPr lang="en-US" sz="1400" b="1" dirty="0">
                <a:solidFill>
                  <a:schemeClr val="accent2"/>
                </a:solidFill>
              </a:rPr>
              <a:t>XGBoost 0,911</a:t>
            </a:r>
            <a:pPr indent="0" marL="0">
              <a:buNone/>
            </a:pPr>
            <a:r>
              <a:rPr lang="en-US" sz="1400" dirty="0">
                <a:solidFill>
                  <a:schemeClr val="bg1"/>
                </a:solidFill>
              </a:rPr>
              <a:t> vs model tunggal terbaik (Decision Tree) 0,774; naik-turunnya 4× lebih kecil antar potongan daging</a:t>
            </a:r>
            <a:endParaRPr lang="en-US" sz="1400" dirty="0"/>
          </a:p>
        </p:txBody>
      </p:sp>
      <p:sp>
        <p:nvSpPr>
          <p:cNvPr id="10" name="Shape 6"/>
          <p:cNvSpPr/>
          <p:nvPr/>
        </p:nvSpPr>
        <p:spPr>
          <a:xfrm>
            <a:off x="6246724" y="5349240"/>
            <a:ext cx="5396332" cy="822960"/>
          </a:xfrm>
          <a:prstGeom prst="roundRect">
            <a:avLst>
              <a:gd name="adj" fmla="val 13333"/>
            </a:avLst>
          </a:prstGeom>
          <a:solidFill>
            <a:schemeClr val="tx2"/>
          </a:solidFill>
          <a:ln w="12700">
            <a:solidFill>
              <a:schemeClr val="tx2"/>
            </a:solidFill>
            <a:prstDash val="solid"/>
          </a:ln>
        </p:spPr>
      </p:sp>
      <p:sp>
        <p:nvSpPr>
          <p:cNvPr id="11" name="Text 7"/>
          <p:cNvSpPr txBox="1"/>
          <p:nvPr/>
        </p:nvSpPr>
        <p:spPr>
          <a:xfrm>
            <a:off x="6521044" y="5349240"/>
            <a:ext cx="4847692" cy="822960"/>
          </a:xfrm>
          <a:prstGeom prst="rect">
            <a:avLst/>
          </a:prstGeom>
          <a:noFill/>
          <a:ln/>
        </p:spPr>
        <p:txBody>
          <a:bodyPr wrap="square" lIns="0" tIns="0" rIns="0" bIns="0" rtlCol="0" anchor="ctr"/>
          <a:lstStyle/>
          <a:p>
            <a:pPr indent="0" marL="0">
              <a:buNone/>
            </a:pPr>
            <a:r>
              <a:rPr lang="en-US" sz="1400" b="1" dirty="0">
                <a:solidFill>
                  <a:schemeClr val="accent2"/>
                </a:solidFill>
              </a:rPr>
              <a:t>Stacking 1,222</a:t>
            </a:r>
            <a:pPr indent="0" marL="0">
              <a:buNone/>
            </a:pPr>
            <a:r>
              <a:rPr lang="en-US" sz="1400" dirty="0">
                <a:solidFill>
                  <a:schemeClr val="bg1"/>
                </a:solidFill>
              </a:rPr>
              <a:t> vs model tunggal terbaik (SVR) 1,335; error turun ±8%</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Apa yang dipelajari model? (SHAP)</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Michael</a:t>
            </a:r>
            <a:endParaRPr lang="en-US" sz="1200" dirty="0"/>
          </a:p>
        </p:txBody>
      </p:sp>
      <p:pic>
        <p:nvPicPr>
          <p:cNvPr id="5" name="Image 0" descr="/Users/angga0704/ets-ml2-kelompok/deck/figures/s14_shap_sol.png">    </p:cNvPr>
          <p:cNvPicPr>
            <a:picLocks noChangeAspect="1"/>
          </p:cNvPicPr>
          <p:nvPr/>
        </p:nvPicPr>
        <p:blipFill>
          <a:blip r:embed="rId1"/>
          <a:stretch>
            <a:fillRect/>
          </a:stretch>
        </p:blipFill>
        <p:spPr>
          <a:xfrm>
            <a:off x="548640" y="1472492"/>
            <a:ext cx="5396332" cy="3455817"/>
          </a:xfrm>
          <a:prstGeom prst="rect">
            <a:avLst/>
          </a:prstGeom>
        </p:spPr>
      </p:pic>
      <p:pic>
        <p:nvPicPr>
          <p:cNvPr id="6" name="Image 1" descr="/Users/angga0704/ets-ml2-kelompok/deck/figures/s14_shap_enose.png">    </p:cNvPr>
          <p:cNvPicPr>
            <a:picLocks noChangeAspect="1"/>
          </p:cNvPicPr>
          <p:nvPr/>
        </p:nvPicPr>
        <p:blipFill>
          <a:blip r:embed="rId2"/>
          <a:stretch>
            <a:fillRect/>
          </a:stretch>
        </p:blipFill>
        <p:spPr>
          <a:xfrm>
            <a:off x="6248841" y="1234440"/>
            <a:ext cx="5392096" cy="3931920"/>
          </a:xfrm>
          <a:prstGeom prst="rect">
            <a:avLst/>
          </a:prstGeom>
        </p:spPr>
      </p:pic>
      <p:sp>
        <p:nvSpPr>
          <p:cNvPr id="7" name="Text 3"/>
          <p:cNvSpPr txBox="1"/>
          <p:nvPr/>
        </p:nvSpPr>
        <p:spPr>
          <a:xfrm>
            <a:off x="548640" y="5303520"/>
            <a:ext cx="11094415" cy="960120"/>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Kelarutan: </a:t>
            </a:r>
            <a:pPr indent="0" marL="0">
              <a:spcAft>
                <a:spcPts val="400"/>
              </a:spcAft>
              <a:buNone/>
            </a:pPr>
            <a:r>
              <a:rPr lang="en-US" sz="1400" dirty="0">
                <a:solidFill>
                  <a:schemeClr val="tx1"/>
                </a:solidFill>
              </a:rPr>
              <a:t>MolLogP (seberapa "suka lemak" molekulnya) paling berpengaruh. Makin suka lemak, makin sulit larut di air: cocok dengan teori kimia.</a:t>
            </a:r>
            <a:endParaRPr lang="en-US" sz="1400" dirty="0"/>
          </a:p>
          <a:p>
            <a:pPr indent="0" marL="0">
              <a:spcAft>
                <a:spcPts val="400"/>
              </a:spcAft>
              <a:buNone/>
            </a:pPr>
            <a:r>
              <a:rPr lang="en-US" sz="1400" b="1" dirty="0">
                <a:solidFill>
                  <a:schemeClr val="accent1"/>
                </a:solidFill>
              </a:rPr>
              <a:t>E-nose: </a:t>
            </a:r>
            <a:pPr indent="0" marL="0">
              <a:spcAft>
                <a:spcPts val="400"/>
              </a:spcAft>
              <a:buNone/>
            </a:pPr>
            <a:r>
              <a:rPr lang="en-US" sz="1400" dirty="0">
                <a:solidFill>
                  <a:schemeClr val="tx1"/>
                </a:solidFill>
              </a:rPr>
              <a:t>sensor MQ4 (metana) dan MQ8 (hidrogen) paling menentukan; MQ135 yang dipakai skripsi Erlangga kecil (0,26). Ini masukan untuk pemilihan sensor.</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Reinforcement: agen memilih data untuk dilabeli</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Rijal</a:t>
            </a:r>
            <a:endParaRPr lang="en-US" sz="1200" dirty="0"/>
          </a:p>
        </p:txBody>
      </p:sp>
      <p:sp>
        <p:nvSpPr>
          <p:cNvPr id="5" name="Shape 3"/>
          <p:cNvSpPr/>
          <p:nvPr/>
        </p:nvSpPr>
        <p:spPr>
          <a:xfrm>
            <a:off x="548640" y="1234440"/>
            <a:ext cx="4572000" cy="4069080"/>
          </a:xfrm>
          <a:prstGeom prst="roundRect">
            <a:avLst>
              <a:gd name="adj" fmla="val 2697"/>
            </a:avLst>
          </a:prstGeom>
          <a:solidFill>
            <a:schemeClr val="bg2"/>
          </a:solidFill>
          <a:ln w="12700">
            <a:solidFill>
              <a:schemeClr val="bg2"/>
            </a:solidFill>
            <a:prstDash val="solid"/>
          </a:ln>
        </p:spPr>
      </p:sp>
      <p:sp>
        <p:nvSpPr>
          <p:cNvPr id="6" name="Text 4"/>
          <p:cNvSpPr txBox="1"/>
          <p:nvPr/>
        </p:nvSpPr>
        <p:spPr>
          <a:xfrm>
            <a:off x="822960" y="1417320"/>
            <a:ext cx="402336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DIULANG 20 PUTARAN</a:t>
            </a:r>
            <a:endParaRPr lang="en-US" sz="1200" dirty="0"/>
          </a:p>
        </p:txBody>
      </p:sp>
      <p:sp>
        <p:nvSpPr>
          <p:cNvPr id="7" name="Shape 5"/>
          <p:cNvSpPr/>
          <p:nvPr/>
        </p:nvSpPr>
        <p:spPr>
          <a:xfrm>
            <a:off x="822960" y="1874520"/>
            <a:ext cx="438912" cy="438912"/>
          </a:xfrm>
          <a:prstGeom prst="ellipse">
            <a:avLst/>
          </a:prstGeom>
          <a:solidFill>
            <a:schemeClr val="accent1"/>
          </a:solidFill>
          <a:ln w="12700">
            <a:solidFill>
              <a:schemeClr val="accent1"/>
            </a:solidFill>
            <a:prstDash val="solid"/>
          </a:ln>
        </p:spPr>
      </p:sp>
      <p:sp>
        <p:nvSpPr>
          <p:cNvPr id="8" name="Text 6"/>
          <p:cNvSpPr txBox="1"/>
          <p:nvPr/>
        </p:nvSpPr>
        <p:spPr>
          <a:xfrm>
            <a:off x="822960" y="187452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7"/>
          <p:cNvSpPr txBox="1"/>
          <p:nvPr/>
        </p:nvSpPr>
        <p:spPr>
          <a:xfrm>
            <a:off x="1417320" y="1828800"/>
            <a:ext cx="3474720" cy="310896"/>
          </a:xfrm>
          <a:prstGeom prst="rect">
            <a:avLst/>
          </a:prstGeom>
          <a:noFill/>
          <a:ln/>
        </p:spPr>
        <p:txBody>
          <a:bodyPr wrap="square" lIns="0" tIns="0" rIns="0" bIns="0" rtlCol="0" anchor="ctr"/>
          <a:lstStyle/>
          <a:p>
            <a:pPr indent="0" marL="0">
              <a:buNone/>
            </a:pPr>
            <a:r>
              <a:rPr lang="en-US" sz="1500" b="1" dirty="0">
                <a:solidFill>
                  <a:schemeClr val="tx2"/>
                </a:solidFill>
              </a:rPr>
              <a:t>Agen memilih strategi</a:t>
            </a:r>
            <a:endParaRPr lang="en-US" sz="1500" dirty="0"/>
          </a:p>
        </p:txBody>
      </p:sp>
      <p:sp>
        <p:nvSpPr>
          <p:cNvPr id="10" name="Text 8"/>
          <p:cNvSpPr txBox="1"/>
          <p:nvPr/>
        </p:nvSpPr>
        <p:spPr>
          <a:xfrm>
            <a:off x="1417320" y="2139696"/>
            <a:ext cx="3474720" cy="457200"/>
          </a:xfrm>
          <a:prstGeom prst="rect">
            <a:avLst/>
          </a:prstGeom>
          <a:noFill/>
          <a:ln/>
        </p:spPr>
        <p:txBody>
          <a:bodyPr wrap="square" lIns="0" tIns="0" rIns="0" bIns="0" rtlCol="0" anchor="t"/>
          <a:lstStyle/>
          <a:p>
            <a:pPr indent="0" marL="0">
              <a:buNone/>
            </a:pPr>
            <a:r>
              <a:rPr lang="en-US" sz="1250" dirty="0">
                <a:solidFill>
                  <a:schemeClr val="tx1"/>
                </a:solidFill>
              </a:rPr>
              <a:t>acak · paling membuat model ragu · paling berbeda</a:t>
            </a:r>
            <a:endParaRPr lang="en-US" sz="1250" dirty="0"/>
          </a:p>
        </p:txBody>
      </p:sp>
      <p:sp>
        <p:nvSpPr>
          <p:cNvPr id="11" name="Shape 9"/>
          <p:cNvSpPr/>
          <p:nvPr/>
        </p:nvSpPr>
        <p:spPr>
          <a:xfrm>
            <a:off x="822960" y="2715768"/>
            <a:ext cx="438912" cy="438912"/>
          </a:xfrm>
          <a:prstGeom prst="ellipse">
            <a:avLst/>
          </a:prstGeom>
          <a:solidFill>
            <a:schemeClr val="accent1"/>
          </a:solidFill>
          <a:ln w="12700">
            <a:solidFill>
              <a:schemeClr val="accent1"/>
            </a:solidFill>
            <a:prstDash val="solid"/>
          </a:ln>
        </p:spPr>
      </p:sp>
      <p:sp>
        <p:nvSpPr>
          <p:cNvPr id="12" name="Text 10"/>
          <p:cNvSpPr txBox="1"/>
          <p:nvPr/>
        </p:nvSpPr>
        <p:spPr>
          <a:xfrm>
            <a:off x="822960" y="2715768"/>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1"/>
          <p:cNvSpPr txBox="1"/>
          <p:nvPr/>
        </p:nvSpPr>
        <p:spPr>
          <a:xfrm>
            <a:off x="1417320" y="2670048"/>
            <a:ext cx="3474720" cy="310896"/>
          </a:xfrm>
          <a:prstGeom prst="rect">
            <a:avLst/>
          </a:prstGeom>
          <a:noFill/>
          <a:ln/>
        </p:spPr>
        <p:txBody>
          <a:bodyPr wrap="square" lIns="0" tIns="0" rIns="0" bIns="0" rtlCol="0" anchor="ctr"/>
          <a:lstStyle/>
          <a:p>
            <a:pPr indent="0" marL="0">
              <a:buNone/>
            </a:pPr>
            <a:r>
              <a:rPr lang="en-US" sz="1500" b="1" dirty="0">
                <a:solidFill>
                  <a:schemeClr val="tx2"/>
                </a:solidFill>
              </a:rPr>
              <a:t>Minta label 100 data</a:t>
            </a:r>
            <a:endParaRPr lang="en-US" sz="1500" dirty="0"/>
          </a:p>
        </p:txBody>
      </p:sp>
      <p:sp>
        <p:nvSpPr>
          <p:cNvPr id="14" name="Text 12"/>
          <p:cNvSpPr txBox="1"/>
          <p:nvPr/>
        </p:nvSpPr>
        <p:spPr>
          <a:xfrm>
            <a:off x="1417320" y="2980944"/>
            <a:ext cx="3474720" cy="457200"/>
          </a:xfrm>
          <a:prstGeom prst="rect">
            <a:avLst/>
          </a:prstGeom>
          <a:noFill/>
          <a:ln/>
        </p:spPr>
        <p:txBody>
          <a:bodyPr wrap="square" lIns="0" tIns="0" rIns="0" bIns="0" rtlCol="0" anchor="t"/>
          <a:lstStyle/>
          <a:p>
            <a:pPr indent="0" marL="0">
              <a:buNone/>
            </a:pPr>
            <a:r>
              <a:rPr lang="en-US" sz="1250" dirty="0">
                <a:solidFill>
                  <a:schemeClr val="tx1"/>
                </a:solidFill>
              </a:rPr>
              <a:t>diambil dari data yang belum berlabel</a:t>
            </a:r>
            <a:endParaRPr lang="en-US" sz="1250" dirty="0"/>
          </a:p>
        </p:txBody>
      </p:sp>
      <p:sp>
        <p:nvSpPr>
          <p:cNvPr id="15" name="Shape 13"/>
          <p:cNvSpPr/>
          <p:nvPr/>
        </p:nvSpPr>
        <p:spPr>
          <a:xfrm>
            <a:off x="822960" y="3557016"/>
            <a:ext cx="438912" cy="438912"/>
          </a:xfrm>
          <a:prstGeom prst="ellipse">
            <a:avLst/>
          </a:prstGeom>
          <a:solidFill>
            <a:schemeClr val="accent1"/>
          </a:solidFill>
          <a:ln w="12700">
            <a:solidFill>
              <a:schemeClr val="accent1"/>
            </a:solidFill>
            <a:prstDash val="solid"/>
          </a:ln>
        </p:spPr>
      </p:sp>
      <p:sp>
        <p:nvSpPr>
          <p:cNvPr id="16" name="Text 14"/>
          <p:cNvSpPr txBox="1"/>
          <p:nvPr/>
        </p:nvSpPr>
        <p:spPr>
          <a:xfrm>
            <a:off x="822960" y="3557016"/>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1417320" y="3511296"/>
            <a:ext cx="3474720" cy="310896"/>
          </a:xfrm>
          <a:prstGeom prst="rect">
            <a:avLst/>
          </a:prstGeom>
          <a:noFill/>
          <a:ln/>
        </p:spPr>
        <p:txBody>
          <a:bodyPr wrap="square" lIns="0" tIns="0" rIns="0" bIns="0" rtlCol="0" anchor="ctr"/>
          <a:lstStyle/>
          <a:p>
            <a:pPr indent="0" marL="0">
              <a:buNone/>
            </a:pPr>
            <a:r>
              <a:rPr lang="en-US" sz="1500" b="1" dirty="0">
                <a:solidFill>
                  <a:schemeClr val="tx2"/>
                </a:solidFill>
              </a:rPr>
              <a:t>Latih ulang model</a:t>
            </a:r>
            <a:endParaRPr lang="en-US" sz="1500" dirty="0"/>
          </a:p>
        </p:txBody>
      </p:sp>
      <p:sp>
        <p:nvSpPr>
          <p:cNvPr id="18" name="Text 16"/>
          <p:cNvSpPr txBox="1"/>
          <p:nvPr/>
        </p:nvSpPr>
        <p:spPr>
          <a:xfrm>
            <a:off x="1417320" y="3822192"/>
            <a:ext cx="3474720" cy="457200"/>
          </a:xfrm>
          <a:prstGeom prst="rect">
            <a:avLst/>
          </a:prstGeom>
          <a:noFill/>
          <a:ln/>
        </p:spPr>
        <p:txBody>
          <a:bodyPr wrap="square" lIns="0" tIns="0" rIns="0" bIns="0" rtlCol="0" anchor="t"/>
          <a:lstStyle/>
          <a:p>
            <a:pPr indent="0" marL="0">
              <a:buNone/>
            </a:pPr>
            <a:r>
              <a:rPr lang="en-US" sz="1250" dirty="0">
                <a:solidFill>
                  <a:schemeClr val="tx1"/>
                </a:solidFill>
              </a:rPr>
              <a:t>model makin akurat</a:t>
            </a:r>
            <a:endParaRPr lang="en-US" sz="1250" dirty="0"/>
          </a:p>
        </p:txBody>
      </p:sp>
      <p:sp>
        <p:nvSpPr>
          <p:cNvPr id="19" name="Shape 17"/>
          <p:cNvSpPr/>
          <p:nvPr/>
        </p:nvSpPr>
        <p:spPr>
          <a:xfrm>
            <a:off x="822960" y="4398264"/>
            <a:ext cx="438912" cy="438912"/>
          </a:xfrm>
          <a:prstGeom prst="ellipse">
            <a:avLst/>
          </a:prstGeom>
          <a:solidFill>
            <a:schemeClr val="accent2"/>
          </a:solidFill>
          <a:ln w="12700">
            <a:solidFill>
              <a:schemeClr val="accent2"/>
            </a:solidFill>
            <a:prstDash val="solid"/>
          </a:ln>
        </p:spPr>
      </p:sp>
      <p:sp>
        <p:nvSpPr>
          <p:cNvPr id="20" name="Text 18"/>
          <p:cNvSpPr txBox="1"/>
          <p:nvPr/>
        </p:nvSpPr>
        <p:spPr>
          <a:xfrm>
            <a:off x="822960" y="4398264"/>
            <a:ext cx="438912" cy="438912"/>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21" name="Text 19"/>
          <p:cNvSpPr txBox="1"/>
          <p:nvPr/>
        </p:nvSpPr>
        <p:spPr>
          <a:xfrm>
            <a:off x="1417320" y="4352544"/>
            <a:ext cx="3474720" cy="310896"/>
          </a:xfrm>
          <a:prstGeom prst="rect">
            <a:avLst/>
          </a:prstGeom>
          <a:noFill/>
          <a:ln/>
        </p:spPr>
        <p:txBody>
          <a:bodyPr wrap="square" lIns="0" tIns="0" rIns="0" bIns="0" rtlCol="0" anchor="ctr"/>
          <a:lstStyle/>
          <a:p>
            <a:pPr indent="0" marL="0">
              <a:buNone/>
            </a:pPr>
            <a:r>
              <a:rPr lang="en-US" sz="1500" b="1" dirty="0">
                <a:solidFill>
                  <a:schemeClr val="tx2"/>
                </a:solidFill>
              </a:rPr>
              <a:t>Hitung reward</a:t>
            </a:r>
            <a:endParaRPr lang="en-US" sz="1500" dirty="0"/>
          </a:p>
        </p:txBody>
      </p:sp>
      <p:sp>
        <p:nvSpPr>
          <p:cNvPr id="22" name="Text 20"/>
          <p:cNvSpPr txBox="1"/>
          <p:nvPr/>
        </p:nvSpPr>
        <p:spPr>
          <a:xfrm>
            <a:off x="1417320" y="4663440"/>
            <a:ext cx="3474720" cy="457200"/>
          </a:xfrm>
          <a:prstGeom prst="rect">
            <a:avLst/>
          </a:prstGeom>
          <a:noFill/>
          <a:ln/>
        </p:spPr>
        <p:txBody>
          <a:bodyPr wrap="square" lIns="0" tIns="0" rIns="0" bIns="0" rtlCol="0" anchor="t"/>
          <a:lstStyle/>
          <a:p>
            <a:pPr indent="0" marL="0">
              <a:buNone/>
            </a:pPr>
            <a:r>
              <a:rPr lang="en-US" sz="1250" dirty="0">
                <a:solidFill>
                  <a:schemeClr val="tx1"/>
                </a:solidFill>
              </a:rPr>
              <a:t>error turun banyak = strategi bagus, makin sering dipilih</a:t>
            </a:r>
            <a:endParaRPr lang="en-US" sz="1250" dirty="0"/>
          </a:p>
        </p:txBody>
      </p:sp>
      <p:pic>
        <p:nvPicPr>
          <p:cNvPr id="23" name="Image 0" descr="/Users/angga0704/ets-ml2-kelompok/deck/figures/al_hemat.png">    </p:cNvPr>
          <p:cNvPicPr>
            <a:picLocks noChangeAspect="1"/>
          </p:cNvPicPr>
          <p:nvPr/>
        </p:nvPicPr>
        <p:blipFill>
          <a:blip r:embed="rId1"/>
          <a:stretch>
            <a:fillRect/>
          </a:stretch>
        </p:blipFill>
        <p:spPr>
          <a:xfrm>
            <a:off x="5472330" y="1234440"/>
            <a:ext cx="6093355" cy="4069080"/>
          </a:xfrm>
          <a:prstGeom prst="rect">
            <a:avLst/>
          </a:prstGeom>
        </p:spPr>
      </p:pic>
      <p:sp>
        <p:nvSpPr>
          <p:cNvPr id="24" name="Shape 21"/>
          <p:cNvSpPr/>
          <p:nvPr/>
        </p:nvSpPr>
        <p:spPr>
          <a:xfrm>
            <a:off x="548640" y="5440680"/>
            <a:ext cx="11094415" cy="731520"/>
          </a:xfrm>
          <a:prstGeom prst="roundRect">
            <a:avLst>
              <a:gd name="adj" fmla="val 15000"/>
            </a:avLst>
          </a:prstGeom>
          <a:solidFill>
            <a:schemeClr val="tx2"/>
          </a:solidFill>
          <a:ln w="12700">
            <a:solidFill>
              <a:schemeClr val="tx2"/>
            </a:solidFill>
            <a:prstDash val="solid"/>
          </a:ln>
        </p:spPr>
      </p:sp>
      <p:sp>
        <p:nvSpPr>
          <p:cNvPr id="25" name="Text 22"/>
          <p:cNvSpPr txBox="1"/>
          <p:nvPr/>
        </p:nvSpPr>
        <p:spPr>
          <a:xfrm>
            <a:off x="868680" y="5440680"/>
            <a:ext cx="10454335" cy="731520"/>
          </a:xfrm>
          <a:prstGeom prst="rect">
            <a:avLst/>
          </a:prstGeom>
          <a:noFill/>
          <a:ln/>
        </p:spPr>
        <p:txBody>
          <a:bodyPr wrap="square" lIns="0" tIns="0" rIns="0" bIns="0" rtlCol="0" anchor="ctr"/>
          <a:lstStyle/>
          <a:p>
            <a:pPr indent="0" marL="0">
              <a:buNone/>
            </a:pPr>
            <a:r>
              <a:rPr lang="en-US" sz="1600" b="1" dirty="0">
                <a:solidFill>
                  <a:schemeClr val="accent2"/>
                </a:solidFill>
              </a:rPr>
              <a:t>Hemat ±52% label: </a:t>
            </a:r>
            <a:pPr indent="0" marL="0">
              <a:buNone/>
            </a:pPr>
            <a:r>
              <a:rPr lang="en-US" sz="1600" dirty="0">
                <a:solidFill>
                  <a:schemeClr val="bg1"/>
                </a:solidFill>
              </a:rPr>
              <a:t>agen bandit cukup 1.000 label untuk menyamai hasil 2.100 label yang dipilih acak.</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Tambah data: yang penting variasinya</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Rijal</a:t>
            </a:r>
            <a:endParaRPr lang="en-US" sz="1200" dirty="0"/>
          </a:p>
        </p:txBody>
      </p:sp>
      <p:pic>
        <p:nvPicPr>
          <p:cNvPr id="5" name="Image 0" descr="/Users/angga0704/ets-ml2-kelompok/deck/figures/s13_series_curve.png">    </p:cNvPr>
          <p:cNvPicPr>
            <a:picLocks noChangeAspect="1"/>
          </p:cNvPicPr>
          <p:nvPr/>
        </p:nvPicPr>
        <p:blipFill>
          <a:blip r:embed="rId1"/>
          <a:stretch>
            <a:fillRect/>
          </a:stretch>
        </p:blipFill>
        <p:spPr>
          <a:xfrm>
            <a:off x="570506" y="1234440"/>
            <a:ext cx="5259788" cy="4114800"/>
          </a:xfrm>
          <a:prstGeom prst="rect">
            <a:avLst/>
          </a:prstGeom>
        </p:spPr>
      </p:pic>
      <p:sp>
        <p:nvSpPr>
          <p:cNvPr id="6" name="Shape 3"/>
          <p:cNvSpPr/>
          <p:nvPr/>
        </p:nvSpPr>
        <p:spPr>
          <a:xfrm>
            <a:off x="6172200" y="1234440"/>
            <a:ext cx="5470855" cy="1261872"/>
          </a:xfrm>
          <a:prstGeom prst="roundRect">
            <a:avLst>
              <a:gd name="adj" fmla="val 8696"/>
            </a:avLst>
          </a:prstGeom>
          <a:solidFill>
            <a:schemeClr val="bg2"/>
          </a:solidFill>
          <a:ln w="12700">
            <a:solidFill>
              <a:schemeClr val="bg2"/>
            </a:solidFill>
            <a:prstDash val="solid"/>
          </a:ln>
        </p:spPr>
      </p:sp>
      <p:sp>
        <p:nvSpPr>
          <p:cNvPr id="7" name="Text 4"/>
          <p:cNvSpPr txBox="1"/>
          <p:nvPr/>
        </p:nvSpPr>
        <p:spPr>
          <a:xfrm>
            <a:off x="6446520" y="1344168"/>
            <a:ext cx="2194560" cy="1005840"/>
          </a:xfrm>
          <a:prstGeom prst="rect">
            <a:avLst/>
          </a:prstGeom>
          <a:noFill/>
          <a:ln/>
        </p:spPr>
        <p:txBody>
          <a:bodyPr wrap="square" lIns="0" tIns="0" rIns="0" bIns="0" rtlCol="0" anchor="ctr">
            <a:normAutofit/>
          </a:bodyPr>
          <a:lstStyle/>
          <a:p>
            <a:pPr indent="0" marL="0">
              <a:buNone/>
            </a:pPr>
            <a:r>
              <a:rPr lang="en-US" sz="3000" b="1" dirty="0">
                <a:solidFill>
                  <a:schemeClr val="accent1"/>
                </a:solidFill>
                <a:latin typeface="Cambria" pitchFamily="34" charset="0"/>
                <a:ea typeface="Cambria" pitchFamily="34" charset="-122"/>
                <a:cs typeface="Cambria" pitchFamily="34" charset="-120"/>
              </a:rPr>
              <a:t>0,72 → 0,91</a:t>
            </a:r>
            <a:endParaRPr lang="en-US" sz="3000" dirty="0"/>
          </a:p>
        </p:txBody>
      </p:sp>
      <p:sp>
        <p:nvSpPr>
          <p:cNvPr id="8" name="Text 5"/>
          <p:cNvSpPr txBox="1"/>
          <p:nvPr/>
        </p:nvSpPr>
        <p:spPr>
          <a:xfrm>
            <a:off x="8732520" y="1344168"/>
            <a:ext cx="2681935" cy="1042416"/>
          </a:xfrm>
          <a:prstGeom prst="rect">
            <a:avLst/>
          </a:prstGeom>
          <a:noFill/>
          <a:ln/>
        </p:spPr>
        <p:txBody>
          <a:bodyPr wrap="square" lIns="0" tIns="0" rIns="0" bIns="0" rtlCol="0" anchor="ctr"/>
          <a:lstStyle/>
          <a:p>
            <a:pPr indent="0" marL="0">
              <a:buNone/>
            </a:pPr>
            <a:r>
              <a:rPr lang="en-US" sz="1400" dirty="0">
                <a:solidFill>
                  <a:schemeClr val="tx1"/>
                </a:solidFill>
              </a:rPr>
              <a:t>F1 naik saat potongan daging (seri) ditambah dari 1 ke 4</a:t>
            </a:r>
            <a:endParaRPr lang="en-US" sz="1400" dirty="0"/>
          </a:p>
        </p:txBody>
      </p:sp>
      <p:sp>
        <p:nvSpPr>
          <p:cNvPr id="9" name="Shape 6"/>
          <p:cNvSpPr/>
          <p:nvPr/>
        </p:nvSpPr>
        <p:spPr>
          <a:xfrm>
            <a:off x="6172200" y="2633472"/>
            <a:ext cx="5470855" cy="1261872"/>
          </a:xfrm>
          <a:prstGeom prst="roundRect">
            <a:avLst>
              <a:gd name="adj" fmla="val 8696"/>
            </a:avLst>
          </a:prstGeom>
          <a:solidFill>
            <a:schemeClr val="bg2"/>
          </a:solidFill>
          <a:ln w="12700">
            <a:solidFill>
              <a:schemeClr val="bg2"/>
            </a:solidFill>
            <a:prstDash val="solid"/>
          </a:ln>
        </p:spPr>
      </p:sp>
      <p:sp>
        <p:nvSpPr>
          <p:cNvPr id="10" name="Text 7"/>
          <p:cNvSpPr txBox="1"/>
          <p:nvPr/>
        </p:nvSpPr>
        <p:spPr>
          <a:xfrm>
            <a:off x="6446520" y="2743200"/>
            <a:ext cx="2194560" cy="1005840"/>
          </a:xfrm>
          <a:prstGeom prst="rect">
            <a:avLst/>
          </a:prstGeom>
          <a:noFill/>
          <a:ln/>
        </p:spPr>
        <p:txBody>
          <a:bodyPr wrap="square" lIns="0" tIns="0" rIns="0" bIns="0" rtlCol="0" anchor="ctr">
            <a:normAutofit/>
          </a:bodyPr>
          <a:lstStyle/>
          <a:p>
            <a:pPr indent="0" marL="0">
              <a:buNone/>
            </a:pPr>
            <a:r>
              <a:rPr lang="en-US" sz="3000" b="1" dirty="0">
                <a:solidFill>
                  <a:schemeClr val="accent1"/>
                </a:solidFill>
                <a:latin typeface="Cambria" pitchFamily="34" charset="0"/>
                <a:ea typeface="Cambria" pitchFamily="34" charset="-122"/>
                <a:cs typeface="Cambria" pitchFamily="34" charset="-120"/>
              </a:rPr>
              <a:t>0,87 &gt; 0,83</a:t>
            </a:r>
            <a:endParaRPr lang="en-US" sz="3000" dirty="0"/>
          </a:p>
        </p:txBody>
      </p:sp>
      <p:sp>
        <p:nvSpPr>
          <p:cNvPr id="11" name="Text 8"/>
          <p:cNvSpPr txBox="1"/>
          <p:nvPr/>
        </p:nvSpPr>
        <p:spPr>
          <a:xfrm>
            <a:off x="8732520" y="2743200"/>
            <a:ext cx="2681935" cy="1042416"/>
          </a:xfrm>
          <a:prstGeom prst="rect">
            <a:avLst/>
          </a:prstGeom>
          <a:noFill/>
          <a:ln/>
        </p:spPr>
        <p:txBody>
          <a:bodyPr wrap="square" lIns="0" tIns="0" rIns="0" bIns="0" rtlCol="0" anchor="ctr"/>
          <a:lstStyle/>
          <a:p>
            <a:pPr indent="0" marL="0">
              <a:buNone/>
            </a:pPr>
            <a:r>
              <a:rPr lang="en-US" sz="1400" dirty="0">
                <a:solidFill>
                  <a:schemeClr val="tx1"/>
                </a:solidFill>
              </a:rPr>
              <a:t>160 baris dari 4 seri mengalahkan 6.480 baris dari 3 seri</a:t>
            </a:r>
            <a:endParaRPr lang="en-US" sz="1400" dirty="0"/>
          </a:p>
        </p:txBody>
      </p:sp>
      <p:sp>
        <p:nvSpPr>
          <p:cNvPr id="12" name="Shape 9"/>
          <p:cNvSpPr/>
          <p:nvPr/>
        </p:nvSpPr>
        <p:spPr>
          <a:xfrm>
            <a:off x="6172200" y="4032504"/>
            <a:ext cx="5470855" cy="1261872"/>
          </a:xfrm>
          <a:prstGeom prst="roundRect">
            <a:avLst>
              <a:gd name="adj" fmla="val 8696"/>
            </a:avLst>
          </a:prstGeom>
          <a:solidFill>
            <a:schemeClr val="tx2"/>
          </a:solidFill>
          <a:ln w="12700">
            <a:solidFill>
              <a:schemeClr val="tx2"/>
            </a:solidFill>
            <a:prstDash val="solid"/>
          </a:ln>
        </p:spPr>
      </p:sp>
      <p:sp>
        <p:nvSpPr>
          <p:cNvPr id="13" name="Text 10"/>
          <p:cNvSpPr txBox="1"/>
          <p:nvPr/>
        </p:nvSpPr>
        <p:spPr>
          <a:xfrm>
            <a:off x="6446520" y="4142232"/>
            <a:ext cx="2194560" cy="1005840"/>
          </a:xfrm>
          <a:prstGeom prst="rect">
            <a:avLst/>
          </a:prstGeom>
          <a:noFill/>
          <a:ln/>
        </p:spPr>
        <p:txBody>
          <a:bodyPr wrap="square" lIns="0" tIns="0" rIns="0" bIns="0" rtlCol="0" anchor="ctr">
            <a:normAutofit/>
          </a:bodyPr>
          <a:lstStyle/>
          <a:p>
            <a:pPr indent="0" marL="0">
              <a:buNone/>
            </a:pPr>
            <a:r>
              <a:rPr lang="en-US" sz="3000" b="1" dirty="0">
                <a:solidFill>
                  <a:schemeClr val="accent2"/>
                </a:solidFill>
                <a:latin typeface="Cambria" pitchFamily="34" charset="0"/>
                <a:ea typeface="Cambria" pitchFamily="34" charset="-122"/>
                <a:cs typeface="Cambria" pitchFamily="34" charset="-120"/>
              </a:rPr>
              <a:t>0,88</a:t>
            </a:r>
            <a:endParaRPr lang="en-US" sz="3000" dirty="0"/>
          </a:p>
        </p:txBody>
      </p:sp>
      <p:sp>
        <p:nvSpPr>
          <p:cNvPr id="14" name="Text 11"/>
          <p:cNvSpPr txBox="1"/>
          <p:nvPr/>
        </p:nvSpPr>
        <p:spPr>
          <a:xfrm>
            <a:off x="8732520" y="4142232"/>
            <a:ext cx="2681935" cy="1042416"/>
          </a:xfrm>
          <a:prstGeom prst="rect">
            <a:avLst/>
          </a:prstGeom>
          <a:noFill/>
          <a:ln/>
        </p:spPr>
        <p:txBody>
          <a:bodyPr wrap="square" lIns="0" tIns="0" rIns="0" bIns="0" rtlCol="0" anchor="ctr"/>
          <a:lstStyle/>
          <a:p>
            <a:pPr indent="0" marL="0">
              <a:buNone/>
            </a:pPr>
            <a:r>
              <a:rPr lang="en-US" sz="1400" dirty="0">
                <a:solidFill>
                  <a:schemeClr val="bg1"/>
                </a:solidFill>
              </a:rPr>
              <a:t>Di e-nose, pemilihan acak tetap terbaik: masalahnya beda kondisi antar seri, bukan kurang label</a:t>
            </a:r>
            <a:endParaRPr lang="en-US" sz="1400" dirty="0"/>
          </a:p>
        </p:txBody>
      </p:sp>
      <p:sp>
        <p:nvSpPr>
          <p:cNvPr id="15" name="Shape 12"/>
          <p:cNvSpPr/>
          <p:nvPr/>
        </p:nvSpPr>
        <p:spPr>
          <a:xfrm>
            <a:off x="548640" y="5486400"/>
            <a:ext cx="11094415" cy="685800"/>
          </a:xfrm>
          <a:prstGeom prst="roundRect">
            <a:avLst>
              <a:gd name="adj" fmla="val 16000"/>
            </a:avLst>
          </a:prstGeom>
          <a:solidFill>
            <a:schemeClr val="tx2"/>
          </a:solidFill>
          <a:ln w="12700">
            <a:solidFill>
              <a:schemeClr val="tx2"/>
            </a:solidFill>
            <a:prstDash val="solid"/>
          </a:ln>
        </p:spPr>
      </p:sp>
      <p:sp>
        <p:nvSpPr>
          <p:cNvPr id="16" name="Text 13"/>
          <p:cNvSpPr txBox="1"/>
          <p:nvPr/>
        </p:nvSpPr>
        <p:spPr>
          <a:xfrm>
            <a:off x="868680" y="5486400"/>
            <a:ext cx="10454335" cy="685800"/>
          </a:xfrm>
          <a:prstGeom prst="rect">
            <a:avLst/>
          </a:prstGeom>
          <a:noFill/>
          <a:ln/>
        </p:spPr>
        <p:txBody>
          <a:bodyPr wrap="square" lIns="0" tIns="0" rIns="0" bIns="0" rtlCol="0" anchor="ctr"/>
          <a:lstStyle/>
          <a:p>
            <a:pPr indent="0" marL="0">
              <a:buNone/>
            </a:pPr>
            <a:r>
              <a:rPr lang="en-US" sz="1600" b="1" dirty="0">
                <a:solidFill>
                  <a:schemeClr val="accent2"/>
                </a:solidFill>
              </a:rPr>
              <a:t>Implikasi untuk skripsi Erlangga: </a:t>
            </a:r>
            <a:pPr indent="0" marL="0">
              <a:buNone/>
            </a:pPr>
            <a:r>
              <a:rPr lang="en-US" sz="1600" dirty="0">
                <a:solidFill>
                  <a:schemeClr val="bg1"/>
                </a:solidFill>
              </a:rPr>
              <a:t>perbanyak batch pengambilan data, bukan memperpanjang bacaan per batch.</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Analisis dan diskusi</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Rijal</a:t>
            </a:r>
            <a:endParaRPr lang="en-US" sz="1200" dirty="0"/>
          </a:p>
        </p:txBody>
      </p:sp>
      <p:sp>
        <p:nvSpPr>
          <p:cNvPr id="5" name="Shape 3"/>
          <p:cNvSpPr/>
          <p:nvPr/>
        </p:nvSpPr>
        <p:spPr>
          <a:xfrm>
            <a:off x="548640" y="1234440"/>
            <a:ext cx="5410048" cy="2331720"/>
          </a:xfrm>
          <a:prstGeom prst="roundRect">
            <a:avLst>
              <a:gd name="adj" fmla="val 4706"/>
            </a:avLst>
          </a:prstGeom>
          <a:solidFill>
            <a:schemeClr val="bg2"/>
          </a:solidFill>
          <a:ln w="12700">
            <a:solidFill>
              <a:schemeClr val="bg2"/>
            </a:solidFill>
            <a:prstDash val="solid"/>
          </a:ln>
        </p:spPr>
      </p:sp>
      <p:sp>
        <p:nvSpPr>
          <p:cNvPr id="6" name="Text 4"/>
          <p:cNvSpPr txBox="1"/>
          <p:nvPr/>
        </p:nvSpPr>
        <p:spPr>
          <a:xfrm>
            <a:off x="822960" y="1399032"/>
            <a:ext cx="4861408" cy="365760"/>
          </a:xfrm>
          <a:prstGeom prst="rect">
            <a:avLst/>
          </a:prstGeom>
          <a:noFill/>
          <a:ln/>
        </p:spPr>
        <p:txBody>
          <a:bodyPr wrap="square" lIns="0" tIns="0" rIns="0" bIns="0" rtlCol="0" anchor="ctr"/>
          <a:lstStyle/>
          <a:p>
            <a:pPr indent="0" marL="0">
              <a:buNone/>
            </a:pPr>
            <a:r>
              <a:rPr lang="en-US" sz="1800" b="1" dirty="0">
                <a:solidFill>
                  <a:schemeClr val="accent1"/>
                </a:solidFill>
              </a:rPr>
              <a:t>Batasan</a:t>
            </a:r>
            <a:endParaRPr lang="en-US" sz="1800" dirty="0"/>
          </a:p>
        </p:txBody>
      </p:sp>
      <p:sp>
        <p:nvSpPr>
          <p:cNvPr id="7" name="Text 5"/>
          <p:cNvSpPr txBox="1"/>
          <p:nvPr/>
        </p:nvSpPr>
        <p:spPr>
          <a:xfrm>
            <a:off x="822960" y="1856232"/>
            <a:ext cx="4861408" cy="1554480"/>
          </a:xfrm>
          <a:prstGeom prst="rect">
            <a:avLst/>
          </a:prstGeom>
          <a:noFill/>
          <a:ln/>
        </p:spPr>
        <p:txBody>
          <a:bodyPr wrap="square" lIns="0" tIns="0" rIns="0" bIns="0" rtlCol="0" anchor="ctr"/>
          <a:lstStyle/>
          <a:p>
            <a:pPr marL="342900" indent="-342900">
              <a:spcAft>
                <a:spcPts val="500"/>
              </a:spcAft>
              <a:buSzPct val="100000"/>
              <a:buChar char="•"/>
            </a:pPr>
            <a:r>
              <a:rPr lang="en-US" sz="1500" dirty="0">
                <a:solidFill>
                  <a:schemeClr val="tx1"/>
                </a:solidFill>
              </a:rPr>
              <a:t>E-nose hanya 5 potongan daging, hasil naik-turun</a:t>
            </a:r>
            <a:endParaRPr lang="en-US" sz="1500" dirty="0"/>
          </a:p>
          <a:p>
            <a:pPr marL="342900" indent="-342900">
              <a:spcAft>
                <a:spcPts val="500"/>
              </a:spcAft>
              <a:buSzPct val="100000"/>
              <a:buChar char="•"/>
            </a:pPr>
            <a:r>
              <a:rPr lang="en-US" sz="1500" dirty="0">
                <a:solidFill>
                  <a:schemeClr val="tx1"/>
                </a:solidFill>
              </a:rPr>
              <a:t>Data e-nose = daging mentah, bukan data skripsi Erlangga</a:t>
            </a:r>
            <a:endParaRPr lang="en-US" sz="1500" dirty="0"/>
          </a:p>
          <a:p>
            <a:pPr marL="342900" indent="-342900">
              <a:spcAft>
                <a:spcPts val="500"/>
              </a:spcAft>
              <a:buSzPct val="100000"/>
              <a:buChar char="•"/>
            </a:pPr>
            <a:r>
              <a:rPr lang="en-US" sz="1500" dirty="0">
                <a:solidFill>
                  <a:schemeClr val="tx1"/>
                </a:solidFill>
              </a:rPr>
              <a:t>Active learning masih simulasi (label sudah ada)</a:t>
            </a:r>
            <a:endParaRPr lang="en-US" sz="1500" dirty="0"/>
          </a:p>
        </p:txBody>
      </p:sp>
      <p:sp>
        <p:nvSpPr>
          <p:cNvPr id="8" name="Shape 6"/>
          <p:cNvSpPr/>
          <p:nvPr/>
        </p:nvSpPr>
        <p:spPr>
          <a:xfrm>
            <a:off x="6233008" y="1234440"/>
            <a:ext cx="5410048" cy="2331720"/>
          </a:xfrm>
          <a:prstGeom prst="roundRect">
            <a:avLst>
              <a:gd name="adj" fmla="val 4706"/>
            </a:avLst>
          </a:prstGeom>
          <a:solidFill>
            <a:schemeClr val="bg2"/>
          </a:solidFill>
          <a:ln w="12700">
            <a:solidFill>
              <a:schemeClr val="bg2"/>
            </a:solidFill>
            <a:prstDash val="solid"/>
          </a:ln>
        </p:spPr>
      </p:sp>
      <p:sp>
        <p:nvSpPr>
          <p:cNvPr id="9" name="Text 7"/>
          <p:cNvSpPr txBox="1"/>
          <p:nvPr/>
        </p:nvSpPr>
        <p:spPr>
          <a:xfrm>
            <a:off x="6507328" y="1399032"/>
            <a:ext cx="4861408" cy="365760"/>
          </a:xfrm>
          <a:prstGeom prst="rect">
            <a:avLst/>
          </a:prstGeom>
          <a:noFill/>
          <a:ln/>
        </p:spPr>
        <p:txBody>
          <a:bodyPr wrap="square" lIns="0" tIns="0" rIns="0" bIns="0" rtlCol="0" anchor="ctr"/>
          <a:lstStyle/>
          <a:p>
            <a:pPr indent="0" marL="0">
              <a:buNone/>
            </a:pPr>
            <a:r>
              <a:rPr lang="en-US" sz="1800" b="1" dirty="0">
                <a:solidFill>
                  <a:schemeClr val="accent1"/>
                </a:solidFill>
              </a:rPr>
              <a:t>Trade-off</a:t>
            </a:r>
            <a:endParaRPr lang="en-US" sz="1800" dirty="0"/>
          </a:p>
        </p:txBody>
      </p:sp>
      <p:sp>
        <p:nvSpPr>
          <p:cNvPr id="10" name="Text 8"/>
          <p:cNvSpPr txBox="1"/>
          <p:nvPr/>
        </p:nvSpPr>
        <p:spPr>
          <a:xfrm>
            <a:off x="6507328" y="1856232"/>
            <a:ext cx="4861408" cy="1554480"/>
          </a:xfrm>
          <a:prstGeom prst="rect">
            <a:avLst/>
          </a:prstGeom>
          <a:noFill/>
          <a:ln/>
        </p:spPr>
        <p:txBody>
          <a:bodyPr wrap="square" lIns="0" tIns="0" rIns="0" bIns="0" rtlCol="0" anchor="ctr"/>
          <a:lstStyle/>
          <a:p>
            <a:pPr marL="342900" indent="-342900">
              <a:spcAft>
                <a:spcPts val="500"/>
              </a:spcAft>
              <a:buSzPct val="100000"/>
              <a:buChar char="•"/>
            </a:pPr>
            <a:r>
              <a:rPr lang="en-US" sz="1500" dirty="0">
                <a:solidFill>
                  <a:schemeClr val="tx1"/>
                </a:solidFill>
              </a:rPr>
              <a:t>Augmentasi bantu model sederhana, rugikan boosting</a:t>
            </a:r>
            <a:endParaRPr lang="en-US" sz="1500" dirty="0"/>
          </a:p>
          <a:p>
            <a:pPr marL="342900" indent="-342900">
              <a:spcAft>
                <a:spcPts val="500"/>
              </a:spcAft>
              <a:buSzPct val="100000"/>
              <a:buChar char="•"/>
            </a:pPr>
            <a:r>
              <a:rPr lang="en-US" sz="1500" dirty="0">
                <a:solidFill>
                  <a:schemeClr val="tx1"/>
                </a:solidFill>
              </a:rPr>
              <a:t>Bobot imbalance: kelas ekstrem membaik, error total naik (1,259 → 1,279)</a:t>
            </a:r>
            <a:endParaRPr lang="en-US" sz="1500" dirty="0"/>
          </a:p>
          <a:p>
            <a:pPr marL="342900" indent="-342900">
              <a:spcAft>
                <a:spcPts val="500"/>
              </a:spcAft>
              <a:buSzPct val="100000"/>
              <a:buChar char="•"/>
            </a:pPr>
            <a:r>
              <a:rPr lang="en-US" sz="1500" dirty="0">
                <a:solidFill>
                  <a:schemeClr val="tx1"/>
                </a:solidFill>
              </a:rPr>
              <a:t>Stacking paling akurat, tapi paling lama dilatih</a:t>
            </a:r>
            <a:endParaRPr lang="en-US" sz="1500" dirty="0"/>
          </a:p>
        </p:txBody>
      </p:sp>
      <p:sp>
        <p:nvSpPr>
          <p:cNvPr id="11" name="Shape 9"/>
          <p:cNvSpPr/>
          <p:nvPr/>
        </p:nvSpPr>
        <p:spPr>
          <a:xfrm>
            <a:off x="548640" y="3794760"/>
            <a:ext cx="5410048" cy="2331720"/>
          </a:xfrm>
          <a:prstGeom prst="roundRect">
            <a:avLst>
              <a:gd name="adj" fmla="val 4706"/>
            </a:avLst>
          </a:prstGeom>
          <a:solidFill>
            <a:schemeClr val="bg2"/>
          </a:solidFill>
          <a:ln w="12700">
            <a:solidFill>
              <a:schemeClr val="bg2"/>
            </a:solidFill>
            <a:prstDash val="solid"/>
          </a:ln>
        </p:spPr>
      </p:sp>
      <p:sp>
        <p:nvSpPr>
          <p:cNvPr id="12" name="Text 10"/>
          <p:cNvSpPr txBox="1"/>
          <p:nvPr/>
        </p:nvSpPr>
        <p:spPr>
          <a:xfrm>
            <a:off x="822960" y="3959352"/>
            <a:ext cx="4861408" cy="365760"/>
          </a:xfrm>
          <a:prstGeom prst="rect">
            <a:avLst/>
          </a:prstGeom>
          <a:noFill/>
          <a:ln/>
        </p:spPr>
        <p:txBody>
          <a:bodyPr wrap="square" lIns="0" tIns="0" rIns="0" bIns="0" rtlCol="0" anchor="ctr"/>
          <a:lstStyle/>
          <a:p>
            <a:pPr indent="0" marL="0">
              <a:buNone/>
            </a:pPr>
            <a:r>
              <a:rPr lang="en-US" sz="1800" b="1" dirty="0">
                <a:solidFill>
                  <a:schemeClr val="accent1"/>
                </a:solidFill>
              </a:rPr>
              <a:t>Sumber galat</a:t>
            </a:r>
            <a:endParaRPr lang="en-US" sz="1800" dirty="0"/>
          </a:p>
        </p:txBody>
      </p:sp>
      <p:sp>
        <p:nvSpPr>
          <p:cNvPr id="13" name="Text 11"/>
          <p:cNvSpPr txBox="1"/>
          <p:nvPr/>
        </p:nvSpPr>
        <p:spPr>
          <a:xfrm>
            <a:off x="822960" y="4416552"/>
            <a:ext cx="4861408" cy="1554480"/>
          </a:xfrm>
          <a:prstGeom prst="rect">
            <a:avLst/>
          </a:prstGeom>
          <a:noFill/>
          <a:ln/>
        </p:spPr>
        <p:txBody>
          <a:bodyPr wrap="square" lIns="0" tIns="0" rIns="0" bIns="0" rtlCol="0" anchor="ctr"/>
          <a:lstStyle/>
          <a:p>
            <a:pPr marL="342900" indent="-342900">
              <a:spcAft>
                <a:spcPts val="500"/>
              </a:spcAft>
              <a:buSzPct val="100000"/>
              <a:buChar char="•"/>
            </a:pPr>
            <a:r>
              <a:rPr lang="en-US" sz="1500" dirty="0">
                <a:solidFill>
                  <a:schemeClr val="tx1"/>
                </a:solidFill>
              </a:rPr>
              <a:t>Beda kondisi ruang antar potongan daging</a:t>
            </a:r>
            <a:endParaRPr lang="en-US" sz="1500" dirty="0"/>
          </a:p>
          <a:p>
            <a:pPr marL="342900" indent="-342900">
              <a:spcAft>
                <a:spcPts val="500"/>
              </a:spcAft>
              <a:buSzPct val="100000"/>
              <a:buChar char="•"/>
            </a:pPr>
            <a:r>
              <a:rPr lang="en-US" sz="1500" dirty="0">
                <a:solidFill>
                  <a:schemeClr val="tx1"/>
                </a:solidFill>
              </a:rPr>
              <a:t>Senyawa uji punya kerangka yang belum pernah dilihat</a:t>
            </a:r>
            <a:endParaRPr lang="en-US" sz="1500" dirty="0"/>
          </a:p>
          <a:p>
            <a:pPr marL="342900" indent="-342900">
              <a:spcAft>
                <a:spcPts val="500"/>
              </a:spcAft>
              <a:buSzPct val="100000"/>
              <a:buChar char="•"/>
            </a:pPr>
            <a:r>
              <a:rPr lang="en-US" sz="1500" dirty="0">
                <a:solidFill>
                  <a:schemeClr val="tx1"/>
                </a:solidFill>
              </a:rPr>
              <a:t>Tuning Optuna terlalu pas di validasi: 1,063 vs uji 1,259</a:t>
            </a:r>
            <a:endParaRPr lang="en-US" sz="1500" dirty="0"/>
          </a:p>
        </p:txBody>
      </p:sp>
      <p:sp>
        <p:nvSpPr>
          <p:cNvPr id="14" name="Shape 12"/>
          <p:cNvSpPr/>
          <p:nvPr/>
        </p:nvSpPr>
        <p:spPr>
          <a:xfrm>
            <a:off x="6233008" y="3794760"/>
            <a:ext cx="5410048" cy="2331720"/>
          </a:xfrm>
          <a:prstGeom prst="roundRect">
            <a:avLst>
              <a:gd name="adj" fmla="val 4706"/>
            </a:avLst>
          </a:prstGeom>
          <a:solidFill>
            <a:schemeClr val="bg2"/>
          </a:solidFill>
          <a:ln w="12700">
            <a:solidFill>
              <a:schemeClr val="bg2"/>
            </a:solidFill>
            <a:prstDash val="solid"/>
          </a:ln>
        </p:spPr>
      </p:sp>
      <p:sp>
        <p:nvSpPr>
          <p:cNvPr id="15" name="Text 13"/>
          <p:cNvSpPr txBox="1"/>
          <p:nvPr/>
        </p:nvSpPr>
        <p:spPr>
          <a:xfrm>
            <a:off x="6507328" y="3959352"/>
            <a:ext cx="4861408" cy="365760"/>
          </a:xfrm>
          <a:prstGeom prst="rect">
            <a:avLst/>
          </a:prstGeom>
          <a:noFill/>
          <a:ln/>
        </p:spPr>
        <p:txBody>
          <a:bodyPr wrap="square" lIns="0" tIns="0" rIns="0" bIns="0" rtlCol="0" anchor="ctr"/>
          <a:lstStyle/>
          <a:p>
            <a:pPr indent="0" marL="0">
              <a:buNone/>
            </a:pPr>
            <a:r>
              <a:rPr lang="en-US" sz="1800" b="1" dirty="0">
                <a:solidFill>
                  <a:schemeClr val="accent1"/>
                </a:solidFill>
              </a:rPr>
              <a:t>Pengembangan</a:t>
            </a:r>
            <a:endParaRPr lang="en-US" sz="1800" dirty="0"/>
          </a:p>
        </p:txBody>
      </p:sp>
      <p:sp>
        <p:nvSpPr>
          <p:cNvPr id="16" name="Text 14"/>
          <p:cNvSpPr txBox="1"/>
          <p:nvPr/>
        </p:nvSpPr>
        <p:spPr>
          <a:xfrm>
            <a:off x="6507328" y="4416552"/>
            <a:ext cx="4861408" cy="1554480"/>
          </a:xfrm>
          <a:prstGeom prst="rect">
            <a:avLst/>
          </a:prstGeom>
          <a:noFill/>
          <a:ln/>
        </p:spPr>
        <p:txBody>
          <a:bodyPr wrap="square" lIns="0" tIns="0" rIns="0" bIns="0" rtlCol="0" anchor="ctr"/>
          <a:lstStyle/>
          <a:p>
            <a:pPr marL="342900" indent="-342900">
              <a:spcAft>
                <a:spcPts val="500"/>
              </a:spcAft>
              <a:buSzPct val="100000"/>
              <a:buChar char="•"/>
            </a:pPr>
            <a:r>
              <a:rPr lang="en-US" sz="1500" dirty="0">
                <a:solidFill>
                  <a:schemeClr val="tx1"/>
                </a:solidFill>
              </a:rPr>
              <a:t>Jalankan pipeline di 16 batch data Erlangga</a:t>
            </a:r>
            <a:endParaRPr lang="en-US" sz="1500" dirty="0"/>
          </a:p>
          <a:p>
            <a:pPr marL="342900" indent="-342900">
              <a:spcAft>
                <a:spcPts val="500"/>
              </a:spcAft>
              <a:buSzPct val="100000"/>
              <a:buChar char="•"/>
            </a:pPr>
            <a:r>
              <a:rPr lang="en-US" sz="1500" dirty="0">
                <a:solidFill>
                  <a:schemeClr val="tx1"/>
                </a:solidFill>
              </a:rPr>
              <a:t>Active learning untuk foto telur: lebih sedikit telur dipecah</a:t>
            </a:r>
            <a:endParaRPr lang="en-US" sz="1500" dirty="0"/>
          </a:p>
          <a:p>
            <a:pPr marL="342900" indent="-342900">
              <a:spcAft>
                <a:spcPts val="500"/>
              </a:spcAft>
              <a:buSzPct val="100000"/>
              <a:buChar char="•"/>
            </a:pPr>
            <a:r>
              <a:rPr lang="en-US" sz="1500" dirty="0">
                <a:solidFill>
                  <a:schemeClr val="tx1"/>
                </a:solidFill>
              </a:rPr>
              <a:t>Uji sensor MQ4/MQ8 tambahan</a:t>
            </a:r>
            <a:endParaRPr lang="en-US" sz="15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548640"/>
            <a:ext cx="7315200" cy="82296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Kesimpulan</a:t>
            </a:r>
            <a:endParaRPr lang="en-US" sz="4000" dirty="0"/>
          </a:p>
        </p:txBody>
      </p:sp>
      <p:sp>
        <p:nvSpPr>
          <p:cNvPr id="3" name="Shape 1"/>
          <p:cNvSpPr/>
          <p:nvPr/>
        </p:nvSpPr>
        <p:spPr>
          <a:xfrm>
            <a:off x="548640" y="1737360"/>
            <a:ext cx="502920" cy="502920"/>
          </a:xfrm>
          <a:prstGeom prst="ellipse">
            <a:avLst/>
          </a:prstGeom>
          <a:solidFill>
            <a:schemeClr val="accent2"/>
          </a:solidFill>
          <a:ln w="12700">
            <a:solidFill>
              <a:schemeClr val="accent2"/>
            </a:solidFill>
            <a:prstDash val="solid"/>
          </a:ln>
        </p:spPr>
      </p:sp>
      <p:sp>
        <p:nvSpPr>
          <p:cNvPr id="4" name="Text 2"/>
          <p:cNvSpPr txBox="1"/>
          <p:nvPr/>
        </p:nvSpPr>
        <p:spPr>
          <a:xfrm>
            <a:off x="548640" y="173736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5" name="Text 3"/>
          <p:cNvSpPr txBox="1"/>
          <p:nvPr/>
        </p:nvSpPr>
        <p:spPr>
          <a:xfrm>
            <a:off x="1325880" y="1691640"/>
            <a:ext cx="6675120" cy="411480"/>
          </a:xfrm>
          <a:prstGeom prst="rect">
            <a:avLst/>
          </a:prstGeom>
          <a:noFill/>
          <a:ln/>
        </p:spPr>
        <p:txBody>
          <a:bodyPr wrap="square" lIns="0" tIns="0" rIns="0" bIns="0" rtlCol="0" anchor="ctr"/>
          <a:lstStyle/>
          <a:p>
            <a:pPr indent="0" marL="0">
              <a:buNone/>
            </a:pPr>
            <a:r>
              <a:rPr lang="en-US" sz="1900" b="1" dirty="0">
                <a:solidFill>
                  <a:schemeClr val="bg1"/>
                </a:solidFill>
              </a:rPr>
              <a:t>Uji yang jujur lebih penting dari model canggih</a:t>
            </a:r>
            <a:endParaRPr lang="en-US" sz="1900" dirty="0"/>
          </a:p>
        </p:txBody>
      </p:sp>
      <p:sp>
        <p:nvSpPr>
          <p:cNvPr id="6" name="Text 4"/>
          <p:cNvSpPr txBox="1"/>
          <p:nvPr/>
        </p:nvSpPr>
        <p:spPr>
          <a:xfrm>
            <a:off x="1325880" y="2103120"/>
            <a:ext cx="6675120" cy="365760"/>
          </a:xfrm>
          <a:prstGeom prst="rect">
            <a:avLst/>
          </a:prstGeom>
          <a:noFill/>
          <a:ln/>
        </p:spPr>
        <p:txBody>
          <a:bodyPr wrap="square" lIns="0" tIns="0" rIns="0" bIns="0" rtlCol="0" anchor="ctr"/>
          <a:lstStyle/>
          <a:p>
            <a:pPr indent="0" marL="0">
              <a:buNone/>
            </a:pPr>
            <a:r>
              <a:rPr lang="en-US" sz="1400" dirty="0">
                <a:solidFill>
                  <a:srgbClr val="CADBD7"/>
                </a:solidFill>
              </a:rPr>
              <a:t>0,998 itu palsu, 0,572 yang jujur</a:t>
            </a:r>
            <a:endParaRPr lang="en-US" sz="1400" dirty="0"/>
          </a:p>
        </p:txBody>
      </p:sp>
      <p:sp>
        <p:nvSpPr>
          <p:cNvPr id="7" name="Shape 5"/>
          <p:cNvSpPr/>
          <p:nvPr/>
        </p:nvSpPr>
        <p:spPr>
          <a:xfrm>
            <a:off x="548640" y="2743200"/>
            <a:ext cx="502920" cy="502920"/>
          </a:xfrm>
          <a:prstGeom prst="ellipse">
            <a:avLst/>
          </a:prstGeom>
          <a:solidFill>
            <a:schemeClr val="accent2"/>
          </a:solidFill>
          <a:ln w="12700">
            <a:solidFill>
              <a:schemeClr val="accent2"/>
            </a:solidFill>
            <a:prstDash val="solid"/>
          </a:ln>
        </p:spPr>
      </p:sp>
      <p:sp>
        <p:nvSpPr>
          <p:cNvPr id="8" name="Text 6"/>
          <p:cNvSpPr txBox="1"/>
          <p:nvPr/>
        </p:nvSpPr>
        <p:spPr>
          <a:xfrm>
            <a:off x="548640" y="274320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9" name="Text 7"/>
          <p:cNvSpPr txBox="1"/>
          <p:nvPr/>
        </p:nvSpPr>
        <p:spPr>
          <a:xfrm>
            <a:off x="1325880" y="2697480"/>
            <a:ext cx="6675120" cy="411480"/>
          </a:xfrm>
          <a:prstGeom prst="rect">
            <a:avLst/>
          </a:prstGeom>
          <a:noFill/>
          <a:ln/>
        </p:spPr>
        <p:txBody>
          <a:bodyPr wrap="square" lIns="0" tIns="0" rIns="0" bIns="0" rtlCol="0" anchor="ctr"/>
          <a:lstStyle/>
          <a:p>
            <a:pPr indent="0" marL="0">
              <a:buNone/>
            </a:pPr>
            <a:r>
              <a:rPr lang="en-US" sz="1900" b="1" dirty="0">
                <a:solidFill>
                  <a:schemeClr val="bg1"/>
                </a:solidFill>
              </a:rPr>
              <a:t>Ensemble menang di kedua data</a:t>
            </a:r>
            <a:endParaRPr lang="en-US" sz="1900" dirty="0"/>
          </a:p>
        </p:txBody>
      </p:sp>
      <p:sp>
        <p:nvSpPr>
          <p:cNvPr id="10" name="Text 8"/>
          <p:cNvSpPr txBox="1"/>
          <p:nvPr/>
        </p:nvSpPr>
        <p:spPr>
          <a:xfrm>
            <a:off x="1325880" y="3108960"/>
            <a:ext cx="6675120" cy="365760"/>
          </a:xfrm>
          <a:prstGeom prst="rect">
            <a:avLst/>
          </a:prstGeom>
          <a:noFill/>
          <a:ln/>
        </p:spPr>
        <p:txBody>
          <a:bodyPr wrap="square" lIns="0" tIns="0" rIns="0" bIns="0" rtlCol="0" anchor="ctr"/>
          <a:lstStyle/>
          <a:p>
            <a:pPr indent="0" marL="0">
              <a:buNone/>
            </a:pPr>
            <a:r>
              <a:rPr lang="en-US" sz="1400" dirty="0">
                <a:solidFill>
                  <a:srgbClr val="CADBD7"/>
                </a:solidFill>
              </a:rPr>
              <a:t>XGBoost 0,91 vs Decision Tree 0,77 · Stacking error terendah 1,22</a:t>
            </a:r>
            <a:endParaRPr lang="en-US" sz="1400" dirty="0"/>
          </a:p>
        </p:txBody>
      </p:sp>
      <p:sp>
        <p:nvSpPr>
          <p:cNvPr id="11" name="Shape 9"/>
          <p:cNvSpPr/>
          <p:nvPr/>
        </p:nvSpPr>
        <p:spPr>
          <a:xfrm>
            <a:off x="548640" y="3749040"/>
            <a:ext cx="502920" cy="502920"/>
          </a:xfrm>
          <a:prstGeom prst="ellipse">
            <a:avLst/>
          </a:prstGeom>
          <a:solidFill>
            <a:schemeClr val="accent2"/>
          </a:solidFill>
          <a:ln w="12700">
            <a:solidFill>
              <a:schemeClr val="accent2"/>
            </a:solidFill>
            <a:prstDash val="solid"/>
          </a:ln>
        </p:spPr>
      </p:sp>
      <p:sp>
        <p:nvSpPr>
          <p:cNvPr id="12" name="Text 10"/>
          <p:cNvSpPr txBox="1"/>
          <p:nvPr/>
        </p:nvSpPr>
        <p:spPr>
          <a:xfrm>
            <a:off x="548640" y="374904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3" name="Text 11"/>
          <p:cNvSpPr txBox="1"/>
          <p:nvPr/>
        </p:nvSpPr>
        <p:spPr>
          <a:xfrm>
            <a:off x="1325880" y="3703320"/>
            <a:ext cx="6675120" cy="411480"/>
          </a:xfrm>
          <a:prstGeom prst="rect">
            <a:avLst/>
          </a:prstGeom>
          <a:noFill/>
          <a:ln/>
        </p:spPr>
        <p:txBody>
          <a:bodyPr wrap="square" lIns="0" tIns="0" rIns="0" bIns="0" rtlCol="0" anchor="ctr"/>
          <a:lstStyle/>
          <a:p>
            <a:pPr indent="0" marL="0">
              <a:buNone/>
            </a:pPr>
            <a:r>
              <a:rPr lang="en-US" sz="1900" b="1" dirty="0">
                <a:solidFill>
                  <a:schemeClr val="bg1"/>
                </a:solidFill>
              </a:rPr>
              <a:t>Agen bandit menghemat label</a:t>
            </a:r>
            <a:endParaRPr lang="en-US" sz="1900" dirty="0"/>
          </a:p>
        </p:txBody>
      </p:sp>
      <p:sp>
        <p:nvSpPr>
          <p:cNvPr id="14" name="Text 12"/>
          <p:cNvSpPr txBox="1"/>
          <p:nvPr/>
        </p:nvSpPr>
        <p:spPr>
          <a:xfrm>
            <a:off x="1325880" y="4114800"/>
            <a:ext cx="6675120" cy="365760"/>
          </a:xfrm>
          <a:prstGeom prst="rect">
            <a:avLst/>
          </a:prstGeom>
          <a:noFill/>
          <a:ln/>
        </p:spPr>
        <p:txBody>
          <a:bodyPr wrap="square" lIns="0" tIns="0" rIns="0" bIns="0" rtlCol="0" anchor="ctr"/>
          <a:lstStyle/>
          <a:p>
            <a:pPr indent="0" marL="0">
              <a:buNone/>
            </a:pPr>
            <a:r>
              <a:rPr lang="en-US" sz="1400" dirty="0">
                <a:solidFill>
                  <a:srgbClr val="CADBD7"/>
                </a:solidFill>
              </a:rPr>
              <a:t>±52% lebih sedikit label di data kelarutan</a:t>
            </a:r>
            <a:endParaRPr lang="en-US" sz="1400" dirty="0"/>
          </a:p>
        </p:txBody>
      </p:sp>
      <p:sp>
        <p:nvSpPr>
          <p:cNvPr id="15" name="Shape 13"/>
          <p:cNvSpPr/>
          <p:nvPr/>
        </p:nvSpPr>
        <p:spPr>
          <a:xfrm>
            <a:off x="548640" y="4754880"/>
            <a:ext cx="502920" cy="502920"/>
          </a:xfrm>
          <a:prstGeom prst="ellipse">
            <a:avLst/>
          </a:prstGeom>
          <a:solidFill>
            <a:schemeClr val="accent2"/>
          </a:solidFill>
          <a:ln w="12700">
            <a:solidFill>
              <a:schemeClr val="accent2"/>
            </a:solidFill>
            <a:prstDash val="solid"/>
          </a:ln>
        </p:spPr>
      </p:sp>
      <p:sp>
        <p:nvSpPr>
          <p:cNvPr id="16" name="Text 14"/>
          <p:cNvSpPr txBox="1"/>
          <p:nvPr/>
        </p:nvSpPr>
        <p:spPr>
          <a:xfrm>
            <a:off x="548640" y="475488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7" name="Text 15"/>
          <p:cNvSpPr txBox="1"/>
          <p:nvPr/>
        </p:nvSpPr>
        <p:spPr>
          <a:xfrm>
            <a:off x="1325880" y="4709160"/>
            <a:ext cx="6675120" cy="411480"/>
          </a:xfrm>
          <a:prstGeom prst="rect">
            <a:avLst/>
          </a:prstGeom>
          <a:noFill/>
          <a:ln/>
        </p:spPr>
        <p:txBody>
          <a:bodyPr wrap="square" lIns="0" tIns="0" rIns="0" bIns="0" rtlCol="0" anchor="ctr"/>
          <a:lstStyle/>
          <a:p>
            <a:pPr indent="0" marL="0">
              <a:buNone/>
            </a:pPr>
            <a:r>
              <a:rPr lang="en-US" sz="1900" b="1" dirty="0">
                <a:solidFill>
                  <a:schemeClr val="bg1"/>
                </a:solidFill>
              </a:rPr>
              <a:t>Beda kondisi antar batch? Tambah batch</a:t>
            </a:r>
            <a:endParaRPr lang="en-US" sz="1900" dirty="0"/>
          </a:p>
        </p:txBody>
      </p:sp>
      <p:sp>
        <p:nvSpPr>
          <p:cNvPr id="18" name="Text 16"/>
          <p:cNvSpPr txBox="1"/>
          <p:nvPr/>
        </p:nvSpPr>
        <p:spPr>
          <a:xfrm>
            <a:off x="1325880" y="5120640"/>
            <a:ext cx="6675120" cy="365760"/>
          </a:xfrm>
          <a:prstGeom prst="rect">
            <a:avLst/>
          </a:prstGeom>
          <a:noFill/>
          <a:ln/>
        </p:spPr>
        <p:txBody>
          <a:bodyPr wrap="square" lIns="0" tIns="0" rIns="0" bIns="0" rtlCol="0" anchor="ctr"/>
          <a:lstStyle/>
          <a:p>
            <a:pPr indent="0" marL="0">
              <a:buNone/>
            </a:pPr>
            <a:r>
              <a:rPr lang="en-US" sz="1400" dirty="0">
                <a:solidFill>
                  <a:srgbClr val="CADBD7"/>
                </a:solidFill>
              </a:rPr>
              <a:t>bukan tambah baris dari batch yang sama</a:t>
            </a:r>
            <a:endParaRPr lang="en-US" sz="1400" dirty="0"/>
          </a:p>
        </p:txBody>
      </p:sp>
      <p:sp>
        <p:nvSpPr>
          <p:cNvPr id="19" name="Shape 17"/>
          <p:cNvSpPr/>
          <p:nvPr/>
        </p:nvSpPr>
        <p:spPr>
          <a:xfrm>
            <a:off x="8183880" y="1691640"/>
            <a:ext cx="3459175" cy="3886200"/>
          </a:xfrm>
          <a:prstGeom prst="roundRect">
            <a:avLst>
              <a:gd name="adj" fmla="val 3172"/>
            </a:avLst>
          </a:prstGeom>
          <a:solidFill>
            <a:srgbClr val="15494A"/>
          </a:solidFill>
          <a:ln w="12700">
            <a:solidFill>
              <a:srgbClr val="15494A"/>
            </a:solidFill>
            <a:prstDash val="solid"/>
          </a:ln>
        </p:spPr>
      </p:sp>
      <p:sp>
        <p:nvSpPr>
          <p:cNvPr id="20" name="Text 18"/>
          <p:cNvSpPr txBox="1"/>
          <p:nvPr/>
        </p:nvSpPr>
        <p:spPr>
          <a:xfrm>
            <a:off x="8412480" y="1920240"/>
            <a:ext cx="3001975" cy="3474720"/>
          </a:xfrm>
          <a:prstGeom prst="rect">
            <a:avLst/>
          </a:prstGeom>
          <a:noFill/>
          <a:ln/>
        </p:spPr>
        <p:txBody>
          <a:bodyPr wrap="square" lIns="0" tIns="0" rIns="0" bIns="0" rtlCol="0" anchor="t"/>
          <a:lstStyle/>
          <a:p>
            <a:pPr indent="0" marL="0">
              <a:spcAft>
                <a:spcPts val="600"/>
              </a:spcAft>
              <a:buNone/>
            </a:pPr>
            <a:r>
              <a:rPr lang="en-US" sz="2600" b="1" dirty="0">
                <a:solidFill>
                  <a:schemeClr val="accent2"/>
                </a:solidFill>
                <a:latin typeface="Cambria" pitchFamily="34" charset="0"/>
                <a:ea typeface="Cambria" pitchFamily="34" charset="-122"/>
                <a:cs typeface="Cambria" pitchFamily="34" charset="-120"/>
              </a:rPr>
              <a:t>Terima kasih</a:t>
            </a:r>
            <a:endParaRPr lang="en-US" sz="1400" dirty="0"/>
          </a:p>
          <a:p>
            <a:pPr indent="0" marL="0">
              <a:spcAft>
                <a:spcPts val="600"/>
              </a:spcAft>
              <a:buNone/>
            </a:pPr>
            <a:r>
              <a:rPr lang="en-US" sz="800" dirty="0">
                <a:solidFill>
                  <a:schemeClr val="bg1"/>
                </a:solidFill>
              </a:rPr>
              <a:t> </a:t>
            </a:r>
            <a:endParaRPr lang="en-US" sz="1400" dirty="0"/>
          </a:p>
          <a:p>
            <a:pPr indent="0" marL="0">
              <a:spcAft>
                <a:spcPts val="600"/>
              </a:spcAft>
              <a:buNone/>
            </a:pPr>
            <a:r>
              <a:rPr lang="en-US" sz="1400" dirty="0">
                <a:solidFill>
                  <a:srgbClr val="CADBD7"/>
                </a:solidFill>
              </a:rPr>
              <a:t>Kode &amp; notebook Colab:</a:t>
            </a:r>
            <a:endParaRPr lang="en-US" sz="1400" dirty="0"/>
          </a:p>
          <a:p>
            <a:pPr indent="0" marL="0">
              <a:spcAft>
                <a:spcPts val="600"/>
              </a:spcAft>
              <a:buNone/>
            </a:pPr>
            <a:r>
              <a:rPr lang="en-US" sz="1400" b="1" dirty="0">
                <a:solidFill>
                  <a:schemeClr val="bg1"/>
                </a:solidFill>
              </a:rPr>
              <a:t>github.com/MuhammadErlanggaKurniawan/ets-ml2-kelompok</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BD7"/>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Lampiran: referensi</a:t>
            </a:r>
            <a:endParaRPr lang="en-US" sz="3000" dirty="0"/>
          </a:p>
        </p:txBody>
      </p:sp>
      <p:sp>
        <p:nvSpPr>
          <p:cNvPr id="3" name="Text 1"/>
          <p:cNvSpPr txBox="1"/>
          <p:nvPr/>
        </p:nvSpPr>
        <p:spPr>
          <a:xfrm>
            <a:off x="548640" y="1234440"/>
            <a:ext cx="11094415" cy="493776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Wijaya, D. R., Sarno, R., &amp; Zulaika, E. (2018). Electronic nose dataset for beef quality monitoring in uncontrolled ambient conditions. Data in Brief, 21, 2414–2420.</a:t>
            </a:r>
            <a:endParaRPr lang="en-US" sz="1300" dirty="0"/>
          </a:p>
          <a:p>
            <a:pPr indent="0" marL="0">
              <a:spcAft>
                <a:spcPts val="600"/>
              </a:spcAft>
              <a:buNone/>
            </a:pPr>
            <a:r>
              <a:rPr lang="en-US" sz="1300" dirty="0">
                <a:solidFill>
                  <a:schemeClr val="tx1"/>
                </a:solidFill>
              </a:rPr>
              <a:t>Sorkun, M. C., Khetan, A., &amp; Er, S. (2019). AqSolDB, a curated reference set of aqueous solubility and 2D descriptors. Scientific Data, 6, 143.</a:t>
            </a:r>
            <a:endParaRPr lang="en-US" sz="1300" dirty="0"/>
          </a:p>
          <a:p>
            <a:pPr indent="0" marL="0">
              <a:spcAft>
                <a:spcPts val="600"/>
              </a:spcAft>
              <a:buNone/>
            </a:pPr>
            <a:r>
              <a:rPr lang="en-US" sz="1300" dirty="0">
                <a:solidFill>
                  <a:schemeClr val="tx1"/>
                </a:solidFill>
              </a:rPr>
              <a:t>Hsu, W.-N., &amp; Lin, H.-T. (2015). Active learning by learning. Proc. AAAI, 29(1).</a:t>
            </a:r>
            <a:endParaRPr lang="en-US" sz="1300" dirty="0"/>
          </a:p>
          <a:p>
            <a:pPr indent="0" marL="0">
              <a:spcAft>
                <a:spcPts val="600"/>
              </a:spcAft>
              <a:buNone/>
            </a:pPr>
            <a:r>
              <a:rPr lang="en-US" sz="1300" dirty="0">
                <a:solidFill>
                  <a:schemeClr val="tx1"/>
                </a:solidFill>
              </a:rPr>
              <a:t>Auer, P., Cesa-Bianchi, N., &amp; Fischer, P. (2002). Finite-time analysis of the multiarmed bandit problem. Machine Learning, 47, 235–256.</a:t>
            </a:r>
            <a:endParaRPr lang="en-US" sz="1300" dirty="0"/>
          </a:p>
          <a:p>
            <a:pPr indent="0" marL="0">
              <a:spcAft>
                <a:spcPts val="600"/>
              </a:spcAft>
              <a:buNone/>
            </a:pPr>
            <a:r>
              <a:rPr lang="en-US" sz="1300" dirty="0">
                <a:solidFill>
                  <a:schemeClr val="tx1"/>
                </a:solidFill>
              </a:rPr>
              <a:t>Bemis, G. W., &amp; Murcko, M. A. (1996). The properties of known drugs. 1. Molecular frameworks. J. Med. Chem., 39(15), 2887–2893.</a:t>
            </a:r>
            <a:endParaRPr lang="en-US" sz="1300" dirty="0"/>
          </a:p>
          <a:p>
            <a:pPr indent="0" marL="0">
              <a:spcAft>
                <a:spcPts val="600"/>
              </a:spcAft>
              <a:buNone/>
            </a:pPr>
            <a:r>
              <a:rPr lang="en-US" sz="1300" dirty="0">
                <a:solidFill>
                  <a:schemeClr val="tx1"/>
                </a:solidFill>
              </a:rPr>
              <a:t>Chawla, N. V., dkk. (2002). SMOTE: Synthetic minority over-sampling technique. JAIR, 16, 321–357.</a:t>
            </a:r>
            <a:endParaRPr lang="en-US" sz="1300" dirty="0"/>
          </a:p>
          <a:p>
            <a:pPr indent="0" marL="0">
              <a:spcAft>
                <a:spcPts val="600"/>
              </a:spcAft>
              <a:buNone/>
            </a:pPr>
            <a:r>
              <a:rPr lang="en-US" sz="1300" dirty="0">
                <a:solidFill>
                  <a:schemeClr val="tx1"/>
                </a:solidFill>
              </a:rPr>
              <a:t>Chen, T., &amp; Guestrin, C. (2016). XGBoost: A scalable tree boosting system. Proc. KDD.</a:t>
            </a:r>
            <a:endParaRPr lang="en-US" sz="1300" dirty="0"/>
          </a:p>
          <a:p>
            <a:pPr indent="0" marL="0">
              <a:spcAft>
                <a:spcPts val="600"/>
              </a:spcAft>
              <a:buNone/>
            </a:pPr>
            <a:r>
              <a:rPr lang="en-US" sz="1300" dirty="0">
                <a:solidFill>
                  <a:schemeClr val="tx1"/>
                </a:solidFill>
              </a:rPr>
              <a:t>Akiba, T., dkk. (2019). Optuna: A next-generation hyperparameter optimization framework. Proc. KDD.</a:t>
            </a:r>
            <a:endParaRPr lang="en-US" sz="1300" dirty="0"/>
          </a:p>
          <a:p>
            <a:pPr indent="0" marL="0">
              <a:spcAft>
                <a:spcPts val="600"/>
              </a:spcAft>
              <a:buNone/>
            </a:pPr>
            <a:r>
              <a:rPr lang="en-US" sz="1300" dirty="0">
                <a:solidFill>
                  <a:schemeClr val="tx1"/>
                </a:solidFill>
              </a:rPr>
              <a:t>Lundberg, S. M., &amp; Lee, S.-I. (2017). A unified approach to interpreting model predictions. NeurIPS 30.</a:t>
            </a:r>
            <a:endParaRPr lang="en-US" sz="1300" dirty="0"/>
          </a:p>
          <a:p>
            <a:pPr indent="0" marL="0">
              <a:spcAft>
                <a:spcPts val="600"/>
              </a:spcAft>
              <a:buNone/>
            </a:pPr>
            <a:r>
              <a:rPr lang="en-US" sz="1300" dirty="0">
                <a:solidFill>
                  <a:schemeClr val="tx1"/>
                </a:solidFill>
              </a:rPr>
              <a:t>Materi kuliah Machine Learning II: Ensemble_Learning.pptx, reinforcement.pptx (github.com/jendralhxr/machinelearning).</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ETS ML2">
  <a:themeElements>
    <a:clrScheme name="ETS ML2">
      <a:dk1>
        <a:srgbClr val="16262B"/>
      </a:dk1>
      <a:lt1>
        <a:srgbClr val="FFFFFF"/>
      </a:lt1>
      <a:dk2>
        <a:srgbClr val="0F3D3E"/>
      </a:dk2>
      <a:lt2>
        <a:srgbClr val="EEF4F2"/>
      </a:lt2>
      <a:accent1>
        <a:srgbClr val="0F5257"/>
      </a:accent1>
      <a:accent2>
        <a:srgbClr val="E3A33B"/>
      </a:accent2>
      <a:accent3>
        <a:srgbClr val="9AA5A6"/>
      </a:accent3>
      <a:accent4>
        <a:srgbClr val="C4553B"/>
      </a:accent4>
      <a:accent5>
        <a:srgbClr val="6C8F7D"/>
      </a:accent5>
      <a:accent6>
        <a:srgbClr val="2E6F95"/>
      </a:accent6>
      <a:hlink>
        <a:srgbClr val="2E6F95"/>
      </a:hlink>
      <a:folHlink>
        <a:srgbClr val="6C8F7D"/>
      </a:folHlink>
    </a:clrScheme>
    <a:fontScheme name="ETS ML2">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Prediksi Kesegaran Daging dan Kelarutan Senyawa dengan Machine Learning</dc:title>
  <dc:subject>PptxGenJS Presentation</dc:subject>
  <dc:creator>Kelompok ETS ML II</dc:creator>
  <cp:lastModifiedBy>Kelompok ETS ML II</cp:lastModifiedBy>
  <cp:revision>1</cp:revision>
  <dcterms:created xsi:type="dcterms:W3CDTF">2026-10-21T04:40:11Z</dcterms:created>
  <dcterms:modified xsi:type="dcterms:W3CDTF">2026-10-21T04:40:11Z</dcterms:modified>
</cp:coreProperties>
</file>